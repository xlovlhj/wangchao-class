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7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3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6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7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8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9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0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31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540" r:id="rId2"/>
    <p:sldId id="541" r:id="rId3"/>
    <p:sldId id="823" r:id="rId4"/>
    <p:sldId id="969" r:id="rId5"/>
    <p:sldId id="960" r:id="rId6"/>
    <p:sldId id="962" r:id="rId7"/>
    <p:sldId id="987" r:id="rId8"/>
    <p:sldId id="963" r:id="rId9"/>
    <p:sldId id="988" r:id="rId10"/>
    <p:sldId id="989" r:id="rId11"/>
    <p:sldId id="990" r:id="rId12"/>
    <p:sldId id="991" r:id="rId13"/>
    <p:sldId id="992" r:id="rId14"/>
    <p:sldId id="993" r:id="rId15"/>
    <p:sldId id="995" r:id="rId16"/>
    <p:sldId id="994" r:id="rId17"/>
    <p:sldId id="996" r:id="rId18"/>
    <p:sldId id="997" r:id="rId19"/>
    <p:sldId id="998" r:id="rId20"/>
    <p:sldId id="999" r:id="rId21"/>
    <p:sldId id="1000" r:id="rId22"/>
    <p:sldId id="1001" r:id="rId23"/>
    <p:sldId id="1002" r:id="rId24"/>
    <p:sldId id="1003" r:id="rId25"/>
    <p:sldId id="1004" r:id="rId26"/>
    <p:sldId id="1005" r:id="rId27"/>
    <p:sldId id="1006" r:id="rId28"/>
    <p:sldId id="1007" r:id="rId29"/>
    <p:sldId id="1008" r:id="rId30"/>
    <p:sldId id="1009" r:id="rId31"/>
    <p:sldId id="1010" r:id="rId32"/>
    <p:sldId id="751" r:id="rId33"/>
  </p:sldIdLst>
  <p:sldSz cx="10693400" cy="7556500"/>
  <p:notesSz cx="10693400" cy="75565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94" userDrawn="1">
          <p15:clr>
            <a:srgbClr val="A4A3A4"/>
          </p15:clr>
        </p15:guide>
        <p15:guide id="2" pos="24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Aster" initials="L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FAA02"/>
    <a:srgbClr val="FFFFFF"/>
    <a:srgbClr val="0088D5"/>
    <a:srgbClr val="E69F22"/>
    <a:srgbClr val="ECF3F5"/>
    <a:srgbClr val="E6EFFA"/>
    <a:srgbClr val="C0D3EA"/>
    <a:srgbClr val="E0E0E0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EDE92E7-8D68-40CC-9BB4-FEAE9A1AA901}" styleName="{5e54ee44-2122-4b89-9784-b75a85ec0aa5}">
    <a:wholeTbl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/>
        <a:fill>
          <a:solidFill>
            <a:srgbClr val="E9E9E9"/>
          </a:solidFill>
        </a:fill>
      </a:tcStyle>
    </a:lastRow>
    <a:firstRow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2E6CB5"/>
          </a:solidFill>
        </a:fill>
      </a:tcStyle>
    </a:firstRow>
  </a:tblStyle>
  <a:tblStyle styleId="{AA00FE40-A4A1-4E01-A4F3-C6AA1E8047A4}" styleName="{1c11e0ce-8795-4a8a-8479-611ce8434d9d}">
    <a:wholeTbl>
      <a:tcTxStyle>
        <a:fontRef idx="none">
          <a:prstClr val="black"/>
        </a:fontRef>
      </a:tcTxStyle>
      <a:tcStyle>
        <a:tcBdr>
          <a:bottom>
            <a:ln w="38100" cmpd="sng">
              <a:solidFill>
                <a:srgbClr val="2E6CB5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FFFFFF"/>
          </a:solidFill>
        </a:fill>
      </a:tcStyle>
    </a:band1H>
    <a:band2H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F8F8F8"/>
          </a:solidFill>
        </a:fill>
      </a:tcStyle>
    </a:band2H>
    <a:firstRow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2E6CB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87129" autoAdjust="0"/>
  </p:normalViewPr>
  <p:slideViewPr>
    <p:cSldViewPr showGuides="1">
      <p:cViewPr varScale="1">
        <p:scale>
          <a:sx n="126" d="100"/>
          <a:sy n="126" d="100"/>
        </p:scale>
        <p:origin x="3112" y="192"/>
      </p:cViewPr>
      <p:guideLst>
        <p:guide orient="horz" pos="2694"/>
        <p:guide pos="24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D0C77-FFE7-40F1-B13E-A1B5417D8E5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CADC0-474D-4492-802B-B8958C4DAA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250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AAE7-F03F-A39E-94FD-986C4E46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0B5482-F7D2-25FF-0113-5B2A557F0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1B5DEC-89BD-68FD-BB14-473AF63BB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2C45EE-F484-04BC-3261-721625ACD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567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F520-62A9-9B75-F99B-14869F4D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8CBBCE-C0B3-E2D4-5088-D63931B96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AF7A49-F5A8-AF61-7391-7F46925BC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F08CC3-89FB-E18B-92F8-517246A15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1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A680-29B3-236D-D750-FF92CD23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124AB3-861A-1888-668E-F8FA8578E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60E83A-DC65-06A0-91CE-43ADE7CDA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488996-5B6D-A80A-4255-A22AB841C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540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0EF3-8922-148D-E89B-D5E4F494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791B6F-B835-5B8B-D775-039B9DC93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238863-AD0C-5F0F-575C-7186E184F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51CC4F-55C1-3E91-4B81-13D5E17EF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254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FF37-CF4E-7820-8B26-896A1385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5B8529-24D4-2AB0-5B2C-0C0C061BD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1DE5C6-C701-EB1F-995F-2692F1D06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AE71A0-78BD-42C3-6A90-58D780C2D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862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25FF-7441-E957-F106-D60E39B4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29D91F-7B8D-E665-04CB-215F5FCCE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4D1B22-0C52-B690-9F73-64112E449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5F591-484E-F111-F01C-71A1B6799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14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7791-0F06-962B-DA03-15F64C54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D3E5B8-299A-4063-F38C-0138E2A97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3CB84C-1CEC-184A-D09C-0539E522C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47F26-D779-9029-460B-754C15B06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923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FCC4-9F2B-8E96-6889-A95ED2D2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3132D9-4C0C-5866-7F4B-DC38E142B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6CBBA6-F935-9613-D076-29DD2DF34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E5EB48-9625-9986-534A-C744F42FC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87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6FF5-DDC9-D95A-0D8B-CFF41483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8B6279-B7AF-0885-4C42-A12B94DFA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D13549-C6D7-9CC9-3550-DBFD89605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ACF31-AA37-865E-D492-9936DE668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46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5057-B816-A0FD-31A7-1BF9B1BC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85812F-0305-911C-B334-E413CF924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CD9013-95EB-5C1F-0242-F8A18B7DB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57E08F-2A71-3AD9-FEA8-2AFB1A7D4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413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67331-A186-F779-06AC-8314835B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E5F378-0131-D04F-6715-C84B800DE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DC59C7-0029-F991-142F-3F4E71D91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FEC07-DD7D-CC45-B3C0-392B639AC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364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D335-E7B1-E0CB-EAB8-F0DDB2E1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C1B4D0-93BA-844F-4CED-850CDA3AD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B3A757-1D04-DEB2-0881-CE4A9420C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hlink"/>
                </a:solidFill>
              </a:rPr>
              <a:t>Pros</a:t>
            </a:r>
            <a:r>
              <a:rPr lang="en-US" altLang="zh-CN" baseline="0" dirty="0">
                <a:solidFill>
                  <a:schemeClr val="hlink"/>
                </a:solidFill>
              </a:rPr>
              <a:t> and cons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FDC6C0-E47C-CDD3-9338-83D24A4CA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640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0371-FE55-C72A-5901-CD0E4EF1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98D15B-D86F-A186-4EDB-5D63FE7CD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FEC3E8-992E-A006-D251-672BCD92F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66E4B-44AD-7394-F04C-755159FB8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00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7E16-DEC1-6848-CFB6-411EAC17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A6802B-F3C6-EEC5-D3EB-6165A0A3F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6F79A0-AD2B-0A7D-398C-13C1247B6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6DAC0-2BCD-8791-1D94-3F3A7664D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359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FE84-5B1E-E21B-93DB-FF0B4D4C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8589E0-0009-1374-78DC-90FDC8DE1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200693-AEF4-7224-1D8F-A46F0F8D6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hlink"/>
                </a:solidFill>
              </a:rPr>
              <a:t>Pros</a:t>
            </a:r>
            <a:r>
              <a:rPr lang="en-US" altLang="zh-CN" baseline="0" dirty="0">
                <a:solidFill>
                  <a:schemeClr val="hlink"/>
                </a:solidFill>
              </a:rPr>
              <a:t> and cons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68481-2C91-4E11-89A9-36A972D7F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593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4318-47B8-9E35-9302-7D3DD7DDB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D3C7F1-A4C3-13BF-0D79-0148DB890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1DD719-A81A-080E-A94D-0E4C60A4D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0AD05-9D3A-2577-6FDF-F8E80D0F1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976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0709-3A6E-D433-475B-4D797A55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9B60E0-EB7D-C9BE-8BC9-01495738D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A9A2E2-029B-8A95-6A67-8DFDC779F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F71B3B-0414-1430-4B9B-535CF5B99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348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D36B-A025-2078-519E-82D05551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1831BD-6760-B3D5-173A-7257CFB4B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A69459-624A-7B02-B085-32AAB630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0EC4B0-3DE9-72D0-6EEB-238F79044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0045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9FE2-93B7-CCCE-FBA7-4525ADEE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12F340-267F-677A-5FF3-F81EC1EA4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1A2F89-9C87-7D43-AFCB-E0DE943C1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17722A-932D-8AE9-9131-C78B5FED7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498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55E2-A6B9-E167-F26C-19850D11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62491C-4E6B-70F8-8B0D-0FCDB590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E3E72C-C33F-9406-3DCC-624828B58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BFEF30-0124-08DE-EB14-69DA01923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01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F37A-E3C4-2BA6-DB7D-03C7676E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D39474-2745-3625-EBEF-91AF62404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222D5A-FCFB-A223-C241-E97ADD0C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29DEDD-D63C-F6B1-4D09-232A61347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545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3C5C-37D5-ADB4-0775-4F4E99FF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70ACF0-307E-B453-62F1-06E46D18E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547E08-0284-8839-2607-072AF5AA6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841B4-3B24-B85C-470D-74524B5F5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988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D741-286E-80E7-136E-32230529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64B4AB-EF21-C958-571E-E5343659F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43114-6AC5-19C8-0F0B-F6A9DC376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07C00-8BB8-212A-FA65-96CB6E99E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473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722D-05E9-B9A5-BC3D-AEB6117E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DC22D-E5D9-5D02-9C9A-6D35CE041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FB34F-D0F9-37AB-47FC-10F858E43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D7F6-AA5B-862D-DFB5-8CD0C1D5E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9830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47CB-5329-4879-9DCC-7D59ABEA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722249-F4DE-5C9B-4596-8438676D2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094700-6253-5A6B-F9B7-07D05F04B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FB725-8C07-D27F-15CB-82823A431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36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4A3C-A0A4-C9F1-F9BA-446F2601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2464A2-6CC7-79E8-0656-457EEAD4E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DF985C-437A-F8FE-81FF-BC103F5AB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DF98BD-E2F4-B060-EA92-FBF3F710B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466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F05B-AE3F-0C7E-8297-8618E8BB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E93329-4809-D46E-1B49-E4B70E90C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5A1F24-4DBD-6BC7-8476-051D88BFB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A4CBE-1E0B-36BC-AB6B-24F669AED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707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7F66-1198-0B7E-A068-AEAFC99C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0AC08C-24BF-7149-C7EA-BFD05B5A9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A35D3D-EC6E-DF57-6CD4-FCC61A244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594F3-075F-096E-36E2-AC7E62A42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3200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526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4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320" indent="0" algn="ctr">
              <a:buNone/>
              <a:defRPr sz="1755"/>
            </a:lvl2pPr>
            <a:lvl3pPr marL="802005" indent="0" algn="ctr">
              <a:buNone/>
              <a:defRPr sz="1580"/>
            </a:lvl3pPr>
            <a:lvl4pPr marL="1203325" indent="0" algn="ctr">
              <a:buNone/>
              <a:defRPr sz="1405"/>
            </a:lvl4pPr>
            <a:lvl5pPr marL="1604010" indent="0" algn="ctr">
              <a:buNone/>
              <a:defRPr sz="1405"/>
            </a:lvl5pPr>
            <a:lvl6pPr marL="2005330" indent="0" algn="ctr">
              <a:buNone/>
              <a:defRPr sz="1405"/>
            </a:lvl6pPr>
            <a:lvl7pPr marL="2406015" indent="0" algn="ctr">
              <a:buNone/>
              <a:defRPr sz="1405"/>
            </a:lvl7pPr>
            <a:lvl8pPr marL="2807335" indent="0" algn="ctr">
              <a:buNone/>
              <a:defRPr sz="1405"/>
            </a:lvl8pPr>
            <a:lvl9pPr marL="3208020" indent="0" algn="ctr">
              <a:buNone/>
              <a:defRPr sz="140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E58DFDD-5E64-BD46-8F17-43EE2B9457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204656"/>
            <a:ext cx="39243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526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56909"/>
            <a:ext cx="9223058" cy="1652984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755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4pPr>
            <a:lvl5pPr marL="160401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5pPr>
            <a:lvl6pPr marL="200533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6pPr>
            <a:lvl7pPr marL="240601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7pPr>
            <a:lvl8pPr marL="28073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8pPr>
            <a:lvl9pPr marL="320802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171" y="2011568"/>
            <a:ext cx="4544695" cy="479453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3534" y="2011568"/>
            <a:ext cx="4544695" cy="479453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565" y="1852393"/>
            <a:ext cx="4523809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320" indent="0">
              <a:buNone/>
              <a:defRPr sz="1755" b="1"/>
            </a:lvl2pPr>
            <a:lvl3pPr marL="802005" indent="0">
              <a:buNone/>
              <a:defRPr sz="1580" b="1"/>
            </a:lvl3pPr>
            <a:lvl4pPr marL="1203325" indent="0">
              <a:buNone/>
              <a:defRPr sz="1405" b="1"/>
            </a:lvl4pPr>
            <a:lvl5pPr marL="1604010" indent="0">
              <a:buNone/>
              <a:defRPr sz="1405" b="1"/>
            </a:lvl5pPr>
            <a:lvl6pPr marL="2005330" indent="0">
              <a:buNone/>
              <a:defRPr sz="1405" b="1"/>
            </a:lvl6pPr>
            <a:lvl7pPr marL="2406015" indent="0">
              <a:buNone/>
              <a:defRPr sz="1405" b="1"/>
            </a:lvl7pPr>
            <a:lvl8pPr marL="2807335" indent="0">
              <a:buNone/>
              <a:defRPr sz="1405" b="1"/>
            </a:lvl8pPr>
            <a:lvl9pPr marL="3208020" indent="0">
              <a:buNone/>
              <a:defRPr sz="140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565" y="2760222"/>
            <a:ext cx="4523809" cy="405987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3534" y="1852393"/>
            <a:ext cx="4546088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320" indent="0">
              <a:buNone/>
              <a:defRPr sz="1755" b="1"/>
            </a:lvl2pPr>
            <a:lvl3pPr marL="802005" indent="0">
              <a:buNone/>
              <a:defRPr sz="1580" b="1"/>
            </a:lvl3pPr>
            <a:lvl4pPr marL="1203325" indent="0">
              <a:buNone/>
              <a:defRPr sz="1405" b="1"/>
            </a:lvl4pPr>
            <a:lvl5pPr marL="1604010" indent="0">
              <a:buNone/>
              <a:defRPr sz="1405" b="1"/>
            </a:lvl5pPr>
            <a:lvl6pPr marL="2005330" indent="0">
              <a:buNone/>
              <a:defRPr sz="1405" b="1"/>
            </a:lvl6pPr>
            <a:lvl7pPr marL="2406015" indent="0">
              <a:buNone/>
              <a:defRPr sz="1405" b="1"/>
            </a:lvl7pPr>
            <a:lvl8pPr marL="2807335" indent="0">
              <a:buNone/>
              <a:defRPr sz="1405" b="1"/>
            </a:lvl8pPr>
            <a:lvl9pPr marL="3208020" indent="0">
              <a:buNone/>
              <a:defRPr sz="140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805"/>
            </a:lvl1pPr>
            <a:lvl2pPr>
              <a:defRPr sz="2455"/>
            </a:lvl2pPr>
            <a:lvl3pPr>
              <a:defRPr sz="2105"/>
            </a:lvl3pPr>
            <a:lvl4pPr>
              <a:defRPr sz="1755"/>
            </a:lvl4pPr>
            <a:lvl5pPr>
              <a:defRPr sz="1755"/>
            </a:lvl5pPr>
            <a:lvl6pPr>
              <a:defRPr sz="1755"/>
            </a:lvl6pPr>
            <a:lvl7pPr>
              <a:defRPr sz="1755"/>
            </a:lvl7pPr>
            <a:lvl8pPr>
              <a:defRPr sz="1755"/>
            </a:lvl8pPr>
            <a:lvl9pPr>
              <a:defRPr sz="175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5"/>
            </a:lvl1pPr>
            <a:lvl2pPr marL="401320" indent="0">
              <a:buNone/>
              <a:defRPr sz="1230"/>
            </a:lvl2pPr>
            <a:lvl3pPr marL="802005" indent="0">
              <a:buNone/>
              <a:defRPr sz="1055"/>
            </a:lvl3pPr>
            <a:lvl4pPr marL="1203325" indent="0">
              <a:buNone/>
              <a:defRPr sz="875"/>
            </a:lvl4pPr>
            <a:lvl5pPr marL="1604010" indent="0">
              <a:buNone/>
              <a:defRPr sz="875"/>
            </a:lvl5pPr>
            <a:lvl6pPr marL="2005330" indent="0">
              <a:buNone/>
              <a:defRPr sz="875"/>
            </a:lvl6pPr>
            <a:lvl7pPr marL="2406015" indent="0">
              <a:buNone/>
              <a:defRPr sz="875"/>
            </a:lvl7pPr>
            <a:lvl8pPr marL="2807335" indent="0">
              <a:buNone/>
              <a:defRPr sz="875"/>
            </a:lvl8pPr>
            <a:lvl9pPr marL="3208020" indent="0">
              <a:buNone/>
              <a:defRPr sz="87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 marL="0" indent="0">
              <a:buNone/>
              <a:defRPr sz="2805"/>
            </a:lvl1pPr>
            <a:lvl2pPr marL="401320" indent="0">
              <a:buNone/>
              <a:defRPr sz="2455"/>
            </a:lvl2pPr>
            <a:lvl3pPr marL="802005" indent="0">
              <a:buNone/>
              <a:defRPr sz="2105"/>
            </a:lvl3pPr>
            <a:lvl4pPr marL="1203325" indent="0">
              <a:buNone/>
              <a:defRPr sz="1755"/>
            </a:lvl4pPr>
            <a:lvl5pPr marL="1604010" indent="0">
              <a:buNone/>
              <a:defRPr sz="1755"/>
            </a:lvl5pPr>
            <a:lvl6pPr marL="2005330" indent="0">
              <a:buNone/>
              <a:defRPr sz="1755"/>
            </a:lvl6pPr>
            <a:lvl7pPr marL="2406015" indent="0">
              <a:buNone/>
              <a:defRPr sz="1755"/>
            </a:lvl7pPr>
            <a:lvl8pPr marL="2807335" indent="0">
              <a:buNone/>
              <a:defRPr sz="1755"/>
            </a:lvl8pPr>
            <a:lvl9pPr marL="3208020" indent="0">
              <a:buNone/>
              <a:defRPr sz="1755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5"/>
            </a:lvl1pPr>
            <a:lvl2pPr marL="401320" indent="0">
              <a:buNone/>
              <a:defRPr sz="1230"/>
            </a:lvl2pPr>
            <a:lvl3pPr marL="802005" indent="0">
              <a:buNone/>
              <a:defRPr sz="1055"/>
            </a:lvl3pPr>
            <a:lvl4pPr marL="1203325" indent="0">
              <a:buNone/>
              <a:defRPr sz="875"/>
            </a:lvl4pPr>
            <a:lvl5pPr marL="1604010" indent="0">
              <a:buNone/>
              <a:defRPr sz="875"/>
            </a:lvl5pPr>
            <a:lvl6pPr marL="2005330" indent="0">
              <a:buNone/>
              <a:defRPr sz="875"/>
            </a:lvl6pPr>
            <a:lvl7pPr marL="2406015" indent="0">
              <a:buNone/>
              <a:defRPr sz="875"/>
            </a:lvl7pPr>
            <a:lvl8pPr marL="2807335" indent="0">
              <a:buNone/>
              <a:defRPr sz="875"/>
            </a:lvl8pPr>
            <a:lvl9pPr marL="3208020" indent="0">
              <a:buNone/>
              <a:defRPr sz="87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4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171" y="402314"/>
            <a:ext cx="6783626" cy="6403784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171" y="402314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171" y="2011568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171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2189" y="7003756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2214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802005" rtl="0" eaLnBrk="1" latinLnBrk="0" hangingPunct="1">
        <a:lnSpc>
          <a:spcPct val="90000"/>
        </a:lnSpc>
        <a:spcBef>
          <a:spcPct val="0"/>
        </a:spcBef>
        <a:buNone/>
        <a:defRPr sz="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660" indent="-200660" algn="l" defTabSz="802005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5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40335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80467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20535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60667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00736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40868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00533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40601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280733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2080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7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15.xml"/><Relationship Id="rId7" Type="http://schemas.openxmlformats.org/officeDocument/2006/relationships/image" Target="../media/image8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7.jpe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9.png"/><Relationship Id="rId3" Type="http://schemas.openxmlformats.org/officeDocument/2006/relationships/tags" Target="../tags/tag18.xml"/><Relationship Id="rId7" Type="http://schemas.openxmlformats.org/officeDocument/2006/relationships/image" Target="../media/image13.png"/><Relationship Id="rId12" Type="http://schemas.openxmlformats.org/officeDocument/2006/relationships/image" Target="../media/image11.jpe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5.png"/><Relationship Id="rId1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6.jpeg"/><Relationship Id="rId3" Type="http://schemas.openxmlformats.org/officeDocument/2006/relationships/tags" Target="../tags/tag21.xml"/><Relationship Id="rId7" Type="http://schemas.openxmlformats.org/officeDocument/2006/relationships/image" Target="../media/image21.png"/><Relationship Id="rId12" Type="http://schemas.openxmlformats.org/officeDocument/2006/relationships/image" Target="../media/image15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11" Type="http://schemas.openxmlformats.org/officeDocument/2006/relationships/image" Target="../media/image14.jpe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1.jpe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2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tags" Target="../tags/tag27.xml"/><Relationship Id="rId7" Type="http://schemas.openxmlformats.org/officeDocument/2006/relationships/image" Target="../media/image13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20.jpeg"/><Relationship Id="rId3" Type="http://schemas.openxmlformats.org/officeDocument/2006/relationships/tags" Target="../tags/tag30.xml"/><Relationship Id="rId7" Type="http://schemas.openxmlformats.org/officeDocument/2006/relationships/image" Target="../media/image27.png"/><Relationship Id="rId12" Type="http://schemas.openxmlformats.org/officeDocument/2006/relationships/image" Target="../media/image19.jpe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4.png"/><Relationship Id="rId11" Type="http://schemas.openxmlformats.org/officeDocument/2006/relationships/image" Target="../media/image18.jpe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17.jpe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32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33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39.xml"/><Relationship Id="rId7" Type="http://schemas.openxmlformats.org/officeDocument/2006/relationships/image" Target="../media/image34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.png"/><Relationship Id="rId11" Type="http://schemas.openxmlformats.org/officeDocument/2006/relationships/image" Target="../media/image23.jpeg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22.jpe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38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39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40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41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4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43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4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tags" Target="../tags/tag69.xml"/><Relationship Id="rId7" Type="http://schemas.openxmlformats.org/officeDocument/2006/relationships/oleObject" Target="../embeddings/oleObject1.bin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9.xml"/><Relationship Id="rId10" Type="http://schemas.openxmlformats.org/officeDocument/2006/relationships/image" Target="../media/image25.wmf"/><Relationship Id="rId4" Type="http://schemas.openxmlformats.org/officeDocument/2006/relationships/slideLayout" Target="../slideLayouts/slideLayout2.xml"/><Relationship Id="rId9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>
            <a:extLst>
              <a:ext uri="{FF2B5EF4-FFF2-40B4-BE49-F238E27FC236}">
                <a16:creationId xmlns:a16="http://schemas.microsoft.com/office/drawing/2014/main" id="{14BD418A-9858-A843-92C9-8A399CC55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7850"/>
            <a:ext cx="10677400" cy="31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-11000" y="4387850"/>
            <a:ext cx="10688400" cy="3168000"/>
          </a:xfrm>
          <a:prstGeom prst="rect">
            <a:avLst/>
          </a:prstGeom>
          <a:solidFill>
            <a:schemeClr val="accent1">
              <a:lumMod val="60000"/>
              <a:lumOff val="4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537845" y="1720850"/>
            <a:ext cx="9617710" cy="21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5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（信息与）通信技术（基础）</a:t>
            </a:r>
            <a:endParaRPr kumimoji="1" lang="en-US" altLang="zh-CN" sz="5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4: Analog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endParaRPr lang="en-GB" altLang="zh-C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207578" y="4692650"/>
            <a:ext cx="4272722" cy="2160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3375" marR="5080" indent="-321310" algn="ctr">
              <a:lnSpc>
                <a:spcPct val="127000"/>
              </a:lnSpc>
              <a:spcBef>
                <a:spcPts val="95"/>
              </a:spcBef>
            </a:pPr>
            <a:r>
              <a:rPr lang="zh-CN" altLang="en-US" sz="2800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王超</a:t>
            </a:r>
          </a:p>
          <a:p>
            <a:pPr marL="333375" marR="5080" indent="-321310" algn="ctr">
              <a:lnSpc>
                <a:spcPct val="127000"/>
              </a:lnSpc>
              <a:spcBef>
                <a:spcPts val="95"/>
              </a:spcBef>
            </a:pPr>
            <a:endParaRPr lang="zh-CN" altLang="en-US" b="1" spc="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电子与信息工程学院 </a:t>
            </a:r>
            <a:r>
              <a:rPr lang="en-US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信息与通信工程系</a:t>
            </a: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教授</a:t>
            </a:r>
            <a:r>
              <a:rPr lang="en-US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博士生导师</a:t>
            </a: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es-419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Email: chaowang@tongji.edu.cn</a:t>
            </a:r>
            <a:endParaRPr lang="zh-CN" altLang="en-US" sz="1600" b="1" spc="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/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/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E02803-5AD4-6A7C-F6AF-5522445D119E}"/>
              </a:ext>
            </a:extLst>
          </p:cNvPr>
          <p:cNvSpPr txBox="1"/>
          <p:nvPr/>
        </p:nvSpPr>
        <p:spPr>
          <a:xfrm>
            <a:off x="5270500" y="1720850"/>
            <a:ext cx="53340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(AM)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Double-sideband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(DSB)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(SSB)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(VSB)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Angle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1300" y="268605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406B9E4-CC45-C19C-1313-76A1A6C1C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Modulation refers to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modification of one signal’s characteristics in sympathy with another signal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Analog modulation: Modulation of a carrier by utilizing a source baseband analog signal.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Carrier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deterministic periodic waveform, e.g.: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where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𝐴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amplitude,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angular frequency,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/>
                            <a:ea typeface="Cambria Math"/>
                          </a:rPr>
                          <m:t>𝜑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initial phase.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Modulation enables a parameter of the carrier,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to vary with the source signal,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 the value of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represented by the value of a parameter of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406B9E4-CC45-C19C-1313-76A1A6C1C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6">
            <a:extLst>
              <a:ext uri="{FF2B5EF4-FFF2-40B4-BE49-F238E27FC236}">
                <a16:creationId xmlns:a16="http://schemas.microsoft.com/office/drawing/2014/main" id="{74F71BAB-53B9-9F2C-D826-3B9B50C03604}"/>
              </a:ext>
            </a:extLst>
          </p:cNvPr>
          <p:cNvGrpSpPr>
            <a:grpSpLocks/>
          </p:cNvGrpSpPr>
          <p:nvPr/>
        </p:nvGrpSpPr>
        <p:grpSpPr bwMode="auto">
          <a:xfrm>
            <a:off x="3043237" y="6254173"/>
            <a:ext cx="4606926" cy="706438"/>
            <a:chOff x="2994" y="1820"/>
            <a:chExt cx="2902" cy="445"/>
          </a:xfrm>
        </p:grpSpPr>
        <p:sp>
          <p:nvSpPr>
            <p:cNvPr id="4" name="Text Box 31">
              <a:extLst>
                <a:ext uri="{FF2B5EF4-FFF2-40B4-BE49-F238E27FC236}">
                  <a16:creationId xmlns:a16="http://schemas.microsoft.com/office/drawing/2014/main" id="{C3BEBC8F-B1C3-2C8F-EA53-A691D0042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9" y="1820"/>
              <a:ext cx="678" cy="391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Modulator</a:t>
              </a:r>
              <a:endParaRPr lang="en-US" altLang="zh-CN" sz="3200" dirty="0">
                <a:solidFill>
                  <a:schemeClr val="hlink"/>
                </a:solidFill>
              </a:endParaRPr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F1053D04-5593-693F-F17E-E9184235F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" y="2013"/>
              <a:ext cx="33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CBE89F1F-2ED4-DAAB-C015-49AED6E7B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2013"/>
              <a:ext cx="339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Box 34">
              <a:extLst>
                <a:ext uri="{FF2B5EF4-FFF2-40B4-BE49-F238E27FC236}">
                  <a16:creationId xmlns:a16="http://schemas.microsoft.com/office/drawing/2014/main" id="{C8BBF5AF-8D40-4534-EF2E-389A3BC99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9" y="1907"/>
              <a:ext cx="817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lnSpc>
                  <a:spcPct val="64000"/>
                </a:lnSpc>
              </a:pP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Modulated</a:t>
              </a:r>
            </a:p>
            <a:p>
              <a:pPr algn="ctr">
                <a:lnSpc>
                  <a:spcPct val="96000"/>
                </a:lnSpc>
              </a:pP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signal </a:t>
              </a:r>
              <a:r>
                <a:rPr lang="en-US" altLang="zh-CN" sz="1600" i="1" dirty="0">
                  <a:solidFill>
                    <a:schemeClr val="hlink"/>
                  </a:solidFill>
                  <a:latin typeface="Times New Roman" pitchFamily="18" charset="0"/>
                </a:rPr>
                <a:t>s</a:t>
              </a: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(</a:t>
              </a:r>
              <a:r>
                <a:rPr lang="en-US" altLang="zh-CN" sz="1600" i="1" dirty="0">
                  <a:solidFill>
                    <a:schemeClr val="hlink"/>
                  </a:solidFill>
                  <a:latin typeface="Times New Roman" pitchFamily="18" charset="0"/>
                </a:rPr>
                <a:t>t</a:t>
              </a: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  <a:endParaRPr lang="en-US" altLang="zh-CN" sz="3200" dirty="0">
                <a:solidFill>
                  <a:schemeClr val="hlink"/>
                </a:solidFill>
              </a:endParaRPr>
            </a:p>
          </p:txBody>
        </p:sp>
        <p:sp>
          <p:nvSpPr>
            <p:cNvPr id="14" name="Text Box 35">
              <a:extLst>
                <a:ext uri="{FF2B5EF4-FFF2-40B4-BE49-F238E27FC236}">
                  <a16:creationId xmlns:a16="http://schemas.microsoft.com/office/drawing/2014/main" id="{437C8630-14C4-034E-77D5-65ED56304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4" y="1848"/>
              <a:ext cx="789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Modulating </a:t>
              </a:r>
            </a:p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signal </a:t>
              </a:r>
              <a:r>
                <a:rPr lang="en-US" altLang="zh-CN" sz="1600" i="1" dirty="0">
                  <a:solidFill>
                    <a:schemeClr val="hlink"/>
                  </a:solidFill>
                  <a:latin typeface="Times New Roman" pitchFamily="18" charset="0"/>
                </a:rPr>
                <a:t>m</a:t>
              </a: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(</a:t>
              </a:r>
              <a:r>
                <a:rPr lang="en-US" altLang="zh-CN" sz="1600" i="1" dirty="0">
                  <a:solidFill>
                    <a:schemeClr val="hlink"/>
                  </a:solidFill>
                  <a:latin typeface="Times New Roman" pitchFamily="18" charset="0"/>
                </a:rPr>
                <a:t>t</a:t>
              </a: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  <a:endParaRPr lang="en-US" altLang="zh-CN" sz="3200" dirty="0">
                <a:solidFill>
                  <a:schemeClr val="hlin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6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7F312-4AE0-E53F-4B14-5186E650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60CFC9B-5E83-EA7B-0551-C8F184E6BE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33CAE05-5129-40EB-EA16-A3FFEBED81B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579FE6-6E1B-E1D1-45BD-3CEF37948A6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E3E64-860B-952B-EDDF-F4A3D281297D}"/>
              </a:ext>
            </a:extLst>
          </p:cNvPr>
          <p:cNvSpPr txBox="1"/>
          <p:nvPr/>
        </p:nvSpPr>
        <p:spPr>
          <a:xfrm>
            <a:off x="241300" y="268605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D59138-A86D-7074-52D1-76705C9B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E306DC8-09E6-E41C-E800-35F172A9C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source signal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</a:t>
                </a:r>
                <a:r>
                  <a:rPr lang="en-GB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modulating signal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he carrier after being modulated,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𝑠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is called </a:t>
                </a:r>
                <a:r>
                  <a:rPr lang="en-GB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modulated signal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device for modulation is called </a:t>
                </a:r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modulator.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Purposes of modulation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realize frequency spectrum movement: Accommodating the requirement of channel transmission or conducting multi-channel transmission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improve the anti-jamming ability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Classification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modulation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The frequency spectrum structure of modulated signal remains the same as that of modulating signal.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Nonlinear modulation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(also called angle modulation): The frequency spectrum structures of modulated and modulating signals are different (new frequency components are generated)</a:t>
                </a: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defTabSz="914400">
                  <a:lnSpc>
                    <a:spcPct val="130000"/>
                  </a:lnSpc>
                  <a:spcBef>
                    <a:spcPts val="0"/>
                  </a:spcBef>
                  <a:defRPr/>
                </a:pPr>
                <a:endParaRPr lang="es-419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E306DC8-09E6-E41C-E800-35F172A9C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  <a:blipFill>
                <a:blip r:embed="rId7"/>
                <a:stretch>
                  <a:fillRect l="-745" r="-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96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7C6F6-ADEC-2EA4-1FFF-3BDF599D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41F0BC7-A8F8-4415-A5E1-1E569193FD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2DCBC77-3FF2-A0DC-E398-A2A015E22A2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BC2E6E-C18A-1048-D60D-643E648F83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85619-18AE-165C-C4C1-08FE36384B56}"/>
              </a:ext>
            </a:extLst>
          </p:cNvPr>
          <p:cNvSpPr txBox="1"/>
          <p:nvPr/>
        </p:nvSpPr>
        <p:spPr>
          <a:xfrm>
            <a:off x="241300" y="268605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Linear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495620-3C32-5A8E-C464-CFBCB0DD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1452D913-C58E-226F-73AD-27BDCA023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the carrier signal be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</a:rPr>
                      <m:t>𝐴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func>
                    <m:r>
                      <a:rPr lang="en-US" altLang="zh-CN" sz="2400" i="1">
                        <a:latin typeface="Cambria Math"/>
                      </a:rPr>
                      <m:t>=</m:t>
                    </m:r>
                    <m:r>
                      <a:rPr lang="en-US" altLang="zh-CN" sz="2400" i="1">
                        <a:latin typeface="Cambria Math"/>
                      </a:rPr>
                      <m:t>𝐴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  <m:r>
                          <a:rPr lang="en-US" altLang="zh-CN" sz="2400" i="1">
                            <a:latin typeface="Cambria Math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frequency (Hz).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principle model of a linear modulator is to pass the multiplication of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latin typeface="Cambria Math"/>
                        </a:rPr>
                        <m:t>𝑚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through a </a:t>
                </a:r>
                <a:r>
                  <a:rPr lang="en-GB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bandpass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filter with transfer function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𝐻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characteristic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𝐻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</a:t>
                </a:r>
                <a:r>
                  <a:rPr lang="en-GB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bandpass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filter may have different designs, resulting in different modulation modes. </a:t>
                </a:r>
              </a:p>
              <a:p>
                <a:pPr>
                  <a:lnSpc>
                    <a:spcPct val="130000"/>
                  </a:lnSpc>
                </a:pP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altLang="zh-CN" sz="2400" dirty="0"/>
              </a:p>
              <a:p>
                <a:pPr defTabSz="914400">
                  <a:lnSpc>
                    <a:spcPct val="130000"/>
                  </a:lnSpc>
                  <a:spcBef>
                    <a:spcPts val="0"/>
                  </a:spcBef>
                  <a:defRPr/>
                </a:pPr>
                <a:endParaRPr lang="es-419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defTabSz="914400">
                  <a:lnSpc>
                    <a:spcPct val="130000"/>
                  </a:lnSpc>
                  <a:spcBef>
                    <a:spcPts val="0"/>
                  </a:spcBef>
                  <a:defRPr/>
                </a:pPr>
                <a:endParaRPr lang="es-419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1452D913-C58E-226F-73AD-27BDCA023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  <a:blipFill>
                <a:blip r:embed="rId7"/>
                <a:stretch>
                  <a:fillRect l="-870" r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97">
            <a:extLst>
              <a:ext uri="{FF2B5EF4-FFF2-40B4-BE49-F238E27FC236}">
                <a16:creationId xmlns:a16="http://schemas.microsoft.com/office/drawing/2014/main" id="{E275968E-15F9-A08F-C6BD-331B16E24645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5673725"/>
            <a:ext cx="4572000" cy="1304925"/>
            <a:chOff x="2880" y="1253"/>
            <a:chExt cx="2880" cy="822"/>
          </a:xfrm>
        </p:grpSpPr>
        <p:grpSp>
          <p:nvGrpSpPr>
            <p:cNvPr id="4" name="Group 89">
              <a:extLst>
                <a:ext uri="{FF2B5EF4-FFF2-40B4-BE49-F238E27FC236}">
                  <a16:creationId xmlns:a16="http://schemas.microsoft.com/office/drawing/2014/main" id="{98481B51-24BA-005D-EB1A-F4778670D8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1417"/>
              <a:ext cx="1695" cy="260"/>
              <a:chOff x="4191" y="4361"/>
              <a:chExt cx="3053" cy="426"/>
            </a:xfrm>
          </p:grpSpPr>
          <p:sp>
            <p:nvSpPr>
              <p:cNvPr id="17" name="Line 90">
                <a:extLst>
                  <a:ext uri="{FF2B5EF4-FFF2-40B4-BE49-F238E27FC236}">
                    <a16:creationId xmlns:a16="http://schemas.microsoft.com/office/drawing/2014/main" id="{11878F14-8FDD-DEF6-0BDB-9E0D4DF4C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1" y="4573"/>
                <a:ext cx="352" cy="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Line 91">
                <a:extLst>
                  <a:ext uri="{FF2B5EF4-FFF2-40B4-BE49-F238E27FC236}">
                    <a16:creationId xmlns:a16="http://schemas.microsoft.com/office/drawing/2014/main" id="{4B7BCC73-05F3-B4D6-F114-1886D15F1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3" y="4572"/>
                <a:ext cx="471" cy="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Line 92">
                <a:extLst>
                  <a:ext uri="{FF2B5EF4-FFF2-40B4-BE49-F238E27FC236}">
                    <a16:creationId xmlns:a16="http://schemas.microsoft.com/office/drawing/2014/main" id="{6AE13A84-E737-73C4-5D19-82D82896F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9" y="4568"/>
                <a:ext cx="444" cy="13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 Box 93">
                <a:extLst>
                  <a:ext uri="{FF2B5EF4-FFF2-40B4-BE49-F238E27FC236}">
                    <a16:creationId xmlns:a16="http://schemas.microsoft.com/office/drawing/2014/main" id="{BD96466D-9120-56DE-0903-EFAFBDD4AB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4" y="4361"/>
                <a:ext cx="920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36000"/>
              <a:lstStyle/>
              <a:p>
                <a:pPr algn="ctr">
                  <a:lnSpc>
                    <a:spcPct val="128000"/>
                  </a:lnSpc>
                </a:pPr>
                <a:r>
                  <a:rPr lang="en-US" altLang="zh-CN" sz="1600" b="1" dirty="0">
                    <a:latin typeface="宋体" pitchFamily="2" charset="-122"/>
                    <a:sym typeface="Symbol" pitchFamily="18" charset="2"/>
                  </a:rPr>
                  <a:t></a:t>
                </a:r>
                <a:endParaRPr lang="en-US" altLang="zh-CN" dirty="0"/>
              </a:p>
            </p:txBody>
          </p:sp>
          <p:sp>
            <p:nvSpPr>
              <p:cNvPr id="21" name="Text Box 94">
                <a:extLst>
                  <a:ext uri="{FF2B5EF4-FFF2-40B4-BE49-F238E27FC236}">
                    <a16:creationId xmlns:a16="http://schemas.microsoft.com/office/drawing/2014/main" id="{D19B6F81-4B19-D9F6-76DD-6B5A104E2C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5" y="4361"/>
                <a:ext cx="920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600" b="1" i="1" dirty="0">
                    <a:latin typeface="Times New Roman" pitchFamily="18" charset="0"/>
                  </a:rPr>
                  <a:t>H</a:t>
                </a:r>
                <a:r>
                  <a:rPr lang="en-US" altLang="zh-CN" sz="1600" b="1" dirty="0">
                    <a:latin typeface="Times New Roman" pitchFamily="18" charset="0"/>
                  </a:rPr>
                  <a:t>(</a:t>
                </a:r>
                <a:r>
                  <a:rPr lang="en-US" altLang="zh-CN" sz="1600" b="1" i="1" dirty="0">
                    <a:latin typeface="Times New Roman" pitchFamily="18" charset="0"/>
                  </a:rPr>
                  <a:t>f</a:t>
                </a:r>
                <a:r>
                  <a:rPr lang="en-US" altLang="zh-CN" sz="1600" b="1" dirty="0">
                    <a:latin typeface="Times New Roman" pitchFamily="18" charset="0"/>
                  </a:rPr>
                  <a:t>)</a:t>
                </a:r>
                <a:endParaRPr lang="en-US" altLang="zh-CN" sz="2800" b="1" dirty="0"/>
              </a:p>
            </p:txBody>
          </p:sp>
        </p:grpSp>
        <p:grpSp>
          <p:nvGrpSpPr>
            <p:cNvPr id="10" name="Group 96">
              <a:extLst>
                <a:ext uri="{FF2B5EF4-FFF2-40B4-BE49-F238E27FC236}">
                  <a16:creationId xmlns:a16="http://schemas.microsoft.com/office/drawing/2014/main" id="{E5B381E1-7089-BA49-2030-2270D3D942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253"/>
              <a:ext cx="2880" cy="822"/>
              <a:chOff x="2880" y="1253"/>
              <a:chExt cx="2880" cy="822"/>
            </a:xfrm>
          </p:grpSpPr>
          <p:sp>
            <p:nvSpPr>
              <p:cNvPr id="11" name="Text Box 81">
                <a:extLst>
                  <a:ext uri="{FF2B5EF4-FFF2-40B4-BE49-F238E27FC236}">
                    <a16:creationId xmlns:a16="http://schemas.microsoft.com/office/drawing/2014/main" id="{20031671-3746-1810-9D88-2D112C994E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" y="1253"/>
                <a:ext cx="36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400" b="1" i="1">
                    <a:solidFill>
                      <a:schemeClr val="hlink"/>
                    </a:solidFill>
                    <a:latin typeface="Times New Roman" pitchFamily="18" charset="0"/>
                  </a:rPr>
                  <a:t>s</a:t>
                </a:r>
                <a:r>
                  <a:rPr lang="en-US" altLang="zh-CN" sz="1400" b="1">
                    <a:solidFill>
                      <a:schemeClr val="hlink"/>
                    </a:solidFill>
                    <a:latin typeface="Times New Roman" pitchFamily="18" charset="0"/>
                    <a:sym typeface="Symbol" pitchFamily="18" charset="2"/>
                  </a:rPr>
                  <a:t></a:t>
                </a:r>
                <a:r>
                  <a:rPr lang="en-US" altLang="zh-CN" sz="1400" b="1">
                    <a:solidFill>
                      <a:schemeClr val="hlink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sz="1400" b="1" i="1">
                    <a:solidFill>
                      <a:schemeClr val="hlink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400" b="1">
                    <a:solidFill>
                      <a:schemeClr val="hlink"/>
                    </a:solidFill>
                    <a:latin typeface="Times New Roman" pitchFamily="18" charset="0"/>
                  </a:rPr>
                  <a:t>)</a:t>
                </a:r>
                <a:endParaRPr lang="en-US" altLang="zh-CN" sz="2400" b="1">
                  <a:solidFill>
                    <a:schemeClr val="hlink"/>
                  </a:solidFill>
                </a:endParaRPr>
              </a:p>
            </p:txBody>
          </p:sp>
          <p:sp>
            <p:nvSpPr>
              <p:cNvPr id="13" name="Text Box 86">
                <a:extLst>
                  <a:ext uri="{FF2B5EF4-FFF2-40B4-BE49-F238E27FC236}">
                    <a16:creationId xmlns:a16="http://schemas.microsoft.com/office/drawing/2014/main" id="{D8D9A820-C879-C5F8-E9EC-004EED020A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0" y="1366"/>
                <a:ext cx="710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>
                    <a:solidFill>
                      <a:schemeClr val="hlink"/>
                    </a:solidFill>
                    <a:latin typeface="Times New Roman" pitchFamily="18" charset="0"/>
                  </a:rPr>
                  <a:t>Modulated signal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600" b="1" i="1">
                    <a:solidFill>
                      <a:schemeClr val="hlink"/>
                    </a:solidFill>
                    <a:latin typeface="Times New Roman" pitchFamily="18" charset="0"/>
                  </a:rPr>
                  <a:t>s</a:t>
                </a:r>
                <a:r>
                  <a:rPr lang="en-US" altLang="zh-CN" sz="1600" b="1">
                    <a:solidFill>
                      <a:schemeClr val="hlink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sz="1600" b="1" i="1">
                    <a:solidFill>
                      <a:schemeClr val="hlink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="1">
                    <a:solidFill>
                      <a:schemeClr val="hlink"/>
                    </a:solidFill>
                    <a:latin typeface="Times New Roman" pitchFamily="18" charset="0"/>
                  </a:rPr>
                  <a:t>)</a:t>
                </a:r>
                <a:endParaRPr lang="en-US" altLang="zh-CN" sz="2800" b="1">
                  <a:solidFill>
                    <a:schemeClr val="hlink"/>
                  </a:solidFill>
                </a:endParaRPr>
              </a:p>
            </p:txBody>
          </p:sp>
          <p:sp>
            <p:nvSpPr>
              <p:cNvPr id="14" name="Text Box 87">
                <a:extLst>
                  <a:ext uri="{FF2B5EF4-FFF2-40B4-BE49-F238E27FC236}">
                    <a16:creationId xmlns:a16="http://schemas.microsoft.com/office/drawing/2014/main" id="{BB373E01-2E31-5C8E-07E6-7A74C3F3AF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1372"/>
                <a:ext cx="706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chemeClr val="hlink"/>
                    </a:solidFill>
                    <a:latin typeface="Times New Roman" pitchFamily="18" charset="0"/>
                  </a:rPr>
                  <a:t>Modulating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chemeClr val="hlink"/>
                    </a:solidFill>
                    <a:latin typeface="Times New Roman" pitchFamily="18" charset="0"/>
                  </a:rPr>
                  <a:t>signal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600" b="1" i="1" dirty="0">
                    <a:solidFill>
                      <a:schemeClr val="hlink"/>
                    </a:solidFill>
                    <a:latin typeface="Times New Roman" pitchFamily="18" charset="0"/>
                  </a:rPr>
                  <a:t>m</a:t>
                </a:r>
                <a:r>
                  <a:rPr lang="en-US" altLang="zh-CN" sz="1600" b="1" dirty="0">
                    <a:solidFill>
                      <a:schemeClr val="hlink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sz="1600" b="1" i="1" dirty="0">
                    <a:solidFill>
                      <a:schemeClr val="hlink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 sz="1600" b="1" dirty="0">
                    <a:solidFill>
                      <a:schemeClr val="hlink"/>
                    </a:solidFill>
                    <a:latin typeface="Times New Roman" pitchFamily="18" charset="0"/>
                  </a:rPr>
                  <a:t>)</a:t>
                </a:r>
                <a:endParaRPr lang="en-US" altLang="zh-CN" sz="28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15" name="Text Box 88">
                <a:extLst>
                  <a:ext uri="{FF2B5EF4-FFF2-40B4-BE49-F238E27FC236}">
                    <a16:creationId xmlns:a16="http://schemas.microsoft.com/office/drawing/2014/main" id="{597A866F-EE0D-5500-E0B7-7816927CA6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0" y="1815"/>
                <a:ext cx="511" cy="2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400" b="1" i="1" dirty="0">
                    <a:latin typeface="Times New Roman" pitchFamily="18" charset="0"/>
                  </a:rPr>
                  <a:t>A</a:t>
                </a:r>
                <a:r>
                  <a:rPr lang="en-US" altLang="zh-CN" sz="1400" b="1" dirty="0">
                    <a:latin typeface="Times New Roman" pitchFamily="18" charset="0"/>
                  </a:rPr>
                  <a:t>cos</a:t>
                </a:r>
                <a:r>
                  <a:rPr lang="en-US" altLang="zh-CN" sz="1400" b="1" i="1" dirty="0">
                    <a:latin typeface="Times New Roman" pitchFamily="18" charset="0"/>
                    <a:sym typeface="Symbol" pitchFamily="18" charset="2"/>
                  </a:rPr>
                  <a:t></a:t>
                </a:r>
                <a:r>
                  <a:rPr lang="en-US" altLang="zh-CN" sz="1400" b="1" baseline="-25000" dirty="0">
                    <a:latin typeface="Times New Roman" pitchFamily="18" charset="0"/>
                  </a:rPr>
                  <a:t>0</a:t>
                </a:r>
                <a:r>
                  <a:rPr lang="en-US" altLang="zh-CN" sz="1400" b="1" i="1" dirty="0">
                    <a:latin typeface="Times New Roman" pitchFamily="18" charset="0"/>
                  </a:rPr>
                  <a:t>t</a:t>
                </a:r>
                <a:endParaRPr lang="en-US" altLang="zh-CN" sz="2400" b="1" dirty="0"/>
              </a:p>
            </p:txBody>
          </p:sp>
          <p:sp>
            <p:nvSpPr>
              <p:cNvPr id="16" name="Line 95">
                <a:extLst>
                  <a:ext uri="{FF2B5EF4-FFF2-40B4-BE49-F238E27FC236}">
                    <a16:creationId xmlns:a16="http://schemas.microsoft.com/office/drawing/2014/main" id="{888BCEE8-CC90-03D8-E14E-77F3C8C2E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6" y="1670"/>
                <a:ext cx="1" cy="15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208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F927-1437-DCCD-80F9-4DA67737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C98CF94-1A88-DA16-7016-D49992B2A91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27B083D-6D6E-C66F-787D-C8953F7B24C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C62442-24D4-AEA4-C131-4970EC5989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4E9D6D-AAD6-F397-803E-77C48F04E189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Linear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CC5E414-F0D3-B931-D1AC-52C34A05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2EBAD6B8-0E52-7D9E-76FC-74551ED90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cs typeface="Arial" panose="020B0604020202020204" pitchFamily="34" charset="0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be an energy signal with frequency spectral density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  <m:groupChr>
                      <m:groupChrPr>
                        <m:chr m:val="⇔"/>
                        <m:vertJc m:val="bot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altLang="zh-CN" sz="2400">
                            <a:latin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T</m:t>
                        </m:r>
                      </m:e>
                    </m:groupChr>
                    <m:r>
                      <a:rPr lang="en-US" altLang="zh-CN" sz="2400" i="1">
                        <a:latin typeface="Cambria Math"/>
                      </a:rPr>
                      <m:t>𝑀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We have: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/>
                        </a:rPr>
                        <m:t>𝑚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func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/>
                            </a:rPr>
                            <m:t>FT</m:t>
                          </m:r>
                        </m:e>
                      </m:groupCh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𝑀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signal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:r>
                  <a:rPr lang="en-GB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cosinusoidal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wave, whose amplitude is proportional to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 the amplitude of the carrier waveform is modulated. </a:t>
                </a: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displacement result of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𝑀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2EBAD6B8-0E52-7D9E-76FC-74551ED90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A1549338-DCEC-13B8-AF4B-A84A1FE03AEB}"/>
              </a:ext>
            </a:extLst>
          </p:cNvPr>
          <p:cNvGrpSpPr/>
          <p:nvPr/>
        </p:nvGrpSpPr>
        <p:grpSpPr>
          <a:xfrm>
            <a:off x="1231900" y="5014619"/>
            <a:ext cx="7296151" cy="2040231"/>
            <a:chOff x="656406" y="4653136"/>
            <a:chExt cx="7296151" cy="2040231"/>
          </a:xfrm>
        </p:grpSpPr>
        <p:pic>
          <p:nvPicPr>
            <p:cNvPr id="4" name="Picture 101" descr="SSB频谱产生">
              <a:extLst>
                <a:ext uri="{FF2B5EF4-FFF2-40B4-BE49-F238E27FC236}">
                  <a16:creationId xmlns:a16="http://schemas.microsoft.com/office/drawing/2014/main" id="{6382CC87-B7C5-9B37-6B1A-D17137A5D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6744" y="4991273"/>
              <a:ext cx="409575" cy="107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100" descr="SSB频谱产生">
              <a:extLst>
                <a:ext uri="{FF2B5EF4-FFF2-40B4-BE49-F238E27FC236}">
                  <a16:creationId xmlns:a16="http://schemas.microsoft.com/office/drawing/2014/main" id="{C2E06B54-08BA-77C3-0AAD-AD3B58486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0156" y="4991273"/>
              <a:ext cx="411163" cy="1071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126">
              <a:extLst>
                <a:ext uri="{FF2B5EF4-FFF2-40B4-BE49-F238E27FC236}">
                  <a16:creationId xmlns:a16="http://schemas.microsoft.com/office/drawing/2014/main" id="{1885EB30-B728-FB03-4A0B-BBFB85E0F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06" y="6217117"/>
              <a:ext cx="2790826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lvl="1"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hlink"/>
                  </a:solidFill>
                  <a:latin typeface="Times New Roman" pitchFamily="18" charset="0"/>
                </a:rPr>
                <a:t>(a) Frequency spectral density of input signal</a:t>
              </a:r>
              <a:endParaRPr lang="en-US" altLang="zh-CN" sz="2800" dirty="0">
                <a:solidFill>
                  <a:schemeClr val="hlink"/>
                </a:solidFill>
              </a:endParaRPr>
            </a:p>
          </p:txBody>
        </p:sp>
        <p:sp>
          <p:nvSpPr>
            <p:cNvPr id="13" name="Line 118">
              <a:extLst>
                <a:ext uri="{FF2B5EF4-FFF2-40B4-BE49-F238E27FC236}">
                  <a16:creationId xmlns:a16="http://schemas.microsoft.com/office/drawing/2014/main" id="{B3FEA642-353E-590F-A83D-4CE149DD1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3219" y="4727748"/>
              <a:ext cx="0" cy="124301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119">
              <a:extLst>
                <a:ext uri="{FF2B5EF4-FFF2-40B4-BE49-F238E27FC236}">
                  <a16:creationId xmlns:a16="http://schemas.microsoft.com/office/drawing/2014/main" id="{EF3B328D-2C45-28B3-70A8-FB22BFC7D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8769" y="5824711"/>
              <a:ext cx="0" cy="13335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120">
              <a:extLst>
                <a:ext uri="{FF2B5EF4-FFF2-40B4-BE49-F238E27FC236}">
                  <a16:creationId xmlns:a16="http://schemas.microsoft.com/office/drawing/2014/main" id="{1013E0D1-C076-11E9-EB05-DE3150ED5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7669" y="5862811"/>
              <a:ext cx="0" cy="9366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Box 121">
              <a:extLst>
                <a:ext uri="{FF2B5EF4-FFF2-40B4-BE49-F238E27FC236}">
                  <a16:creationId xmlns:a16="http://schemas.microsoft.com/office/drawing/2014/main" id="{66B0A546-5BAE-8F41-3D8B-28E1C68F7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9407" y="4653136"/>
              <a:ext cx="631825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400" i="1">
                  <a:solidFill>
                    <a:schemeClr val="hlink"/>
                  </a:solidFill>
                  <a:latin typeface="Times New Roman" pitchFamily="18" charset="0"/>
                </a:rPr>
                <a:t>S </a:t>
              </a:r>
              <a:r>
                <a:rPr lang="en-US" altLang="zh-CN" sz="1400">
                  <a:solidFill>
                    <a:schemeClr val="hlink"/>
                  </a:solidFill>
                  <a:latin typeface="Times New Roman" pitchFamily="18" charset="0"/>
                  <a:sym typeface="Symbol" pitchFamily="18" charset="2"/>
                </a:rPr>
                <a:t></a:t>
              </a:r>
              <a:r>
                <a:rPr lang="en-US" altLang="zh-CN" sz="1400">
                  <a:solidFill>
                    <a:schemeClr val="hlink"/>
                  </a:solidFill>
                  <a:latin typeface="Times New Roman" pitchFamily="18" charset="0"/>
                </a:rPr>
                <a:t>(</a:t>
              </a:r>
              <a:r>
                <a:rPr lang="en-US" altLang="zh-CN" sz="1400" i="1">
                  <a:solidFill>
                    <a:schemeClr val="hlink"/>
                  </a:solidFill>
                  <a:latin typeface="Times New Roman" pitchFamily="18" charset="0"/>
                </a:rPr>
                <a:t>f</a:t>
              </a:r>
              <a:r>
                <a:rPr lang="en-US" altLang="zh-CN" sz="1400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  <a:endParaRPr lang="en-US" altLang="zh-CN" sz="2400">
                <a:solidFill>
                  <a:schemeClr val="hlink"/>
                </a:solidFill>
              </a:endParaRPr>
            </a:p>
          </p:txBody>
        </p:sp>
        <p:sp>
          <p:nvSpPr>
            <p:cNvPr id="17" name="Text Box 122">
              <a:extLst>
                <a:ext uri="{FF2B5EF4-FFF2-40B4-BE49-F238E27FC236}">
                  <a16:creationId xmlns:a16="http://schemas.microsoft.com/office/drawing/2014/main" id="{84B581FF-7B39-7BE1-1160-1522D8B7C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9869" y="5896148"/>
              <a:ext cx="468313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600" i="1">
                  <a:solidFill>
                    <a:schemeClr val="hlink"/>
                  </a:solidFill>
                  <a:latin typeface="Times New Roman" pitchFamily="18" charset="0"/>
                </a:rPr>
                <a:t>f</a:t>
              </a:r>
              <a:r>
                <a:rPr lang="en-US" altLang="zh-CN" sz="1600" baseline="-25000">
                  <a:solidFill>
                    <a:schemeClr val="hlink"/>
                  </a:solidFill>
                  <a:latin typeface="Times New Roman" pitchFamily="18" charset="0"/>
                </a:rPr>
                <a:t>0</a:t>
              </a:r>
              <a:endParaRPr lang="en-US" altLang="zh-CN" sz="2800">
                <a:solidFill>
                  <a:schemeClr val="hlink"/>
                </a:solidFill>
              </a:endParaRPr>
            </a:p>
          </p:txBody>
        </p:sp>
        <p:sp>
          <p:nvSpPr>
            <p:cNvPr id="18" name="Text Box 123">
              <a:extLst>
                <a:ext uri="{FF2B5EF4-FFF2-40B4-BE49-F238E27FC236}">
                  <a16:creationId xmlns:a16="http://schemas.microsoft.com/office/drawing/2014/main" id="{AE939EC0-E4CE-9082-7595-DFBA1A62F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6157" y="5823123"/>
              <a:ext cx="406400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600" i="1">
                  <a:solidFill>
                    <a:schemeClr val="hlink"/>
                  </a:solidFill>
                  <a:latin typeface="Times New Roman" pitchFamily="18" charset="0"/>
                </a:rPr>
                <a:t>f</a:t>
              </a:r>
              <a:endParaRPr lang="en-US" altLang="zh-CN" sz="2800">
                <a:solidFill>
                  <a:schemeClr val="hlink"/>
                </a:solidFill>
              </a:endParaRPr>
            </a:p>
          </p:txBody>
        </p:sp>
        <p:sp>
          <p:nvSpPr>
            <p:cNvPr id="19" name="Text Box 124">
              <a:extLst>
                <a:ext uri="{FF2B5EF4-FFF2-40B4-BE49-F238E27FC236}">
                  <a16:creationId xmlns:a16="http://schemas.microsoft.com/office/drawing/2014/main" id="{BF9C7644-305A-9CCB-71FD-AF6ED2735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2232" y="5896148"/>
              <a:ext cx="550863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600">
                  <a:solidFill>
                    <a:schemeClr val="hlink"/>
                  </a:solidFill>
                  <a:latin typeface="Times New Roman" pitchFamily="18" charset="0"/>
                </a:rPr>
                <a:t>-</a:t>
              </a:r>
              <a:r>
                <a:rPr lang="en-US" altLang="zh-CN" sz="1600" i="1">
                  <a:solidFill>
                    <a:schemeClr val="hlink"/>
                  </a:solidFill>
                  <a:latin typeface="Times New Roman" pitchFamily="18" charset="0"/>
                </a:rPr>
                <a:t>f</a:t>
              </a:r>
              <a:r>
                <a:rPr lang="en-US" altLang="zh-CN" sz="1600" baseline="-25000">
                  <a:solidFill>
                    <a:schemeClr val="hlink"/>
                  </a:solidFill>
                  <a:latin typeface="Times New Roman" pitchFamily="18" charset="0"/>
                </a:rPr>
                <a:t>0</a:t>
              </a:r>
              <a:endParaRPr lang="en-US" altLang="zh-CN" sz="2800">
                <a:solidFill>
                  <a:schemeClr val="hlink"/>
                </a:solidFill>
              </a:endParaRPr>
            </a:p>
          </p:txBody>
        </p:sp>
        <p:sp>
          <p:nvSpPr>
            <p:cNvPr id="20" name="Text Box 125">
              <a:extLst>
                <a:ext uri="{FF2B5EF4-FFF2-40B4-BE49-F238E27FC236}">
                  <a16:creationId xmlns:a16="http://schemas.microsoft.com/office/drawing/2014/main" id="{A77622F8-0D3E-8231-1C1E-A6F6BD680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5419" y="5896148"/>
              <a:ext cx="4064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600">
                  <a:solidFill>
                    <a:schemeClr val="hlink"/>
                  </a:solidFill>
                  <a:latin typeface="Times New Roman" pitchFamily="18" charset="0"/>
                </a:rPr>
                <a:t>0</a:t>
              </a:r>
              <a:endParaRPr lang="en-US" altLang="zh-CN" sz="2800">
                <a:solidFill>
                  <a:schemeClr val="hlink"/>
                </a:solidFill>
              </a:endParaRPr>
            </a:p>
          </p:txBody>
        </p:sp>
        <p:grpSp>
          <p:nvGrpSpPr>
            <p:cNvPr id="21" name="Group 132">
              <a:extLst>
                <a:ext uri="{FF2B5EF4-FFF2-40B4-BE49-F238E27FC236}">
                  <a16:creationId xmlns:a16="http://schemas.microsoft.com/office/drawing/2014/main" id="{5AF64BA0-8A65-F326-F381-BEE8380F89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5819" y="4708698"/>
              <a:ext cx="6405563" cy="1514475"/>
              <a:chOff x="650" y="3102"/>
              <a:chExt cx="4035" cy="954"/>
            </a:xfrm>
          </p:grpSpPr>
          <p:grpSp>
            <p:nvGrpSpPr>
              <p:cNvPr id="24" name="Group 104">
                <a:extLst>
                  <a:ext uri="{FF2B5EF4-FFF2-40B4-BE49-F238E27FC236}">
                    <a16:creationId xmlns:a16="http://schemas.microsoft.com/office/drawing/2014/main" id="{8BE21DBF-F134-F700-0CFF-504F7A013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4" y="3458"/>
                <a:ext cx="651" cy="480"/>
                <a:chOff x="2610" y="8187"/>
                <a:chExt cx="1296" cy="1202"/>
              </a:xfrm>
            </p:grpSpPr>
            <p:pic>
              <p:nvPicPr>
                <p:cNvPr id="34" name="Picture 105" descr="SSB频谱产生">
                  <a:extLst>
                    <a:ext uri="{FF2B5EF4-FFF2-40B4-BE49-F238E27FC236}">
                      <a16:creationId xmlns:a16="http://schemas.microsoft.com/office/drawing/2014/main" id="{41B49D40-842F-2C61-949D-A9F1F7D4DA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2610" y="8187"/>
                  <a:ext cx="516" cy="1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5" name="Picture 106" descr="SSB频谱产生">
                  <a:extLst>
                    <a:ext uri="{FF2B5EF4-FFF2-40B4-BE49-F238E27FC236}">
                      <a16:creationId xmlns:a16="http://schemas.microsoft.com/office/drawing/2014/main" id="{22B8C668-F21E-8CC7-120A-DB224A0CEEA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90" y="8187"/>
                  <a:ext cx="516" cy="1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" name="Group 107">
                <a:extLst>
                  <a:ext uri="{FF2B5EF4-FFF2-40B4-BE49-F238E27FC236}">
                    <a16:creationId xmlns:a16="http://schemas.microsoft.com/office/drawing/2014/main" id="{429DC9B9-B0AF-D9BF-BB93-B8A4BFC058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0" y="3272"/>
                <a:ext cx="1188" cy="625"/>
                <a:chOff x="2072" y="8172"/>
                <a:chExt cx="2368" cy="1113"/>
              </a:xfrm>
            </p:grpSpPr>
            <p:sp>
              <p:nvSpPr>
                <p:cNvPr id="32" name="Line 108">
                  <a:extLst>
                    <a:ext uri="{FF2B5EF4-FFF2-40B4-BE49-F238E27FC236}">
                      <a16:creationId xmlns:a16="http://schemas.microsoft.com/office/drawing/2014/main" id="{56BD23C0-86E9-438E-7326-842E85BCF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2" y="9285"/>
                  <a:ext cx="2368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" name="Line 109">
                  <a:extLst>
                    <a:ext uri="{FF2B5EF4-FFF2-40B4-BE49-F238E27FC236}">
                      <a16:creationId xmlns:a16="http://schemas.microsoft.com/office/drawing/2014/main" id="{44A7F1A5-5E9B-A59A-439C-914C5F490E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62" y="8172"/>
                  <a:ext cx="12" cy="1101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6" name="Text Box 110">
                <a:extLst>
                  <a:ext uri="{FF2B5EF4-FFF2-40B4-BE49-F238E27FC236}">
                    <a16:creationId xmlns:a16="http://schemas.microsoft.com/office/drawing/2014/main" id="{6B53BEF5-9C8E-A8CB-4946-DB0BF20441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8" y="3102"/>
                <a:ext cx="45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400" i="1">
                    <a:solidFill>
                      <a:schemeClr val="hlink"/>
                    </a:solidFill>
                    <a:latin typeface="Times New Roman" pitchFamily="18" charset="0"/>
                  </a:rPr>
                  <a:t>M</a:t>
                </a:r>
                <a:r>
                  <a:rPr lang="en-US" altLang="zh-CN" sz="1400">
                    <a:solidFill>
                      <a:schemeClr val="hlink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sz="1400" i="1">
                    <a:solidFill>
                      <a:schemeClr val="hlink"/>
                    </a:solidFill>
                    <a:latin typeface="Times New Roman" pitchFamily="18" charset="0"/>
                  </a:rPr>
                  <a:t>f</a:t>
                </a:r>
                <a:r>
                  <a:rPr lang="en-US" altLang="zh-CN" sz="1400">
                    <a:solidFill>
                      <a:schemeClr val="hlink"/>
                    </a:solidFill>
                    <a:latin typeface="Times New Roman" pitchFamily="18" charset="0"/>
                  </a:rPr>
                  <a:t>)</a:t>
                </a:r>
                <a:endParaRPr lang="en-US" altLang="zh-CN" sz="2400">
                  <a:solidFill>
                    <a:schemeClr val="hlink"/>
                  </a:solidFill>
                </a:endParaRPr>
              </a:p>
            </p:txBody>
          </p:sp>
          <p:sp>
            <p:nvSpPr>
              <p:cNvPr id="27" name="Text Box 111">
                <a:extLst>
                  <a:ext uri="{FF2B5EF4-FFF2-40B4-BE49-F238E27FC236}">
                    <a16:creationId xmlns:a16="http://schemas.microsoft.com/office/drawing/2014/main" id="{B62CDEF3-6205-9F91-E70F-2106B7EE26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3751"/>
                <a:ext cx="25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600" i="1">
                    <a:solidFill>
                      <a:schemeClr val="hlink"/>
                    </a:solidFill>
                    <a:latin typeface="Times New Roman" pitchFamily="18" charset="0"/>
                  </a:rPr>
                  <a:t>f</a:t>
                </a:r>
                <a:endParaRPr lang="en-US" altLang="zh-CN" sz="2800">
                  <a:solidFill>
                    <a:schemeClr val="hlink"/>
                  </a:solidFill>
                </a:endParaRPr>
              </a:p>
            </p:txBody>
          </p:sp>
          <p:sp>
            <p:nvSpPr>
              <p:cNvPr id="28" name="Text Box 112">
                <a:extLst>
                  <a:ext uri="{FF2B5EF4-FFF2-40B4-BE49-F238E27FC236}">
                    <a16:creationId xmlns:a16="http://schemas.microsoft.com/office/drawing/2014/main" id="{3A3917C0-815E-42E9-2A24-6D116595EE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5" y="3829"/>
                <a:ext cx="25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600">
                    <a:solidFill>
                      <a:schemeClr val="hlink"/>
                    </a:solidFill>
                    <a:latin typeface="Times New Roman" pitchFamily="18" charset="0"/>
                  </a:rPr>
                  <a:t>0</a:t>
                </a:r>
                <a:endParaRPr lang="en-US" altLang="zh-CN" sz="2800">
                  <a:solidFill>
                    <a:schemeClr val="hlink"/>
                  </a:solidFill>
                </a:endParaRPr>
              </a:p>
            </p:txBody>
          </p:sp>
          <p:grpSp>
            <p:nvGrpSpPr>
              <p:cNvPr id="29" name="Group 113">
                <a:extLst>
                  <a:ext uri="{FF2B5EF4-FFF2-40B4-BE49-F238E27FC236}">
                    <a16:creationId xmlns:a16="http://schemas.microsoft.com/office/drawing/2014/main" id="{0BD7EB82-A3A5-9AAC-ACA7-66AF5D5BA4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6" y="3475"/>
                <a:ext cx="650" cy="463"/>
                <a:chOff x="2610" y="8187"/>
                <a:chExt cx="1296" cy="1202"/>
              </a:xfrm>
            </p:grpSpPr>
            <p:pic>
              <p:nvPicPr>
                <p:cNvPr id="30" name="Picture 114" descr="SSB频谱产生">
                  <a:extLst>
                    <a:ext uri="{FF2B5EF4-FFF2-40B4-BE49-F238E27FC236}">
                      <a16:creationId xmlns:a16="http://schemas.microsoft.com/office/drawing/2014/main" id="{19A8EC80-5E14-A922-748A-ADE7829C3A5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2610" y="8187"/>
                  <a:ext cx="516" cy="1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" name="Picture 115" descr="SSB频谱产生">
                  <a:extLst>
                    <a:ext uri="{FF2B5EF4-FFF2-40B4-BE49-F238E27FC236}">
                      <a16:creationId xmlns:a16="http://schemas.microsoft.com/office/drawing/2014/main" id="{97A02306-69D2-92F1-4EBF-22254A678F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90" y="8187"/>
                  <a:ext cx="516" cy="1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2" name="Text Box 128">
              <a:extLst>
                <a:ext uri="{FF2B5EF4-FFF2-40B4-BE49-F238E27FC236}">
                  <a16:creationId xmlns:a16="http://schemas.microsoft.com/office/drawing/2014/main" id="{43C6419E-7221-62FC-7EAF-C6DC0F8FD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0432" y="6261273"/>
              <a:ext cx="3976688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lvl="1"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hlink"/>
                  </a:solidFill>
                  <a:latin typeface="Times New Roman" pitchFamily="18" charset="0"/>
                </a:rPr>
                <a:t>(b) Frequency spectral density </a:t>
              </a:r>
            </a:p>
            <a:p>
              <a:pPr lvl="1"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hlink"/>
                  </a:solidFill>
                  <a:latin typeface="Times New Roman" pitchFamily="18" charset="0"/>
                </a:rPr>
                <a:t>of output signal</a:t>
              </a:r>
              <a:endParaRPr lang="en-US" altLang="zh-CN" sz="2800" dirty="0">
                <a:solidFill>
                  <a:schemeClr val="hlink"/>
                </a:solidFill>
              </a:endParaRPr>
            </a:p>
          </p:txBody>
        </p:sp>
        <p:sp>
          <p:nvSpPr>
            <p:cNvPr id="23" name="Line 117">
              <a:extLst>
                <a:ext uri="{FF2B5EF4-FFF2-40B4-BE49-F238E27FC236}">
                  <a16:creationId xmlns:a16="http://schemas.microsoft.com/office/drawing/2014/main" id="{A6DE1998-5061-D221-7686-662CF968E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282" y="5970761"/>
              <a:ext cx="39878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8336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985A-FE83-A83E-2843-C97AD30D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771A037B-AB27-6797-F1C9-14BB7EFCF6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CE02C3E-28BF-DB2B-9A88-22605F8E94F3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8387E1-BAD6-7958-D5DE-85C0BBA3ED0B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23068C-4AFB-D14D-900C-2B79C83E7249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6703993-D22F-8DAF-9DAE-03FB518406C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8DDD4CF-A7EA-5F87-DA80-79E7861E79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FB08AA61-686C-6BE4-DD80-C6F89ABF59CD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1DCDCA5-82ED-E3F2-E459-B060150ABEC0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F0F2C4-C218-A879-053C-FE6D61BD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410E38-1D60-59FC-0482-F3D53C84C4D2}"/>
              </a:ext>
            </a:extLst>
          </p:cNvPr>
          <p:cNvSpPr txBox="1"/>
          <p:nvPr/>
        </p:nvSpPr>
        <p:spPr>
          <a:xfrm>
            <a:off x="5270500" y="1720850"/>
            <a:ext cx="53340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(AM)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Double-sideband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(DSB)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(SSB)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(VSB)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Angle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</p:txBody>
      </p:sp>
    </p:spTree>
    <p:extLst>
      <p:ext uri="{BB962C8B-B14F-4D97-AF65-F5344CB8AC3E}">
        <p14:creationId xmlns:p14="http://schemas.microsoft.com/office/powerpoint/2010/main" val="421746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B62C-0648-0F27-F890-DC6605AC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76FC947-1EDD-7123-683D-0412E6B9709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6D5FF5C1-771F-0540-0DB5-D4F72F8325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97A3DA-AA8D-94CE-51F4-22A99C2FA7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076BB6-027D-4619-4041-151A1190F13F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(AM)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3A5BB0-7860-D42C-A5C2-7FB035A2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FEC7465-0DA4-51BF-8D7A-E10ED5414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=1+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400" i="1">
                        <a:latin typeface="Cambria Math"/>
                      </a:rPr>
                      <m:t>1</m:t>
                    </m:r>
                  </m:oMath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 can be seen as the DC component,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AC component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maximum of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|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)|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</a:t>
                </a:r>
                <a:r>
                  <a:rPr lang="en-GB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modulation index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≤1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output of the multiplier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FEC7465-0DA4-51BF-8D7A-E10ED5414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3">
            <a:extLst>
              <a:ext uri="{FF2B5EF4-FFF2-40B4-BE49-F238E27FC236}">
                <a16:creationId xmlns:a16="http://schemas.microsoft.com/office/drawing/2014/main" id="{32E159DB-C479-300C-E29D-995EAA6C739A}"/>
              </a:ext>
            </a:extLst>
          </p:cNvPr>
          <p:cNvGrpSpPr>
            <a:grpSpLocks/>
          </p:cNvGrpSpPr>
          <p:nvPr/>
        </p:nvGrpSpPr>
        <p:grpSpPr bwMode="auto">
          <a:xfrm>
            <a:off x="2853498" y="4143510"/>
            <a:ext cx="1935162" cy="1171575"/>
            <a:chOff x="1633" y="1621"/>
            <a:chExt cx="1219" cy="738"/>
          </a:xfrm>
        </p:grpSpPr>
        <p:pic>
          <p:nvPicPr>
            <p:cNvPr id="4" name="Picture 4" descr="m(t)波形">
              <a:extLst>
                <a:ext uri="{FF2B5EF4-FFF2-40B4-BE49-F238E27FC236}">
                  <a16:creationId xmlns:a16="http://schemas.microsoft.com/office/drawing/2014/main" id="{850176AC-52BA-CB32-61D7-7959D272DC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3" y="1663"/>
              <a:ext cx="1219" cy="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id="{73BB2170-01D1-55FD-8B77-77C901409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" y="1621"/>
              <a:ext cx="5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m</a:t>
              </a:r>
              <a:r>
                <a:rPr lang="en-US" altLang="zh-CN" b="1">
                  <a:latin typeface="Times New Roman" pitchFamily="18" charset="0"/>
                  <a:sym typeface="Symbol" pitchFamily="18" charset="2"/>
                </a:rPr>
                <a:t>(t)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32">
                <a:extLst>
                  <a:ext uri="{FF2B5EF4-FFF2-40B4-BE49-F238E27FC236}">
                    <a16:creationId xmlns:a16="http://schemas.microsoft.com/office/drawing/2014/main" id="{993975E3-3CEC-EC9B-E147-CD214E650935}"/>
                  </a:ext>
                </a:extLst>
              </p:cNvPr>
              <p:cNvSpPr txBox="1"/>
              <p:nvPr/>
            </p:nvSpPr>
            <p:spPr>
              <a:xfrm>
                <a:off x="4978864" y="4719574"/>
                <a:ext cx="930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+  1 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32">
                <a:extLst>
                  <a:ext uri="{FF2B5EF4-FFF2-40B4-BE49-F238E27FC236}">
                    <a16:creationId xmlns:a16="http://schemas.microsoft.com/office/drawing/2014/main" id="{993975E3-3CEC-EC9B-E147-CD214E650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864" y="4719574"/>
                <a:ext cx="930062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32">
            <a:extLst>
              <a:ext uri="{FF2B5EF4-FFF2-40B4-BE49-F238E27FC236}">
                <a16:creationId xmlns:a16="http://schemas.microsoft.com/office/drawing/2014/main" id="{CF29EB3F-8B0F-5BB7-0119-56FEAC941D59}"/>
              </a:ext>
            </a:extLst>
          </p:cNvPr>
          <p:cNvGrpSpPr>
            <a:grpSpLocks/>
          </p:cNvGrpSpPr>
          <p:nvPr/>
        </p:nvGrpSpPr>
        <p:grpSpPr bwMode="auto">
          <a:xfrm>
            <a:off x="5931337" y="3854450"/>
            <a:ext cx="1890713" cy="1485900"/>
            <a:chOff x="3419" y="1536"/>
            <a:chExt cx="1191" cy="936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AE0779D-CC8C-1C3A-8F6B-090390D7D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" y="1577"/>
              <a:ext cx="1191" cy="895"/>
              <a:chOff x="2852" y="2302"/>
              <a:chExt cx="964" cy="737"/>
            </a:xfrm>
          </p:grpSpPr>
          <p:grpSp>
            <p:nvGrpSpPr>
              <p:cNvPr id="15" name="Group 12">
                <a:extLst>
                  <a:ext uri="{FF2B5EF4-FFF2-40B4-BE49-F238E27FC236}">
                    <a16:creationId xmlns:a16="http://schemas.microsoft.com/office/drawing/2014/main" id="{CEB59A9B-4F6A-ACDB-B824-FDC3BB0BAE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52" y="2302"/>
                <a:ext cx="964" cy="737"/>
                <a:chOff x="2852" y="2302"/>
                <a:chExt cx="964" cy="737"/>
              </a:xfrm>
            </p:grpSpPr>
            <p:grpSp>
              <p:nvGrpSpPr>
                <p:cNvPr id="17" name="Group 11">
                  <a:extLst>
                    <a:ext uri="{FF2B5EF4-FFF2-40B4-BE49-F238E27FC236}">
                      <a16:creationId xmlns:a16="http://schemas.microsoft.com/office/drawing/2014/main" id="{B23757DC-AEEF-FCAF-65F1-DE82F6D83D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52" y="2302"/>
                  <a:ext cx="964" cy="737"/>
                  <a:chOff x="2852" y="2302"/>
                  <a:chExt cx="964" cy="737"/>
                </a:xfrm>
              </p:grpSpPr>
              <p:pic>
                <p:nvPicPr>
                  <p:cNvPr id="19" name="Picture 5" descr="[1+m'(t)]波形">
                    <a:extLst>
                      <a:ext uri="{FF2B5EF4-FFF2-40B4-BE49-F238E27FC236}">
                        <a16:creationId xmlns:a16="http://schemas.microsoft.com/office/drawing/2014/main" id="{2BFAFE78-7757-7D6C-0285-97089637988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1886" t="31227" r="24973" b="14621"/>
                  <a:stretch>
                    <a:fillRect/>
                  </a:stretch>
                </p:blipFill>
                <p:spPr bwMode="auto">
                  <a:xfrm>
                    <a:off x="2852" y="2302"/>
                    <a:ext cx="964" cy="73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0" name="Line 6">
                    <a:extLst>
                      <a:ext uri="{FF2B5EF4-FFF2-40B4-BE49-F238E27FC236}">
                        <a16:creationId xmlns:a16="http://schemas.microsoft.com/office/drawing/2014/main" id="{C8C170BC-2238-A7BA-9958-D282684362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50" y="2387"/>
                    <a:ext cx="0" cy="56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1" name="Line 7">
                    <a:extLst>
                      <a:ext uri="{FF2B5EF4-FFF2-40B4-BE49-F238E27FC236}">
                        <a16:creationId xmlns:a16="http://schemas.microsoft.com/office/drawing/2014/main" id="{2A6AC4C3-B7D6-0C51-201D-5175029596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65" y="2812"/>
                    <a:ext cx="73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2" name="Line 8">
                    <a:extLst>
                      <a:ext uri="{FF2B5EF4-FFF2-40B4-BE49-F238E27FC236}">
                        <a16:creationId xmlns:a16="http://schemas.microsoft.com/office/drawing/2014/main" id="{474F1DA1-4154-0339-E2D7-F12EC6A2D3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2" y="2642"/>
                    <a:ext cx="6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8" name="Text Box 9">
                  <a:extLst>
                    <a:ext uri="{FF2B5EF4-FFF2-40B4-BE49-F238E27FC236}">
                      <a16:creationId xmlns:a16="http://schemas.microsoft.com/office/drawing/2014/main" id="{42571842-726A-28B5-BB25-A0D844BE97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2" y="2529"/>
                  <a:ext cx="142" cy="1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600"/>
                    <a:t>1</a:t>
                  </a:r>
                </a:p>
              </p:txBody>
            </p:sp>
          </p:grp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9089495A-96F7-E65D-CB1A-482D6D3DA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8" y="2784"/>
                <a:ext cx="142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/>
                  <a:t>0</a:t>
                </a:r>
              </a:p>
            </p:txBody>
          </p:sp>
        </p:grp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15047A38-FADB-61E9-FBE2-DE4624B30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1536"/>
              <a:ext cx="77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1+m</a:t>
              </a:r>
              <a:r>
                <a:rPr lang="en-US" altLang="zh-CN" b="1">
                  <a:latin typeface="Times New Roman" pitchFamily="18" charset="0"/>
                  <a:sym typeface="Symbol" pitchFamily="18" charset="2"/>
                </a:rPr>
                <a:t>(t)</a:t>
              </a:r>
            </a:p>
          </p:txBody>
        </p:sp>
      </p:grpSp>
      <p:grpSp>
        <p:nvGrpSpPr>
          <p:cNvPr id="23" name="Group 35">
            <a:extLst>
              <a:ext uri="{FF2B5EF4-FFF2-40B4-BE49-F238E27FC236}">
                <a16:creationId xmlns:a16="http://schemas.microsoft.com/office/drawing/2014/main" id="{25FCF484-963B-F2BC-95CF-3FD2F08D5CF7}"/>
              </a:ext>
            </a:extLst>
          </p:cNvPr>
          <p:cNvGrpSpPr>
            <a:grpSpLocks/>
          </p:cNvGrpSpPr>
          <p:nvPr/>
        </p:nvGrpSpPr>
        <p:grpSpPr bwMode="auto">
          <a:xfrm>
            <a:off x="1676252" y="5091776"/>
            <a:ext cx="2114550" cy="1631950"/>
            <a:chOff x="782" y="2784"/>
            <a:chExt cx="1332" cy="1028"/>
          </a:xfrm>
        </p:grpSpPr>
        <p:grpSp>
          <p:nvGrpSpPr>
            <p:cNvPr id="24" name="Group 34">
              <a:extLst>
                <a:ext uri="{FF2B5EF4-FFF2-40B4-BE49-F238E27FC236}">
                  <a16:creationId xmlns:a16="http://schemas.microsoft.com/office/drawing/2014/main" id="{4910A40F-4299-C301-7DA8-DAA2CC31F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2" y="2812"/>
              <a:ext cx="1332" cy="1000"/>
              <a:chOff x="782" y="2812"/>
              <a:chExt cx="1332" cy="1000"/>
            </a:xfrm>
          </p:grpSpPr>
          <p:pic>
            <p:nvPicPr>
              <p:cNvPr id="29" name="Picture 24" descr="[1+m'(t)]波形">
                <a:extLst>
                  <a:ext uri="{FF2B5EF4-FFF2-40B4-BE49-F238E27FC236}">
                    <a16:creationId xmlns:a16="http://schemas.microsoft.com/office/drawing/2014/main" id="{8CD5EE05-1EFD-AAA5-93F6-E2BE3C1780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86" t="31227" r="24973" b="14621"/>
              <a:stretch>
                <a:fillRect/>
              </a:stretch>
            </p:blipFill>
            <p:spPr bwMode="auto">
              <a:xfrm>
                <a:off x="782" y="2812"/>
                <a:ext cx="1332" cy="1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Line 25">
                <a:extLst>
                  <a:ext uri="{FF2B5EF4-FFF2-40B4-BE49-F238E27FC236}">
                    <a16:creationId xmlns:a16="http://schemas.microsoft.com/office/drawing/2014/main" id="{E9406C07-D544-E4A9-8094-1F93D35EC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927"/>
                <a:ext cx="0" cy="7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Line 26">
                <a:extLst>
                  <a:ext uri="{FF2B5EF4-FFF2-40B4-BE49-F238E27FC236}">
                    <a16:creationId xmlns:a16="http://schemas.microsoft.com/office/drawing/2014/main" id="{6F5117A1-6C51-C2F7-FF9D-F0F2CD513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8" y="3504"/>
                <a:ext cx="10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5013EEBA-15FB-B869-37EC-79881BE4B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7" y="3237"/>
              <a:ext cx="90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C866AB87-8EC2-7F4B-DB47-A44579B07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" y="3124"/>
              <a:ext cx="1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1</a:t>
              </a:r>
            </a:p>
          </p:txBody>
        </p:sp>
        <p:sp>
          <p:nvSpPr>
            <p:cNvPr id="27" name="Text Box 29">
              <a:extLst>
                <a:ext uri="{FF2B5EF4-FFF2-40B4-BE49-F238E27FC236}">
                  <a16:creationId xmlns:a16="http://schemas.microsoft.com/office/drawing/2014/main" id="{02627F75-D9C6-145F-3C5B-978B0BD47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464"/>
              <a:ext cx="19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0</a:t>
              </a:r>
            </a:p>
          </p:txBody>
        </p:sp>
        <p:sp>
          <p:nvSpPr>
            <p:cNvPr id="28" name="Text Box 30">
              <a:extLst>
                <a:ext uri="{FF2B5EF4-FFF2-40B4-BE49-F238E27FC236}">
                  <a16:creationId xmlns:a16="http://schemas.microsoft.com/office/drawing/2014/main" id="{A6CA6745-DE8A-E34F-FFC7-421F9C76E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7" y="2784"/>
              <a:ext cx="8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itchFamily="18" charset="0"/>
                </a:rPr>
                <a:t>1+m</a:t>
              </a:r>
              <a:r>
                <a:rPr lang="en-US" altLang="zh-CN" b="1">
                  <a:latin typeface="Times New Roman" pitchFamily="18" charset="0"/>
                  <a:sym typeface="Symbol" pitchFamily="18" charset="2"/>
                </a:rPr>
                <a:t>(t)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53">
                <a:extLst>
                  <a:ext uri="{FF2B5EF4-FFF2-40B4-BE49-F238E27FC236}">
                    <a16:creationId xmlns:a16="http://schemas.microsoft.com/office/drawing/2014/main" id="{1CAAC168-1A30-A4C1-ECEC-6DCF588B1512}"/>
                  </a:ext>
                </a:extLst>
              </p:cNvPr>
              <p:cNvSpPr txBox="1"/>
              <p:nvPr/>
            </p:nvSpPr>
            <p:spPr>
              <a:xfrm>
                <a:off x="3636381" y="5778330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53">
                <a:extLst>
                  <a:ext uri="{FF2B5EF4-FFF2-40B4-BE49-F238E27FC236}">
                    <a16:creationId xmlns:a16="http://schemas.microsoft.com/office/drawing/2014/main" id="{1CAAC168-1A30-A4C1-ECEC-6DCF588B1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81" y="5778330"/>
                <a:ext cx="4026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16" descr="载波">
            <a:extLst>
              <a:ext uri="{FF2B5EF4-FFF2-40B4-BE49-F238E27FC236}">
                <a16:creationId xmlns:a16="http://schemas.microsoft.com/office/drawing/2014/main" id="{F5607B89-8B23-74FB-08CF-E73C079D2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057" y="5427582"/>
            <a:ext cx="1844675" cy="103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55">
                <a:extLst>
                  <a:ext uri="{FF2B5EF4-FFF2-40B4-BE49-F238E27FC236}">
                    <a16:creationId xmlns:a16="http://schemas.microsoft.com/office/drawing/2014/main" id="{A2BE9F9A-9107-9E98-5A95-0F7701BBB29E}"/>
                  </a:ext>
                </a:extLst>
              </p:cNvPr>
              <p:cNvSpPr txBox="1"/>
              <p:nvPr/>
            </p:nvSpPr>
            <p:spPr>
              <a:xfrm>
                <a:off x="6284764" y="5706856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55">
                <a:extLst>
                  <a:ext uri="{FF2B5EF4-FFF2-40B4-BE49-F238E27FC236}">
                    <a16:creationId xmlns:a16="http://schemas.microsoft.com/office/drawing/2014/main" id="{A2BE9F9A-9107-9E98-5A95-0F7701BBB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764" y="5706856"/>
                <a:ext cx="4106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17" descr="R(t)波形">
            <a:extLst>
              <a:ext uri="{FF2B5EF4-FFF2-40B4-BE49-F238E27FC236}">
                <a16:creationId xmlns:a16="http://schemas.microsoft.com/office/drawing/2014/main" id="{E5C41A3F-3109-397D-2A1A-458030B8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650" y="4936348"/>
            <a:ext cx="2457450" cy="193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14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7138-2C40-6600-B218-FE7A603E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2EE1936-2AF2-2550-A98A-17E36B95941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9CEF0E3-07BC-3D7A-6471-78D015386C9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DF8D3E-6D45-3705-DABE-A1B171B345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8B143E-490E-3018-5EB1-6F09A0F6A3DC}"/>
              </a:ext>
            </a:extLst>
          </p:cNvPr>
          <p:cNvSpPr txBox="1"/>
          <p:nvPr/>
        </p:nvSpPr>
        <p:spPr>
          <a:xfrm>
            <a:off x="241300" y="26860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Spectrum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AM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FB19EE4-B36B-BC73-3334-7459BF27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5809253-90FE-3F0D-7531-F956A17E0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4302760" cy="612110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The frequency spectral density contains discrete carrier components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The bandwidth is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highest frequency of the baseband signal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Spectral efficiency of AM is low 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Most part of the power is occupied by the carrier signal, which does not contain information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Power efficiency of AM is low. 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5809253-90FE-3F0D-7531-F956A17E0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4302760" cy="6121106"/>
              </a:xfrm>
              <a:blipFill>
                <a:blip r:embed="rId7"/>
                <a:stretch>
                  <a:fillRect l="-2065" r="-2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98" descr="R(t)波形">
            <a:extLst>
              <a:ext uri="{FF2B5EF4-FFF2-40B4-BE49-F238E27FC236}">
                <a16:creationId xmlns:a16="http://schemas.microsoft.com/office/drawing/2014/main" id="{B2706D85-EB28-E278-9060-BFD8DA296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131" y="4480226"/>
            <a:ext cx="1744152" cy="180199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01" descr="m(t)波形">
            <a:extLst>
              <a:ext uri="{FF2B5EF4-FFF2-40B4-BE49-F238E27FC236}">
                <a16:creationId xmlns:a16="http://schemas.microsoft.com/office/drawing/2014/main" id="{1CB60E61-5CDA-5BDA-E8AB-56E6AC0BB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398" y="1635564"/>
            <a:ext cx="1903469" cy="1125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02">
            <a:extLst>
              <a:ext uri="{FF2B5EF4-FFF2-40B4-BE49-F238E27FC236}">
                <a16:creationId xmlns:a16="http://schemas.microsoft.com/office/drawing/2014/main" id="{6850B40A-33F0-113E-8678-EB087F267550}"/>
              </a:ext>
            </a:extLst>
          </p:cNvPr>
          <p:cNvGrpSpPr>
            <a:grpSpLocks/>
          </p:cNvGrpSpPr>
          <p:nvPr/>
        </p:nvGrpSpPr>
        <p:grpSpPr bwMode="auto">
          <a:xfrm>
            <a:off x="5343435" y="3148643"/>
            <a:ext cx="2018325" cy="1059340"/>
            <a:chOff x="3408" y="2389"/>
            <a:chExt cx="1917" cy="1144"/>
          </a:xfrm>
          <a:solidFill>
            <a:schemeClr val="bg1"/>
          </a:solidFill>
        </p:grpSpPr>
        <p:pic>
          <p:nvPicPr>
            <p:cNvPr id="12" name="Picture 203" descr="载波">
              <a:extLst>
                <a:ext uri="{FF2B5EF4-FFF2-40B4-BE49-F238E27FC236}">
                  <a16:creationId xmlns:a16="http://schemas.microsoft.com/office/drawing/2014/main" id="{C1F0E70C-F5F9-64C0-3DA7-C36FC56577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2524"/>
              <a:ext cx="1917" cy="90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Line 204">
              <a:extLst>
                <a:ext uri="{FF2B5EF4-FFF2-40B4-BE49-F238E27FC236}">
                  <a16:creationId xmlns:a16="http://schemas.microsoft.com/office/drawing/2014/main" id="{834F4D5A-6632-ED99-CC47-EE3594A4BD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0" y="2389"/>
              <a:ext cx="12" cy="1144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" name="Text Box 205">
            <a:extLst>
              <a:ext uri="{FF2B5EF4-FFF2-40B4-BE49-F238E27FC236}">
                <a16:creationId xmlns:a16="http://schemas.microsoft.com/office/drawing/2014/main" id="{7D6B7323-A86F-A987-3B98-E04FEC90F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162" y="1570744"/>
            <a:ext cx="528896" cy="349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 dirty="0">
                <a:latin typeface="Times New Roman" pitchFamily="18" charset="0"/>
              </a:rPr>
              <a:t>m'</a:t>
            </a:r>
            <a:r>
              <a:rPr lang="en-US" altLang="zh-CN" sz="1400" dirty="0">
                <a:latin typeface="Times New Roman" pitchFamily="18" charset="0"/>
              </a:rPr>
              <a:t>(</a:t>
            </a:r>
            <a:r>
              <a:rPr lang="en-US" altLang="zh-CN" sz="1400" i="1" dirty="0">
                <a:latin typeface="Times New Roman" pitchFamily="18" charset="0"/>
              </a:rPr>
              <a:t>t</a:t>
            </a:r>
            <a:r>
              <a:rPr lang="en-US" altLang="zh-CN" sz="1400" dirty="0">
                <a:latin typeface="Times New Roman" pitchFamily="18" charset="0"/>
              </a:rPr>
              <a:t>)</a:t>
            </a:r>
            <a:endParaRPr lang="en-US" altLang="zh-CN" sz="2800" dirty="0"/>
          </a:p>
        </p:txBody>
      </p:sp>
      <p:sp>
        <p:nvSpPr>
          <p:cNvPr id="15" name="Text Box 206">
            <a:extLst>
              <a:ext uri="{FF2B5EF4-FFF2-40B4-BE49-F238E27FC236}">
                <a16:creationId xmlns:a16="http://schemas.microsoft.com/office/drawing/2014/main" id="{C37B83A4-A7ED-5E2F-3332-91AE5D071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9443" y="4304287"/>
            <a:ext cx="529822" cy="349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s</a:t>
            </a:r>
            <a:r>
              <a:rPr lang="en-US" altLang="zh-CN" sz="1400">
                <a:latin typeface="Times New Roman" pitchFamily="18" charset="0"/>
              </a:rPr>
              <a:t>(</a:t>
            </a:r>
            <a:r>
              <a:rPr lang="en-US" altLang="zh-CN" sz="1400" i="1">
                <a:latin typeface="Times New Roman" pitchFamily="18" charset="0"/>
              </a:rPr>
              <a:t>t</a:t>
            </a:r>
            <a:r>
              <a:rPr lang="en-US" altLang="zh-CN" sz="1400">
                <a:latin typeface="Times New Roman" pitchFamily="18" charset="0"/>
              </a:rPr>
              <a:t>)</a:t>
            </a:r>
            <a:endParaRPr lang="en-US" altLang="zh-CN" sz="2800"/>
          </a:p>
        </p:txBody>
      </p:sp>
      <p:sp>
        <p:nvSpPr>
          <p:cNvPr id="16" name="Text Box 209">
            <a:extLst>
              <a:ext uri="{FF2B5EF4-FFF2-40B4-BE49-F238E27FC236}">
                <a16:creationId xmlns:a16="http://schemas.microsoft.com/office/drawing/2014/main" id="{30E8DB59-CE0D-5A9D-92EA-43FF3E117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180" y="2883808"/>
            <a:ext cx="528896" cy="349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c</a:t>
            </a:r>
            <a:r>
              <a:rPr lang="en-US" altLang="zh-CN" sz="1400">
                <a:latin typeface="Times New Roman" pitchFamily="18" charset="0"/>
              </a:rPr>
              <a:t>(</a:t>
            </a:r>
            <a:r>
              <a:rPr lang="en-US" altLang="zh-CN" sz="1400" i="1">
                <a:latin typeface="Times New Roman" pitchFamily="18" charset="0"/>
              </a:rPr>
              <a:t>t</a:t>
            </a:r>
            <a:r>
              <a:rPr lang="en-US" altLang="zh-CN" sz="1400">
                <a:latin typeface="Times New Roman" pitchFamily="18" charset="0"/>
              </a:rPr>
              <a:t>)</a:t>
            </a:r>
            <a:endParaRPr lang="en-US" altLang="zh-CN" sz="2800"/>
          </a:p>
        </p:txBody>
      </p:sp>
      <p:sp>
        <p:nvSpPr>
          <p:cNvPr id="17" name="Line 210">
            <a:extLst>
              <a:ext uri="{FF2B5EF4-FFF2-40B4-BE49-F238E27FC236}">
                <a16:creationId xmlns:a16="http://schemas.microsoft.com/office/drawing/2014/main" id="{5BF11BB3-26A0-3C9B-AD71-3F8DC55E5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2581" y="3350510"/>
            <a:ext cx="1405140" cy="0"/>
          </a:xfrm>
          <a:prstGeom prst="line">
            <a:avLst/>
          </a:prstGeom>
          <a:solidFill>
            <a:schemeClr val="bg1"/>
          </a:solidFill>
          <a:ln w="9525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Box 211">
            <a:extLst>
              <a:ext uri="{FF2B5EF4-FFF2-40B4-BE49-F238E27FC236}">
                <a16:creationId xmlns:a16="http://schemas.microsoft.com/office/drawing/2014/main" id="{9BFEFF55-718F-2ACD-32B4-C75E257EC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417" y="3131975"/>
            <a:ext cx="369579" cy="3240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000" i="1">
                <a:latin typeface="Times New Roman" pitchFamily="18" charset="0"/>
              </a:rPr>
              <a:t>A</a:t>
            </a:r>
            <a:endParaRPr lang="en-US" altLang="zh-CN" sz="2800"/>
          </a:p>
        </p:txBody>
      </p:sp>
      <p:sp>
        <p:nvSpPr>
          <p:cNvPr id="19" name="Line 212">
            <a:extLst>
              <a:ext uri="{FF2B5EF4-FFF2-40B4-BE49-F238E27FC236}">
                <a16:creationId xmlns:a16="http://schemas.microsoft.com/office/drawing/2014/main" id="{DE7BD2C0-AE22-1E4C-0A9F-E552B92CD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91" y="3983892"/>
            <a:ext cx="1405140" cy="926"/>
          </a:xfrm>
          <a:prstGeom prst="line">
            <a:avLst/>
          </a:prstGeom>
          <a:solidFill>
            <a:schemeClr val="bg1"/>
          </a:solidFill>
          <a:ln w="9525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Box 213">
            <a:extLst>
              <a:ext uri="{FF2B5EF4-FFF2-40B4-BE49-F238E27FC236}">
                <a16:creationId xmlns:a16="http://schemas.microsoft.com/office/drawing/2014/main" id="{2C17660E-3765-A320-1A90-F61789C49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587" y="3846845"/>
            <a:ext cx="369579" cy="3231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000">
                <a:latin typeface="Times New Roman" pitchFamily="18" charset="0"/>
              </a:rPr>
              <a:t>-</a:t>
            </a:r>
            <a:r>
              <a:rPr lang="en-US" altLang="zh-CN" sz="1000" i="1">
                <a:latin typeface="Times New Roman" pitchFamily="18" charset="0"/>
              </a:rPr>
              <a:t>A</a:t>
            </a:r>
            <a:endParaRPr lang="en-US" altLang="zh-CN" sz="2800"/>
          </a:p>
        </p:txBody>
      </p:sp>
      <p:sp>
        <p:nvSpPr>
          <p:cNvPr id="21" name="Line 214">
            <a:extLst>
              <a:ext uri="{FF2B5EF4-FFF2-40B4-BE49-F238E27FC236}">
                <a16:creationId xmlns:a16="http://schemas.microsoft.com/office/drawing/2014/main" id="{CD4E164C-5A68-FECB-4077-7433BA52F3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9748" y="5349737"/>
            <a:ext cx="1895133" cy="24076"/>
          </a:xfrm>
          <a:prstGeom prst="line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Box 215">
            <a:extLst>
              <a:ext uri="{FF2B5EF4-FFF2-40B4-BE49-F238E27FC236}">
                <a16:creationId xmlns:a16="http://schemas.microsoft.com/office/drawing/2014/main" id="{80D2C6DD-2AD3-43C3-79CA-0400518D2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536" y="2192088"/>
            <a:ext cx="434417" cy="37410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t</a:t>
            </a:r>
            <a:endParaRPr lang="en-US" altLang="zh-CN" sz="2800"/>
          </a:p>
        </p:txBody>
      </p:sp>
      <p:sp>
        <p:nvSpPr>
          <p:cNvPr id="23" name="Rectangle 253">
            <a:extLst>
              <a:ext uri="{FF2B5EF4-FFF2-40B4-BE49-F238E27FC236}">
                <a16:creationId xmlns:a16="http://schemas.microsoft.com/office/drawing/2014/main" id="{DCD9CBE6-4EA3-9D5A-B952-F96358EC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6344" y="2380066"/>
            <a:ext cx="373284" cy="1444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" name="Rectangle 254">
            <a:extLst>
              <a:ext uri="{FF2B5EF4-FFF2-40B4-BE49-F238E27FC236}">
                <a16:creationId xmlns:a16="http://schemas.microsoft.com/office/drawing/2014/main" id="{42843DDF-01C4-D8CD-384B-CFF0BC939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255" y="3693129"/>
            <a:ext cx="313077" cy="842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" name="Text Box 255">
            <a:extLst>
              <a:ext uri="{FF2B5EF4-FFF2-40B4-BE49-F238E27FC236}">
                <a16:creationId xmlns:a16="http://schemas.microsoft.com/office/drawing/2014/main" id="{679EA7FE-E496-0843-8FCD-BAEE22BF2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8702" y="3567194"/>
            <a:ext cx="434417" cy="37410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t</a:t>
            </a:r>
            <a:endParaRPr lang="en-US" altLang="zh-CN" sz="2800"/>
          </a:p>
        </p:txBody>
      </p:sp>
      <p:sp>
        <p:nvSpPr>
          <p:cNvPr id="26" name="Text Box 256">
            <a:extLst>
              <a:ext uri="{FF2B5EF4-FFF2-40B4-BE49-F238E27FC236}">
                <a16:creationId xmlns:a16="http://schemas.microsoft.com/office/drawing/2014/main" id="{F305F740-C635-E140-666F-0B0EF05BF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033" y="5265472"/>
            <a:ext cx="434417" cy="37410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t</a:t>
            </a:r>
            <a:endParaRPr lang="en-US" altLang="zh-CN" sz="2800"/>
          </a:p>
        </p:txBody>
      </p:sp>
      <p:grpSp>
        <p:nvGrpSpPr>
          <p:cNvPr id="27" name="Group 193">
            <a:extLst>
              <a:ext uri="{FF2B5EF4-FFF2-40B4-BE49-F238E27FC236}">
                <a16:creationId xmlns:a16="http://schemas.microsoft.com/office/drawing/2014/main" id="{A86F528E-4F3F-891E-0042-04A6DC2DB75A}"/>
              </a:ext>
            </a:extLst>
          </p:cNvPr>
          <p:cNvGrpSpPr>
            <a:grpSpLocks/>
          </p:cNvGrpSpPr>
          <p:nvPr/>
        </p:nvGrpSpPr>
        <p:grpSpPr bwMode="auto">
          <a:xfrm>
            <a:off x="7431869" y="2090817"/>
            <a:ext cx="602070" cy="3590090"/>
            <a:chOff x="5863" y="1257"/>
            <a:chExt cx="650" cy="3877"/>
          </a:xfrm>
          <a:solidFill>
            <a:schemeClr val="bg1"/>
          </a:solidFill>
        </p:grpSpPr>
        <p:grpSp>
          <p:nvGrpSpPr>
            <p:cNvPr id="28" name="Group 194">
              <a:extLst>
                <a:ext uri="{FF2B5EF4-FFF2-40B4-BE49-F238E27FC236}">
                  <a16:creationId xmlns:a16="http://schemas.microsoft.com/office/drawing/2014/main" id="{211ED57C-863A-4477-5F27-B77F94293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3" y="1257"/>
              <a:ext cx="650" cy="2016"/>
              <a:chOff x="5863" y="1257"/>
              <a:chExt cx="650" cy="2016"/>
            </a:xfrm>
            <a:grpFill/>
          </p:grpSpPr>
          <p:sp>
            <p:nvSpPr>
              <p:cNvPr id="30" name="Text Box 195">
                <a:extLst>
                  <a:ext uri="{FF2B5EF4-FFF2-40B4-BE49-F238E27FC236}">
                    <a16:creationId xmlns:a16="http://schemas.microsoft.com/office/drawing/2014/main" id="{F76279E7-55A0-EDA2-C474-7F664DD367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3" y="2701"/>
                <a:ext cx="650" cy="57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400" dirty="0">
                    <a:latin typeface="Times New Roman" pitchFamily="18" charset="0"/>
                    <a:sym typeface="Symbol" pitchFamily="18" charset="2"/>
                  </a:rPr>
                  <a:t></a:t>
                </a:r>
                <a:endParaRPr lang="en-US" altLang="zh-CN" sz="2800" dirty="0"/>
              </a:p>
            </p:txBody>
          </p:sp>
          <p:sp>
            <p:nvSpPr>
              <p:cNvPr id="31" name="Text Box 196">
                <a:extLst>
                  <a:ext uri="{FF2B5EF4-FFF2-40B4-BE49-F238E27FC236}">
                    <a16:creationId xmlns:a16="http://schemas.microsoft.com/office/drawing/2014/main" id="{FC4BDDD6-93BF-0BEF-E929-C13FF92F7E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3" y="1257"/>
                <a:ext cx="650" cy="57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400" dirty="0">
                    <a:latin typeface="Times New Roman" pitchFamily="18" charset="0"/>
                    <a:sym typeface="Symbol" pitchFamily="18" charset="2"/>
                  </a:rPr>
                  <a:t></a:t>
                </a:r>
                <a:endParaRPr lang="en-US" altLang="zh-CN" sz="2800" dirty="0"/>
              </a:p>
            </p:txBody>
          </p:sp>
        </p:grpSp>
        <p:sp>
          <p:nvSpPr>
            <p:cNvPr id="29" name="Text Box 197">
              <a:extLst>
                <a:ext uri="{FF2B5EF4-FFF2-40B4-BE49-F238E27FC236}">
                  <a16:creationId xmlns:a16="http://schemas.microsoft.com/office/drawing/2014/main" id="{E709D6BB-6254-FB62-01F7-B45CABD12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3" y="4561"/>
              <a:ext cx="650" cy="5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400" dirty="0">
                  <a:latin typeface="Times New Roman" pitchFamily="18" charset="0"/>
                  <a:sym typeface="Symbol" pitchFamily="18" charset="2"/>
                </a:rPr>
                <a:t></a:t>
              </a:r>
              <a:endParaRPr lang="en-US" altLang="zh-CN" sz="2800" dirty="0"/>
            </a:p>
          </p:txBody>
        </p:sp>
      </p:grpSp>
      <p:pic>
        <p:nvPicPr>
          <p:cNvPr id="32" name="Picture 199" descr="载波频谱">
            <a:extLst>
              <a:ext uri="{FF2B5EF4-FFF2-40B4-BE49-F238E27FC236}">
                <a16:creationId xmlns:a16="http://schemas.microsoft.com/office/drawing/2014/main" id="{4B427AEB-0A06-0956-12ED-3DEABB139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270" y="3061599"/>
            <a:ext cx="1973865" cy="11260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207">
            <a:extLst>
              <a:ext uri="{FF2B5EF4-FFF2-40B4-BE49-F238E27FC236}">
                <a16:creationId xmlns:a16="http://schemas.microsoft.com/office/drawing/2014/main" id="{560236AD-580C-59D7-FDA6-08A477AFB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122" y="1582782"/>
            <a:ext cx="564094" cy="349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 dirty="0">
                <a:latin typeface="Times New Roman" pitchFamily="18" charset="0"/>
              </a:rPr>
              <a:t>M’</a:t>
            </a:r>
            <a:r>
              <a:rPr lang="en-US" altLang="zh-CN" sz="1400" dirty="0">
                <a:latin typeface="Times New Roman" pitchFamily="18" charset="0"/>
              </a:rPr>
              <a:t>(</a:t>
            </a:r>
            <a:r>
              <a:rPr lang="en-US" altLang="zh-CN" sz="1400" i="1" dirty="0">
                <a:latin typeface="Times New Roman" pitchFamily="18" charset="0"/>
              </a:rPr>
              <a:t>f</a:t>
            </a:r>
            <a:r>
              <a:rPr lang="en-US" altLang="zh-CN" sz="1400" dirty="0">
                <a:latin typeface="Times New Roman" pitchFamily="18" charset="0"/>
              </a:rPr>
              <a:t>)</a:t>
            </a:r>
            <a:endParaRPr lang="en-US" altLang="zh-CN" sz="2800" dirty="0"/>
          </a:p>
        </p:txBody>
      </p:sp>
      <p:sp>
        <p:nvSpPr>
          <p:cNvPr id="34" name="Text Box 208">
            <a:extLst>
              <a:ext uri="{FF2B5EF4-FFF2-40B4-BE49-F238E27FC236}">
                <a16:creationId xmlns:a16="http://schemas.microsoft.com/office/drawing/2014/main" id="{A0991095-F570-F72F-CBBA-DE3BEBC6E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87" y="2859732"/>
            <a:ext cx="565020" cy="349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 dirty="0">
                <a:latin typeface="Times New Roman" pitchFamily="18" charset="0"/>
              </a:rPr>
              <a:t>C</a:t>
            </a:r>
            <a:r>
              <a:rPr lang="en-US" altLang="zh-CN" sz="1400" dirty="0">
                <a:latin typeface="Times New Roman" pitchFamily="18" charset="0"/>
              </a:rPr>
              <a:t>(</a:t>
            </a:r>
            <a:r>
              <a:rPr lang="en-US" altLang="zh-CN" sz="1400" i="1" dirty="0">
                <a:latin typeface="Times New Roman" pitchFamily="18" charset="0"/>
              </a:rPr>
              <a:t>f</a:t>
            </a:r>
            <a:r>
              <a:rPr lang="en-US" altLang="zh-CN" sz="1400" dirty="0">
                <a:latin typeface="Times New Roman" pitchFamily="18" charset="0"/>
              </a:rPr>
              <a:t>)</a:t>
            </a:r>
            <a:endParaRPr lang="en-US" altLang="zh-CN" sz="2800" dirty="0"/>
          </a:p>
        </p:txBody>
      </p:sp>
      <p:sp>
        <p:nvSpPr>
          <p:cNvPr id="35" name="Text Box 216">
            <a:extLst>
              <a:ext uri="{FF2B5EF4-FFF2-40B4-BE49-F238E27FC236}">
                <a16:creationId xmlns:a16="http://schemas.microsoft.com/office/drawing/2014/main" id="{C587FE5F-9783-CDEC-391E-55B8D5C9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3918" y="2238388"/>
            <a:ext cx="407555" cy="35002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f</a:t>
            </a:r>
            <a:r>
              <a:rPr lang="en-US" altLang="zh-CN" sz="1400" i="1" baseline="-25000">
                <a:latin typeface="Times New Roman" pitchFamily="18" charset="0"/>
              </a:rPr>
              <a:t>m</a:t>
            </a:r>
            <a:endParaRPr lang="en-US" altLang="zh-CN" sz="2800"/>
          </a:p>
        </p:txBody>
      </p:sp>
      <p:sp>
        <p:nvSpPr>
          <p:cNvPr id="36" name="Text Box 217">
            <a:extLst>
              <a:ext uri="{FF2B5EF4-FFF2-40B4-BE49-F238E27FC236}">
                <a16:creationId xmlns:a16="http://schemas.microsoft.com/office/drawing/2014/main" id="{4085A0A0-17A6-1DD0-ED0E-7EB38A45D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595" y="2262464"/>
            <a:ext cx="407555" cy="35002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>
                <a:latin typeface="Times New Roman" pitchFamily="18" charset="0"/>
              </a:rPr>
              <a:t>-</a:t>
            </a:r>
            <a:r>
              <a:rPr lang="en-US" altLang="zh-CN" sz="1400" i="1">
                <a:latin typeface="Times New Roman" pitchFamily="18" charset="0"/>
              </a:rPr>
              <a:t>f</a:t>
            </a:r>
            <a:r>
              <a:rPr lang="en-US" altLang="zh-CN" sz="1400" i="1" baseline="-25000">
                <a:latin typeface="Times New Roman" pitchFamily="18" charset="0"/>
              </a:rPr>
              <a:t>m</a:t>
            </a:r>
            <a:endParaRPr lang="en-US" altLang="zh-CN" sz="2800"/>
          </a:p>
        </p:txBody>
      </p:sp>
      <p:sp>
        <p:nvSpPr>
          <p:cNvPr id="37" name="Text Box 218">
            <a:extLst>
              <a:ext uri="{FF2B5EF4-FFF2-40B4-BE49-F238E27FC236}">
                <a16:creationId xmlns:a16="http://schemas.microsoft.com/office/drawing/2014/main" id="{122B5A79-59DB-13BF-67E2-7419274B6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4162" y="3594047"/>
            <a:ext cx="407555" cy="35002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f</a:t>
            </a:r>
            <a:r>
              <a:rPr lang="en-US" altLang="zh-CN" sz="1400" baseline="-25000">
                <a:latin typeface="Times New Roman" pitchFamily="18" charset="0"/>
              </a:rPr>
              <a:t>0</a:t>
            </a:r>
            <a:endParaRPr lang="en-US" altLang="zh-CN" sz="2800"/>
          </a:p>
        </p:txBody>
      </p:sp>
      <p:sp>
        <p:nvSpPr>
          <p:cNvPr id="38" name="Text Box 219">
            <a:extLst>
              <a:ext uri="{FF2B5EF4-FFF2-40B4-BE49-F238E27FC236}">
                <a16:creationId xmlns:a16="http://schemas.microsoft.com/office/drawing/2014/main" id="{24437A87-8C12-0C0C-66C5-EE5D14A08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430" y="3627933"/>
            <a:ext cx="407555" cy="35002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just"/>
            <a:r>
              <a:rPr lang="en-US" altLang="zh-CN" sz="1400" dirty="0">
                <a:latin typeface="Times New Roman" pitchFamily="18" charset="0"/>
              </a:rPr>
              <a:t>-</a:t>
            </a:r>
            <a:r>
              <a:rPr lang="en-US" altLang="zh-CN" sz="1400" i="1" dirty="0">
                <a:latin typeface="Times New Roman" pitchFamily="18" charset="0"/>
              </a:rPr>
              <a:t>f</a:t>
            </a:r>
            <a:r>
              <a:rPr lang="en-US" altLang="zh-CN" sz="1400" baseline="-25000" dirty="0">
                <a:latin typeface="Times New Roman" pitchFamily="18" charset="0"/>
              </a:rPr>
              <a:t>0</a:t>
            </a:r>
            <a:endParaRPr lang="en-US" altLang="zh-CN" sz="2800" dirty="0"/>
          </a:p>
        </p:txBody>
      </p:sp>
      <p:grpSp>
        <p:nvGrpSpPr>
          <p:cNvPr id="39" name="Group 220">
            <a:extLst>
              <a:ext uri="{FF2B5EF4-FFF2-40B4-BE49-F238E27FC236}">
                <a16:creationId xmlns:a16="http://schemas.microsoft.com/office/drawing/2014/main" id="{4B0AAC90-67AB-67FC-80FC-286D747A1FE9}"/>
              </a:ext>
            </a:extLst>
          </p:cNvPr>
          <p:cNvGrpSpPr>
            <a:grpSpLocks/>
          </p:cNvGrpSpPr>
          <p:nvPr/>
        </p:nvGrpSpPr>
        <p:grpSpPr bwMode="auto">
          <a:xfrm>
            <a:off x="8027583" y="4499672"/>
            <a:ext cx="1973865" cy="1353807"/>
            <a:chOff x="7005" y="3926"/>
            <a:chExt cx="2131" cy="1462"/>
          </a:xfrm>
          <a:solidFill>
            <a:schemeClr val="bg1"/>
          </a:solidFill>
        </p:grpSpPr>
        <p:grpSp>
          <p:nvGrpSpPr>
            <p:cNvPr id="40" name="Group 221">
              <a:extLst>
                <a:ext uri="{FF2B5EF4-FFF2-40B4-BE49-F238E27FC236}">
                  <a16:creationId xmlns:a16="http://schemas.microsoft.com/office/drawing/2014/main" id="{B46ADA20-2633-776D-96D1-0C9521AADA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5" y="3926"/>
              <a:ext cx="2131" cy="1462"/>
              <a:chOff x="7005" y="3926"/>
              <a:chExt cx="2131" cy="1462"/>
            </a:xfrm>
            <a:grpFill/>
          </p:grpSpPr>
          <p:grpSp>
            <p:nvGrpSpPr>
              <p:cNvPr id="42" name="Group 222">
                <a:extLst>
                  <a:ext uri="{FF2B5EF4-FFF2-40B4-BE49-F238E27FC236}">
                    <a16:creationId xmlns:a16="http://schemas.microsoft.com/office/drawing/2014/main" id="{3EF9ECF2-AE6E-5E49-B2B0-BB5EBF2F57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05" y="3926"/>
                <a:ext cx="2131" cy="1462"/>
                <a:chOff x="7005" y="3924"/>
                <a:chExt cx="2131" cy="1462"/>
              </a:xfrm>
              <a:grpFill/>
            </p:grpSpPr>
            <p:grpSp>
              <p:nvGrpSpPr>
                <p:cNvPr id="45" name="Group 223">
                  <a:extLst>
                    <a:ext uri="{FF2B5EF4-FFF2-40B4-BE49-F238E27FC236}">
                      <a16:creationId xmlns:a16="http://schemas.microsoft.com/office/drawing/2014/main" id="{9EF4F737-DC8A-59C8-C5BC-8EE691C466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005" y="4170"/>
                  <a:ext cx="2131" cy="1216"/>
                  <a:chOff x="7005" y="4170"/>
                  <a:chExt cx="2131" cy="1215"/>
                </a:xfrm>
                <a:grpFill/>
              </p:grpSpPr>
              <p:grpSp>
                <p:nvGrpSpPr>
                  <p:cNvPr id="49" name="Group 224">
                    <a:extLst>
                      <a:ext uri="{FF2B5EF4-FFF2-40B4-BE49-F238E27FC236}">
                        <a16:creationId xmlns:a16="http://schemas.microsoft.com/office/drawing/2014/main" id="{E494E226-9AEF-52EF-0C48-1247F92269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005" y="4170"/>
                    <a:ext cx="2131" cy="1215"/>
                    <a:chOff x="7005" y="4170"/>
                    <a:chExt cx="2131" cy="1215"/>
                  </a:xfrm>
                  <a:grpFill/>
                </p:grpSpPr>
                <p:pic>
                  <p:nvPicPr>
                    <p:cNvPr id="55" name="Picture 225" descr="载波频谱">
                      <a:extLst>
                        <a:ext uri="{FF2B5EF4-FFF2-40B4-BE49-F238E27FC236}">
                          <a16:creationId xmlns:a16="http://schemas.microsoft.com/office/drawing/2014/main" id="{57905A70-F187-88D6-4B55-49D33728D68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1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005" y="4170"/>
                      <a:ext cx="2131" cy="1215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56" name="Text Box 226">
                      <a:extLst>
                        <a:ext uri="{FF2B5EF4-FFF2-40B4-BE49-F238E27FC236}">
                          <a16:creationId xmlns:a16="http://schemas.microsoft.com/office/drawing/2014/main" id="{03AC9ECF-526A-E0C2-0449-9358AEA35EA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16" y="4982"/>
                      <a:ext cx="469" cy="33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000" dirty="0">
                          <a:latin typeface="Times New Roman" pitchFamily="18" charset="0"/>
                        </a:rPr>
                        <a:t>2</a:t>
                      </a:r>
                      <a:r>
                        <a:rPr lang="en-US" altLang="zh-CN" sz="1000" i="1" dirty="0">
                          <a:latin typeface="Times New Roman" pitchFamily="18" charset="0"/>
                        </a:rPr>
                        <a:t>f</a:t>
                      </a:r>
                      <a:r>
                        <a:rPr lang="en-US" altLang="zh-CN" sz="1000" i="1" baseline="-25000" dirty="0">
                          <a:latin typeface="Times New Roman" pitchFamily="18" charset="0"/>
                        </a:rPr>
                        <a:t>m</a:t>
                      </a:r>
                      <a:endParaRPr lang="en-US" altLang="zh-CN" sz="2800" dirty="0"/>
                    </a:p>
                  </p:txBody>
                </p:sp>
                <p:grpSp>
                  <p:nvGrpSpPr>
                    <p:cNvPr id="57" name="Group 227">
                      <a:extLst>
                        <a:ext uri="{FF2B5EF4-FFF2-40B4-BE49-F238E27FC236}">
                          <a16:creationId xmlns:a16="http://schemas.microsoft.com/office/drawing/2014/main" id="{330A2D9E-9652-2990-B5C2-898A829F364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163" y="4434"/>
                      <a:ext cx="777" cy="431"/>
                      <a:chOff x="7177" y="4433"/>
                      <a:chExt cx="777" cy="431"/>
                    </a:xfrm>
                    <a:grpFill/>
                  </p:grpSpPr>
                  <p:pic>
                    <p:nvPicPr>
                      <p:cNvPr id="66" name="Picture 228" descr="SSB频谱产生">
                        <a:extLst>
                          <a:ext uri="{FF2B5EF4-FFF2-40B4-BE49-F238E27FC236}">
                            <a16:creationId xmlns:a16="http://schemas.microsoft.com/office/drawing/2014/main" id="{E063749D-FFD8-6929-EFF0-D433931000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6" y="4433"/>
                        <a:ext cx="298" cy="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pic>
                    <p:nvPicPr>
                      <p:cNvPr id="67" name="Picture 229" descr="SSB频谱产生">
                        <a:extLst>
                          <a:ext uri="{FF2B5EF4-FFF2-40B4-BE49-F238E27FC236}">
                            <a16:creationId xmlns:a16="http://schemas.microsoft.com/office/drawing/2014/main" id="{4FC30A5F-C155-0AB3-3C20-8562E8433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7177" y="4433"/>
                        <a:ext cx="298" cy="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grpSp>
                <p:grpSp>
                  <p:nvGrpSpPr>
                    <p:cNvPr id="58" name="Group 230">
                      <a:extLst>
                        <a:ext uri="{FF2B5EF4-FFF2-40B4-BE49-F238E27FC236}">
                          <a16:creationId xmlns:a16="http://schemas.microsoft.com/office/drawing/2014/main" id="{6FE609C8-E826-11D2-0FC0-81683FA6C16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217" y="4433"/>
                      <a:ext cx="777" cy="437"/>
                      <a:chOff x="7364" y="764"/>
                      <a:chExt cx="896" cy="505"/>
                    </a:xfrm>
                    <a:grpFill/>
                  </p:grpSpPr>
                  <p:pic>
                    <p:nvPicPr>
                      <p:cNvPr id="64" name="Picture 231" descr="SSB频谱产生">
                        <a:extLst>
                          <a:ext uri="{FF2B5EF4-FFF2-40B4-BE49-F238E27FC236}">
                            <a16:creationId xmlns:a16="http://schemas.microsoft.com/office/drawing/2014/main" id="{1D36221B-BC64-23BA-6EE5-EF5DAB0A83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" y="771"/>
                        <a:ext cx="344" cy="49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pic>
                    <p:nvPicPr>
                      <p:cNvPr id="65" name="Picture 232" descr="SSB频谱产生">
                        <a:extLst>
                          <a:ext uri="{FF2B5EF4-FFF2-40B4-BE49-F238E27FC236}">
                            <a16:creationId xmlns:a16="http://schemas.microsoft.com/office/drawing/2014/main" id="{E9FB4D93-DFA4-6888-C23A-60A2FD36B5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7364" y="764"/>
                        <a:ext cx="344" cy="49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grpSp>
                <p:grpSp>
                  <p:nvGrpSpPr>
                    <p:cNvPr id="59" name="Group 233">
                      <a:extLst>
                        <a:ext uri="{FF2B5EF4-FFF2-40B4-BE49-F238E27FC236}">
                          <a16:creationId xmlns:a16="http://schemas.microsoft.com/office/drawing/2014/main" id="{41CAEF40-D53F-C5D5-042D-8B313E39885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203" y="5067"/>
                      <a:ext cx="1761" cy="5"/>
                      <a:chOff x="7203" y="5064"/>
                      <a:chExt cx="1761" cy="5"/>
                    </a:xfrm>
                    <a:grpFill/>
                  </p:grpSpPr>
                  <p:sp>
                    <p:nvSpPr>
                      <p:cNvPr id="60" name="Line 234">
                        <a:extLst>
                          <a:ext uri="{FF2B5EF4-FFF2-40B4-BE49-F238E27FC236}">
                            <a16:creationId xmlns:a16="http://schemas.microsoft.com/office/drawing/2014/main" id="{C5ABB30E-BD75-BB36-6768-E01040A036D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83" y="5067"/>
                        <a:ext cx="234" cy="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1" name="Line 235">
                        <a:extLst>
                          <a:ext uri="{FF2B5EF4-FFF2-40B4-BE49-F238E27FC236}">
                            <a16:creationId xmlns:a16="http://schemas.microsoft.com/office/drawing/2014/main" id="{45FE1152-D0AA-2BBB-9B4F-0E80C5DF950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7203" y="5067"/>
                        <a:ext cx="182" cy="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2" name="Line 236">
                        <a:extLst>
                          <a:ext uri="{FF2B5EF4-FFF2-40B4-BE49-F238E27FC236}">
                            <a16:creationId xmlns:a16="http://schemas.microsoft.com/office/drawing/2014/main" id="{01576352-D341-5DC2-0671-5E0BDFD7718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718" y="5064"/>
                        <a:ext cx="246" cy="5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3" name="Line 237">
                        <a:extLst>
                          <a:ext uri="{FF2B5EF4-FFF2-40B4-BE49-F238E27FC236}">
                            <a16:creationId xmlns:a16="http://schemas.microsoft.com/office/drawing/2014/main" id="{A99C8C7A-07BF-4299-E6C9-AFA10F8021F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255" y="5067"/>
                        <a:ext cx="208" cy="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  <p:grpSp>
                <p:nvGrpSpPr>
                  <p:cNvPr id="50" name="Group 238">
                    <a:extLst>
                      <a:ext uri="{FF2B5EF4-FFF2-40B4-BE49-F238E27FC236}">
                        <a16:creationId xmlns:a16="http://schemas.microsoft.com/office/drawing/2014/main" id="{267AFDAA-DD8B-826D-07FB-B9F0BC2EF75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203" y="5008"/>
                    <a:ext cx="1769" cy="164"/>
                    <a:chOff x="7203" y="5008"/>
                    <a:chExt cx="1769" cy="164"/>
                  </a:xfrm>
                  <a:grpFill/>
                </p:grpSpPr>
                <p:sp>
                  <p:nvSpPr>
                    <p:cNvPr id="51" name="Line 239">
                      <a:extLst>
                        <a:ext uri="{FF2B5EF4-FFF2-40B4-BE49-F238E27FC236}">
                          <a16:creationId xmlns:a16="http://schemas.microsoft.com/office/drawing/2014/main" id="{2F6431A4-3434-D704-6466-5FF4EC6186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203" y="5008"/>
                      <a:ext cx="0" cy="164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2" name="Line 240">
                      <a:extLst>
                        <a:ext uri="{FF2B5EF4-FFF2-40B4-BE49-F238E27FC236}">
                          <a16:creationId xmlns:a16="http://schemas.microsoft.com/office/drawing/2014/main" id="{DB9BDDEC-031C-D330-D827-9BB61401EC2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924" y="5008"/>
                      <a:ext cx="1" cy="164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" name="Line 241">
                      <a:extLst>
                        <a:ext uri="{FF2B5EF4-FFF2-40B4-BE49-F238E27FC236}">
                          <a16:creationId xmlns:a16="http://schemas.microsoft.com/office/drawing/2014/main" id="{34F5553E-8B78-EEBD-4E09-0EEC7484A7E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62" y="5008"/>
                      <a:ext cx="1" cy="164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4" name="Line 242">
                      <a:extLst>
                        <a:ext uri="{FF2B5EF4-FFF2-40B4-BE49-F238E27FC236}">
                          <a16:creationId xmlns:a16="http://schemas.microsoft.com/office/drawing/2014/main" id="{67685E00-5C6F-243F-17EA-252509F228A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71" y="5008"/>
                      <a:ext cx="1" cy="164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  <p:grpSp>
              <p:nvGrpSpPr>
                <p:cNvPr id="46" name="Group 243">
                  <a:extLst>
                    <a:ext uri="{FF2B5EF4-FFF2-40B4-BE49-F238E27FC236}">
                      <a16:creationId xmlns:a16="http://schemas.microsoft.com/office/drawing/2014/main" id="{B0442B82-9701-341A-A1C2-7AC0468FE8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059" y="3924"/>
                  <a:ext cx="1990" cy="921"/>
                  <a:chOff x="7059" y="3923"/>
                  <a:chExt cx="1990" cy="921"/>
                </a:xfrm>
                <a:grpFill/>
              </p:grpSpPr>
              <p:sp>
                <p:nvSpPr>
                  <p:cNvPr id="47" name="Text Box 244">
                    <a:extLst>
                      <a:ext uri="{FF2B5EF4-FFF2-40B4-BE49-F238E27FC236}">
                        <a16:creationId xmlns:a16="http://schemas.microsoft.com/office/drawing/2014/main" id="{29552C38-494B-E001-D7CD-8FB60185F88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997" y="3923"/>
                    <a:ext cx="610" cy="37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400" i="1">
                        <a:latin typeface="Times New Roman" pitchFamily="18" charset="0"/>
                      </a:rPr>
                      <a:t>S</a:t>
                    </a:r>
                    <a:r>
                      <a:rPr lang="en-US" altLang="zh-CN" sz="1400">
                        <a:latin typeface="Times New Roman" pitchFamily="18" charset="0"/>
                      </a:rPr>
                      <a:t> (</a:t>
                    </a:r>
                    <a:r>
                      <a:rPr lang="en-US" altLang="zh-CN" sz="1400" i="1">
                        <a:latin typeface="Times New Roman" pitchFamily="18" charset="0"/>
                      </a:rPr>
                      <a:t>f</a:t>
                    </a:r>
                    <a:r>
                      <a:rPr lang="en-US" altLang="zh-CN" sz="1400">
                        <a:latin typeface="Times New Roman" pitchFamily="18" charset="0"/>
                      </a:rPr>
                      <a:t>)</a:t>
                    </a:r>
                    <a:endParaRPr lang="en-US" altLang="zh-CN" sz="2800"/>
                  </a:p>
                </p:txBody>
              </p:sp>
              <p:sp>
                <p:nvSpPr>
                  <p:cNvPr id="48" name="Line 245">
                    <a:extLst>
                      <a:ext uri="{FF2B5EF4-FFF2-40B4-BE49-F238E27FC236}">
                        <a16:creationId xmlns:a16="http://schemas.microsoft.com/office/drawing/2014/main" id="{C4A4C01F-7ACC-B541-437E-D8CF0CB8D0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059" y="4831"/>
                    <a:ext cx="1990" cy="13"/>
                  </a:xfrm>
                  <a:prstGeom prst="lin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43" name="Text Box 246">
                <a:extLst>
                  <a:ext uri="{FF2B5EF4-FFF2-40B4-BE49-F238E27FC236}">
                    <a16:creationId xmlns:a16="http://schemas.microsoft.com/office/drawing/2014/main" id="{61A275B5-AA07-25E0-76C0-F292EB83F8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69" y="4958"/>
                <a:ext cx="468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000">
                    <a:latin typeface="Times New Roman" pitchFamily="18" charset="0"/>
                  </a:rPr>
                  <a:t>2</a:t>
                </a:r>
                <a:r>
                  <a:rPr lang="en-US" altLang="zh-CN" sz="1000" i="1">
                    <a:latin typeface="Times New Roman" pitchFamily="18" charset="0"/>
                  </a:rPr>
                  <a:t>f</a:t>
                </a:r>
                <a:r>
                  <a:rPr lang="en-US" altLang="zh-CN" sz="1000" i="1" baseline="-25000">
                    <a:latin typeface="Times New Roman" pitchFamily="18" charset="0"/>
                  </a:rPr>
                  <a:t>m</a:t>
                </a:r>
                <a:endParaRPr lang="en-US" altLang="zh-CN" sz="2800"/>
              </a:p>
            </p:txBody>
          </p:sp>
          <p:sp>
            <p:nvSpPr>
              <p:cNvPr id="44" name="Text Box 247">
                <a:extLst>
                  <a:ext uri="{FF2B5EF4-FFF2-40B4-BE49-F238E27FC236}">
                    <a16:creationId xmlns:a16="http://schemas.microsoft.com/office/drawing/2014/main" id="{0A9069F1-61DB-B27E-40A7-06E758B83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49" y="4799"/>
                <a:ext cx="406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000" dirty="0">
                    <a:latin typeface="Times New Roman" pitchFamily="18" charset="0"/>
                  </a:rPr>
                  <a:t>-</a:t>
                </a:r>
                <a:r>
                  <a:rPr lang="en-US" altLang="zh-CN" sz="1000" i="1" dirty="0">
                    <a:latin typeface="Times New Roman" pitchFamily="18" charset="0"/>
                  </a:rPr>
                  <a:t>f</a:t>
                </a:r>
                <a:r>
                  <a:rPr lang="en-US" altLang="zh-CN" sz="1000" baseline="-25000" dirty="0">
                    <a:latin typeface="Times New Roman" pitchFamily="18" charset="0"/>
                  </a:rPr>
                  <a:t>0</a:t>
                </a:r>
                <a:endParaRPr lang="en-US" altLang="zh-CN" sz="2800" dirty="0"/>
              </a:p>
            </p:txBody>
          </p:sp>
        </p:grpSp>
        <p:sp>
          <p:nvSpPr>
            <p:cNvPr id="41" name="Text Box 248">
              <a:extLst>
                <a:ext uri="{FF2B5EF4-FFF2-40B4-BE49-F238E27FC236}">
                  <a16:creationId xmlns:a16="http://schemas.microsoft.com/office/drawing/2014/main" id="{9D67C569-213A-34B9-D495-20E2D0848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0" y="4799"/>
              <a:ext cx="337" cy="33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000" i="1" dirty="0">
                  <a:latin typeface="Times New Roman" pitchFamily="18" charset="0"/>
                </a:rPr>
                <a:t>f</a:t>
              </a:r>
              <a:r>
                <a:rPr lang="en-US" altLang="zh-CN" sz="1000" baseline="-25000" dirty="0">
                  <a:latin typeface="Times New Roman" pitchFamily="18" charset="0"/>
                </a:rPr>
                <a:t>0</a:t>
              </a:r>
              <a:endParaRPr lang="en-US" altLang="zh-CN" sz="2800" dirty="0"/>
            </a:p>
          </p:txBody>
        </p:sp>
      </p:grpSp>
      <p:sp>
        <p:nvSpPr>
          <p:cNvPr id="68" name="Text Box 249">
            <a:extLst>
              <a:ext uri="{FF2B5EF4-FFF2-40B4-BE49-F238E27FC236}">
                <a16:creationId xmlns:a16="http://schemas.microsoft.com/office/drawing/2014/main" id="{82BB3C56-ABE4-0A26-6F81-EF675C601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403" y="5128424"/>
            <a:ext cx="407555" cy="349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f</a:t>
            </a:r>
            <a:endParaRPr lang="en-US" altLang="zh-CN" sz="2800"/>
          </a:p>
        </p:txBody>
      </p:sp>
      <p:sp>
        <p:nvSpPr>
          <p:cNvPr id="69" name="Text Box 250">
            <a:extLst>
              <a:ext uri="{FF2B5EF4-FFF2-40B4-BE49-F238E27FC236}">
                <a16:creationId xmlns:a16="http://schemas.microsoft.com/office/drawing/2014/main" id="{E0E7B8BE-156D-B127-05C2-B35009B7E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154" y="3560712"/>
            <a:ext cx="407555" cy="348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f</a:t>
            </a:r>
            <a:endParaRPr lang="en-US" altLang="zh-CN" sz="2800"/>
          </a:p>
        </p:txBody>
      </p:sp>
      <p:sp>
        <p:nvSpPr>
          <p:cNvPr id="70" name="Text Box 251">
            <a:extLst>
              <a:ext uri="{FF2B5EF4-FFF2-40B4-BE49-F238E27FC236}">
                <a16:creationId xmlns:a16="http://schemas.microsoft.com/office/drawing/2014/main" id="{46810624-8837-9592-31E1-363FF6BBA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5818" y="2199496"/>
            <a:ext cx="407555" cy="34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400" i="1">
                <a:latin typeface="Times New Roman" pitchFamily="18" charset="0"/>
              </a:rPr>
              <a:t>f</a:t>
            </a:r>
            <a:endParaRPr lang="en-US" altLang="zh-CN" sz="2800"/>
          </a:p>
        </p:txBody>
      </p:sp>
      <p:sp>
        <p:nvSpPr>
          <p:cNvPr id="71" name="Line 252">
            <a:extLst>
              <a:ext uri="{FF2B5EF4-FFF2-40B4-BE49-F238E27FC236}">
                <a16:creationId xmlns:a16="http://schemas.microsoft.com/office/drawing/2014/main" id="{1B6DA2EE-731C-8E23-189E-47973EA018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2574" y="3678313"/>
            <a:ext cx="1870123" cy="7408"/>
          </a:xfrm>
          <a:prstGeom prst="line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72" name="Group 257">
            <a:extLst>
              <a:ext uri="{FF2B5EF4-FFF2-40B4-BE49-F238E27FC236}">
                <a16:creationId xmlns:a16="http://schemas.microsoft.com/office/drawing/2014/main" id="{76597DAA-3397-ADF8-EB5E-387A2CE14D07}"/>
              </a:ext>
            </a:extLst>
          </p:cNvPr>
          <p:cNvGrpSpPr>
            <a:grpSpLocks/>
          </p:cNvGrpSpPr>
          <p:nvPr/>
        </p:nvGrpSpPr>
        <p:grpSpPr bwMode="auto">
          <a:xfrm>
            <a:off x="8615760" y="1874471"/>
            <a:ext cx="702107" cy="492630"/>
            <a:chOff x="2610" y="8187"/>
            <a:chExt cx="1296" cy="1202"/>
          </a:xfrm>
          <a:solidFill>
            <a:schemeClr val="bg1"/>
          </a:solidFill>
        </p:grpSpPr>
        <p:pic>
          <p:nvPicPr>
            <p:cNvPr id="73" name="Picture 258" descr="SSB频谱产生">
              <a:extLst>
                <a:ext uri="{FF2B5EF4-FFF2-40B4-BE49-F238E27FC236}">
                  <a16:creationId xmlns:a16="http://schemas.microsoft.com/office/drawing/2014/main" id="{F7AAF196-BAB6-B560-7AEF-D1C18658C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610" y="8187"/>
              <a:ext cx="516" cy="12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259" descr="SSB频谱产生">
              <a:extLst>
                <a:ext uri="{FF2B5EF4-FFF2-40B4-BE49-F238E27FC236}">
                  <a16:creationId xmlns:a16="http://schemas.microsoft.com/office/drawing/2014/main" id="{FB7BE783-DD1C-1134-05E7-76AEA57D6D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0" y="8187"/>
              <a:ext cx="516" cy="12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5" name="Group 260">
            <a:extLst>
              <a:ext uri="{FF2B5EF4-FFF2-40B4-BE49-F238E27FC236}">
                <a16:creationId xmlns:a16="http://schemas.microsoft.com/office/drawing/2014/main" id="{56BCCCB1-ADCA-3174-8164-D81862767B78}"/>
              </a:ext>
            </a:extLst>
          </p:cNvPr>
          <p:cNvGrpSpPr>
            <a:grpSpLocks/>
          </p:cNvGrpSpPr>
          <p:nvPr/>
        </p:nvGrpSpPr>
        <p:grpSpPr bwMode="auto">
          <a:xfrm>
            <a:off x="8077602" y="1749462"/>
            <a:ext cx="1771013" cy="565784"/>
            <a:chOff x="7059" y="956"/>
            <a:chExt cx="1912" cy="611"/>
          </a:xfrm>
          <a:solidFill>
            <a:schemeClr val="bg1"/>
          </a:solidFill>
        </p:grpSpPr>
        <p:sp>
          <p:nvSpPr>
            <p:cNvPr id="76" name="Line 261">
              <a:extLst>
                <a:ext uri="{FF2B5EF4-FFF2-40B4-BE49-F238E27FC236}">
                  <a16:creationId xmlns:a16="http://schemas.microsoft.com/office/drawing/2014/main" id="{02209CAA-7D67-5B8E-A51E-4DE005E8E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" y="1567"/>
              <a:ext cx="1912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Line 262">
              <a:extLst>
                <a:ext uri="{FF2B5EF4-FFF2-40B4-BE49-F238E27FC236}">
                  <a16:creationId xmlns:a16="http://schemas.microsoft.com/office/drawing/2014/main" id="{168B3E24-8514-B796-2822-9216CB97E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9" y="956"/>
              <a:ext cx="0" cy="598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19198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B7C7-56C5-7400-D91F-9F8C65A8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0B8763D-501E-0289-DB12-5262A223C2D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DC499CE9-B182-09E1-43AB-B8E86315734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83542D-649A-790A-704E-B10125AA12A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D95CF1-8173-7D4C-E273-B5A6D27F9FF1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B52501-1D33-1B85-8749-4ABFF06D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B408012-B9C5-ACB5-B15B-F57B7C6CE7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the modulated signal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1+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/>
                              </a:rPr>
                              <m:t>Ω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𝑡</m:t>
                            </m:r>
                          </m:e>
                        </m:func>
                      </m:e>
                    </m:d>
                    <m:func>
                      <m:func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calculate, when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(or 100%) and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</a:rPr>
                      <m:t>=0.5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(or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cs typeface="Arial" panose="020B0604020202020204" pitchFamily="34" charset="0"/>
                      </a:rPr>
                      <m:t>50%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the ratio of the sum of the two sideband powers to the total modulated signal power.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B408012-B9C5-ACB5-B15B-F57B7C6CE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602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28E1F-2892-9FDF-F435-ED6316AA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63C407C-B906-1FE8-46A1-944FD31C22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2A4E0A9D-869E-8AA9-0521-871E6CFFF33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30B397-ED7A-776E-DECF-344DD1D4851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A1F547-81D6-A563-8655-8BD675A9B019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AM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A3FD18-140D-C220-C320-7E8A2E21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11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B44A2CB-2BEA-6D89-8453-132202361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12110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 envelope detector is normally used to restore the original modulating signal.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envelope detector consists of a rectifier and a low-pass filter. 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capacitor is used to separate the DC component</a:t>
            </a:r>
          </a:p>
          <a:p>
            <a:pPr marL="0" indent="0">
              <a:lnSpc>
                <a:spcPct val="130000"/>
              </a:lnSpc>
              <a:buNone/>
            </a:pPr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65">
            <a:extLst>
              <a:ext uri="{FF2B5EF4-FFF2-40B4-BE49-F238E27FC236}">
                <a16:creationId xmlns:a16="http://schemas.microsoft.com/office/drawing/2014/main" id="{F27EF660-F956-4A5D-9A46-2086EE549183}"/>
              </a:ext>
            </a:extLst>
          </p:cNvPr>
          <p:cNvGrpSpPr>
            <a:grpSpLocks/>
          </p:cNvGrpSpPr>
          <p:nvPr/>
        </p:nvGrpSpPr>
        <p:grpSpPr bwMode="auto">
          <a:xfrm>
            <a:off x="2151856" y="3746500"/>
            <a:ext cx="6389688" cy="2611438"/>
            <a:chOff x="754" y="572"/>
            <a:chExt cx="4025" cy="1645"/>
          </a:xfrm>
          <a:solidFill>
            <a:schemeClr val="bg1"/>
          </a:solidFill>
        </p:grpSpPr>
        <p:sp>
          <p:nvSpPr>
            <p:cNvPr id="4" name="Rectangle 64">
              <a:extLst>
                <a:ext uri="{FF2B5EF4-FFF2-40B4-BE49-F238E27FC236}">
                  <a16:creationId xmlns:a16="http://schemas.microsoft.com/office/drawing/2014/main" id="{22381960-2BF9-9EF8-4639-4279E4651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572"/>
              <a:ext cx="4025" cy="164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" name="Group 43">
              <a:extLst>
                <a:ext uri="{FF2B5EF4-FFF2-40B4-BE49-F238E27FC236}">
                  <a16:creationId xmlns:a16="http://schemas.microsoft.com/office/drawing/2014/main" id="{4DFC35CA-03E0-4BD8-C56F-AF0EFE2332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686"/>
              <a:ext cx="3856" cy="1474"/>
              <a:chOff x="1823" y="12033"/>
              <a:chExt cx="7981" cy="2976"/>
            </a:xfrm>
            <a:grpFill/>
          </p:grpSpPr>
          <p:grpSp>
            <p:nvGrpSpPr>
              <p:cNvPr id="11" name="Group 44">
                <a:extLst>
                  <a:ext uri="{FF2B5EF4-FFF2-40B4-BE49-F238E27FC236}">
                    <a16:creationId xmlns:a16="http://schemas.microsoft.com/office/drawing/2014/main" id="{59ED4FC0-BDB8-C20E-0A40-90BD945ADC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3" y="12033"/>
                <a:ext cx="7950" cy="2538"/>
                <a:chOff x="1980" y="10722"/>
                <a:chExt cx="7950" cy="2538"/>
              </a:xfrm>
              <a:grpFill/>
            </p:grpSpPr>
            <p:grpSp>
              <p:nvGrpSpPr>
                <p:cNvPr id="13" name="Group 45">
                  <a:extLst>
                    <a:ext uri="{FF2B5EF4-FFF2-40B4-BE49-F238E27FC236}">
                      <a16:creationId xmlns:a16="http://schemas.microsoft.com/office/drawing/2014/main" id="{E023BF76-FA46-3083-5DC0-A733175A15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0" y="10722"/>
                  <a:ext cx="7950" cy="2244"/>
                  <a:chOff x="2160" y="5652"/>
                  <a:chExt cx="7950" cy="2244"/>
                </a:xfrm>
                <a:grpFill/>
              </p:grpSpPr>
              <p:pic>
                <p:nvPicPr>
                  <p:cNvPr id="28" name="Picture 46" descr="m(t)波形">
                    <a:extLst>
                      <a:ext uri="{FF2B5EF4-FFF2-40B4-BE49-F238E27FC236}">
                        <a16:creationId xmlns:a16="http://schemas.microsoft.com/office/drawing/2014/main" id="{045E6E54-160D-9492-929E-275810DFC36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740" y="5808"/>
                    <a:ext cx="2370" cy="1401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9" name="Picture 47" descr="R(t)波形">
                    <a:extLst>
                      <a:ext uri="{FF2B5EF4-FFF2-40B4-BE49-F238E27FC236}">
                        <a16:creationId xmlns:a16="http://schemas.microsoft.com/office/drawing/2014/main" id="{79D00F38-BB1C-8CE9-77ED-57FB2347767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552" b="51337"/>
                  <a:stretch>
                    <a:fillRect/>
                  </a:stretch>
                </p:blipFill>
                <p:spPr bwMode="auto">
                  <a:xfrm>
                    <a:off x="5040" y="6120"/>
                    <a:ext cx="2160" cy="1092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0" name="Picture 48" descr="R(t)波形">
                    <a:extLst>
                      <a:ext uri="{FF2B5EF4-FFF2-40B4-BE49-F238E27FC236}">
                        <a16:creationId xmlns:a16="http://schemas.microsoft.com/office/drawing/2014/main" id="{493A87B0-B5A5-F19D-F9DE-4BD86249940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60" y="5652"/>
                    <a:ext cx="2172" cy="2244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4" name="Group 49">
                  <a:extLst>
                    <a:ext uri="{FF2B5EF4-FFF2-40B4-BE49-F238E27FC236}">
                      <a16:creationId xmlns:a16="http://schemas.microsoft.com/office/drawing/2014/main" id="{8DCCD4B7-839F-A7B4-DF46-209DBEBC6D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52" y="12750"/>
                  <a:ext cx="6158" cy="510"/>
                  <a:chOff x="1892" y="12750"/>
                  <a:chExt cx="6158" cy="510"/>
                </a:xfrm>
                <a:grpFill/>
              </p:grpSpPr>
              <p:grpSp>
                <p:nvGrpSpPr>
                  <p:cNvPr id="18" name="Group 50">
                    <a:extLst>
                      <a:ext uri="{FF2B5EF4-FFF2-40B4-BE49-F238E27FC236}">
                        <a16:creationId xmlns:a16="http://schemas.microsoft.com/office/drawing/2014/main" id="{32793AF0-C5CC-52B1-4299-70F12312132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90" y="12750"/>
                    <a:ext cx="4036" cy="510"/>
                    <a:chOff x="3090" y="12750"/>
                    <a:chExt cx="4036" cy="510"/>
                  </a:xfrm>
                  <a:grpFill/>
                </p:grpSpPr>
                <p:sp>
                  <p:nvSpPr>
                    <p:cNvPr id="26" name="Text Box 51">
                      <a:extLst>
                        <a:ext uri="{FF2B5EF4-FFF2-40B4-BE49-F238E27FC236}">
                          <a16:creationId xmlns:a16="http://schemas.microsoft.com/office/drawing/2014/main" id="{2E58A194-AFC7-55BD-9EAF-9121ADF7B02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90" y="12750"/>
                      <a:ext cx="1410" cy="51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pPr algn="ctr"/>
                      <a:r>
                        <a:rPr lang="en-US" altLang="zh-CN" sz="1600" baseline="-25000" dirty="0">
                          <a:latin typeface="Times New Roman" pitchFamily="18" charset="0"/>
                        </a:rPr>
                        <a:t>Rectifier</a:t>
                      </a:r>
                      <a:endParaRPr lang="en-US" altLang="zh-CN" sz="2800" dirty="0"/>
                    </a:p>
                  </p:txBody>
                </p:sp>
                <p:sp>
                  <p:nvSpPr>
                    <p:cNvPr id="27" name="Text Box 52">
                      <a:extLst>
                        <a:ext uri="{FF2B5EF4-FFF2-40B4-BE49-F238E27FC236}">
                          <a16:creationId xmlns:a16="http://schemas.microsoft.com/office/drawing/2014/main" id="{50D862A2-BE66-5000-300C-CF2DDFFF5BD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716" y="12750"/>
                      <a:ext cx="1410" cy="51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rIns="0"/>
                    <a:lstStyle/>
                    <a:p>
                      <a:pPr algn="ctr"/>
                      <a:r>
                        <a:rPr lang="en-US" altLang="zh-CN" sz="1600" baseline="-25000">
                          <a:latin typeface="Times New Roman" pitchFamily="18" charset="0"/>
                        </a:rPr>
                        <a:t>Low-pass filter</a:t>
                      </a:r>
                      <a:endParaRPr lang="en-US" altLang="zh-CN" sz="2800"/>
                    </a:p>
                  </p:txBody>
                </p:sp>
              </p:grpSp>
              <p:grpSp>
                <p:nvGrpSpPr>
                  <p:cNvPr id="19" name="Group 53">
                    <a:extLst>
                      <a:ext uri="{FF2B5EF4-FFF2-40B4-BE49-F238E27FC236}">
                        <a16:creationId xmlns:a16="http://schemas.microsoft.com/office/drawing/2014/main" id="{B859F112-AC84-52F3-55EC-0328E8565B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134" y="12893"/>
                    <a:ext cx="916" cy="225"/>
                    <a:chOff x="7154" y="12900"/>
                    <a:chExt cx="916" cy="225"/>
                  </a:xfrm>
                  <a:grpFill/>
                </p:grpSpPr>
                <p:sp>
                  <p:nvSpPr>
                    <p:cNvPr id="22" name="Line 54">
                      <a:extLst>
                        <a:ext uri="{FF2B5EF4-FFF2-40B4-BE49-F238E27FC236}">
                          <a16:creationId xmlns:a16="http://schemas.microsoft.com/office/drawing/2014/main" id="{C644FC1F-FFE1-443A-9F7B-D19081D392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54" y="13005"/>
                      <a:ext cx="314" cy="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3" name="Line 55">
                      <a:extLst>
                        <a:ext uri="{FF2B5EF4-FFF2-40B4-BE49-F238E27FC236}">
                          <a16:creationId xmlns:a16="http://schemas.microsoft.com/office/drawing/2014/main" id="{CD9B35CF-D05B-E93F-DB52-4A39DADF46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470" y="12900"/>
                      <a:ext cx="4" cy="225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4" name="Line 56">
                      <a:extLst>
                        <a:ext uri="{FF2B5EF4-FFF2-40B4-BE49-F238E27FC236}">
                          <a16:creationId xmlns:a16="http://schemas.microsoft.com/office/drawing/2014/main" id="{6B35DD56-650B-E717-BD27-E6FF880494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514" y="12900"/>
                      <a:ext cx="4" cy="225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5" name="Line 57">
                      <a:extLst>
                        <a:ext uri="{FF2B5EF4-FFF2-40B4-BE49-F238E27FC236}">
                          <a16:creationId xmlns:a16="http://schemas.microsoft.com/office/drawing/2014/main" id="{E5C789F9-E93C-10D8-07C4-E9519241C1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520" y="13005"/>
                      <a:ext cx="550" cy="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20" name="Line 58">
                    <a:extLst>
                      <a:ext uri="{FF2B5EF4-FFF2-40B4-BE49-F238E27FC236}">
                        <a16:creationId xmlns:a16="http://schemas.microsoft.com/office/drawing/2014/main" id="{6EC22BE9-E36B-ED08-4939-34DBE7DF77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00" y="13005"/>
                    <a:ext cx="1214" cy="0"/>
                  </a:xfrm>
                  <a:prstGeom prst="lin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1" name="Line 59">
                    <a:extLst>
                      <a:ext uri="{FF2B5EF4-FFF2-40B4-BE49-F238E27FC236}">
                        <a16:creationId xmlns:a16="http://schemas.microsoft.com/office/drawing/2014/main" id="{9A86471E-7128-FF82-84A0-33560DBC45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3005"/>
                    <a:ext cx="1214" cy="0"/>
                  </a:xfrm>
                  <a:prstGeom prst="lin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5" name="Line 60">
                  <a:extLst>
                    <a:ext uri="{FF2B5EF4-FFF2-40B4-BE49-F238E27FC236}">
                      <a16:creationId xmlns:a16="http://schemas.microsoft.com/office/drawing/2014/main" id="{DC0F85A0-88DE-C4B6-E591-D2C65B29B5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0" y="12525"/>
                  <a:ext cx="224" cy="435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" name="Line 61">
                  <a:extLst>
                    <a:ext uri="{FF2B5EF4-FFF2-40B4-BE49-F238E27FC236}">
                      <a16:creationId xmlns:a16="http://schemas.microsoft.com/office/drawing/2014/main" id="{2CFCCAE0-2147-798E-3234-BB35CBE07C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4" y="12405"/>
                  <a:ext cx="0" cy="525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" name="Line 62">
                  <a:extLst>
                    <a:ext uri="{FF2B5EF4-FFF2-40B4-BE49-F238E27FC236}">
                      <a16:creationId xmlns:a16="http://schemas.microsoft.com/office/drawing/2014/main" id="{1938A08A-A52A-71E0-97B0-34B99B640C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714" y="12045"/>
                  <a:ext cx="450" cy="915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2" name="Text Box 63">
                <a:extLst>
                  <a:ext uri="{FF2B5EF4-FFF2-40B4-BE49-F238E27FC236}">
                    <a16:creationId xmlns:a16="http://schemas.microsoft.com/office/drawing/2014/main" id="{CDD36AA3-29E8-EF78-1275-7C5EE061C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0" y="14619"/>
                <a:ext cx="7704" cy="39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Envelope detector</a:t>
                </a:r>
                <a:endParaRPr lang="en-US" altLang="zh-CN" sz="2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814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968A-99D9-A2BD-7315-0F7BDD05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21FFBE4C-3A5C-0150-14D2-1AC92D337A8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E337A44-9FB9-1419-50C4-F84553E2841A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D3368C-A092-CB96-D942-B6583B9215C5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F2565C-4C18-BDEC-7C4E-357D0151B09A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C33C8CA-C1FA-4E5C-050A-FD88C698A44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3D0DE2A-B86C-623D-92D6-CC00C1E598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C32DBA7F-5750-DFC7-B301-0424D965AE9D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2173158-AB15-17A0-A2ED-ACCF159AD68C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CE621D-62CA-97AD-4F8B-FF654A5E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006E54-928A-2F04-5EB1-9D06967B2A11}"/>
              </a:ext>
            </a:extLst>
          </p:cNvPr>
          <p:cNvSpPr txBox="1"/>
          <p:nvPr/>
        </p:nvSpPr>
        <p:spPr>
          <a:xfrm>
            <a:off x="5270500" y="1720850"/>
            <a:ext cx="53340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(AM)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Double-sideband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(DSB)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(SSB)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(VSB)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Angle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</p:txBody>
      </p:sp>
    </p:spTree>
    <p:extLst>
      <p:ext uri="{BB962C8B-B14F-4D97-AF65-F5344CB8AC3E}">
        <p14:creationId xmlns:p14="http://schemas.microsoft.com/office/powerpoint/2010/main" val="244953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7777-A016-BCE1-709B-C95C4BBEC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1C67FD0-3C89-298C-E0BD-89AC0F92A8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6DC71F32-1517-E79F-38D0-124573A1F07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D313C2-C20D-6AA9-05CE-861F71B618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944649-F5C7-3DDF-14CB-3415BAF70301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Double-sideband Modulation (DSB)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5A1B2F-74EF-FE91-D501-7FACB84F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8D459C4-F046-8CC6-2469-A24754D78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the modulating signal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does not contain DC component, there is no carrier in the output signal of the multiplier.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This kind of modulation is called </a:t>
                </a:r>
                <a:r>
                  <a:rPr lang="en-GB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DSB</a:t>
                </a: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since its frequency spectrum contains two sidebands.</a:t>
                </a:r>
              </a:p>
              <a:p>
                <a:pPr>
                  <a:lnSpc>
                    <a:spcPct val="130000"/>
                  </a:lnSpc>
                </a:pPr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two sidebands are called upper-sideband and lower-sideband respectively, which contain the same information.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efficiency of DSB signal is much higher than AM signal. Their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spectrum efficiencies are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same.</a:t>
                </a: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8D459C4-F046-8CC6-2469-A24754D78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 r="-1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56">
            <a:extLst>
              <a:ext uri="{FF2B5EF4-FFF2-40B4-BE49-F238E27FC236}">
                <a16:creationId xmlns:a16="http://schemas.microsoft.com/office/drawing/2014/main" id="{B79285DF-AD5D-057E-5DDC-2E0E55724284}"/>
              </a:ext>
            </a:extLst>
          </p:cNvPr>
          <p:cNvGrpSpPr>
            <a:grpSpLocks/>
          </p:cNvGrpSpPr>
          <p:nvPr/>
        </p:nvGrpSpPr>
        <p:grpSpPr bwMode="auto">
          <a:xfrm>
            <a:off x="1419857" y="5142551"/>
            <a:ext cx="7491168" cy="2293720"/>
            <a:chOff x="1229" y="2184"/>
            <a:chExt cx="8803" cy="2028"/>
          </a:xfrm>
          <a:noFill/>
        </p:grpSpPr>
        <p:grpSp>
          <p:nvGrpSpPr>
            <p:cNvPr id="37" name="Group 57">
              <a:extLst>
                <a:ext uri="{FF2B5EF4-FFF2-40B4-BE49-F238E27FC236}">
                  <a16:creationId xmlns:a16="http://schemas.microsoft.com/office/drawing/2014/main" id="{C0F92E35-64D0-B824-8679-488F71F86D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4" y="2184"/>
              <a:ext cx="7891" cy="1716"/>
              <a:chOff x="1864" y="2184"/>
              <a:chExt cx="7891" cy="1716"/>
            </a:xfrm>
            <a:grpFill/>
          </p:grpSpPr>
          <p:grpSp>
            <p:nvGrpSpPr>
              <p:cNvPr id="44" name="Group 58">
                <a:extLst>
                  <a:ext uri="{FF2B5EF4-FFF2-40B4-BE49-F238E27FC236}">
                    <a16:creationId xmlns:a16="http://schemas.microsoft.com/office/drawing/2014/main" id="{AA32E2FD-4227-DD3F-8B60-A31A583283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4" y="2184"/>
                <a:ext cx="7891" cy="1716"/>
                <a:chOff x="2115" y="9549"/>
                <a:chExt cx="7891" cy="1716"/>
              </a:xfrm>
              <a:grpFill/>
            </p:grpSpPr>
            <p:grpSp>
              <p:nvGrpSpPr>
                <p:cNvPr id="49" name="Group 59">
                  <a:extLst>
                    <a:ext uri="{FF2B5EF4-FFF2-40B4-BE49-F238E27FC236}">
                      <a16:creationId xmlns:a16="http://schemas.microsoft.com/office/drawing/2014/main" id="{F636FBAD-BB28-450D-9F5C-FD215728E0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15" y="9549"/>
                  <a:ext cx="2588" cy="1585"/>
                  <a:chOff x="2115" y="9549"/>
                  <a:chExt cx="2588" cy="1585"/>
                </a:xfrm>
                <a:grpFill/>
              </p:grpSpPr>
              <p:pic>
                <p:nvPicPr>
                  <p:cNvPr id="66" name="Picture 60" descr="SSB频谱产生">
                    <a:extLst>
                      <a:ext uri="{FF2B5EF4-FFF2-40B4-BE49-F238E27FC236}">
                        <a16:creationId xmlns:a16="http://schemas.microsoft.com/office/drawing/2014/main" id="{C076E0CC-777E-AF38-C801-04B1DE15891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17" y="9877"/>
                    <a:ext cx="469" cy="103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67" name="Picture 61" descr="SSB频谱产生">
                    <a:extLst>
                      <a:ext uri="{FF2B5EF4-FFF2-40B4-BE49-F238E27FC236}">
                        <a16:creationId xmlns:a16="http://schemas.microsoft.com/office/drawing/2014/main" id="{9E33F7B7-7A54-669E-0681-80B298A82FA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527" y="9879"/>
                    <a:ext cx="468" cy="103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8" name="Line 62">
                    <a:extLst>
                      <a:ext uri="{FF2B5EF4-FFF2-40B4-BE49-F238E27FC236}">
                        <a16:creationId xmlns:a16="http://schemas.microsoft.com/office/drawing/2014/main" id="{00633322-DB6A-6116-D409-C51087BA63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11" y="9864"/>
                    <a:ext cx="10" cy="951"/>
                  </a:xfrm>
                  <a:prstGeom prst="line">
                    <a:avLst/>
                  </a:prstGeom>
                  <a:grp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9" name="Text Box 63">
                    <a:extLst>
                      <a:ext uri="{FF2B5EF4-FFF2-40B4-BE49-F238E27FC236}">
                        <a16:creationId xmlns:a16="http://schemas.microsoft.com/office/drawing/2014/main" id="{E2F98D98-6CF0-E811-6F4E-AF1A3B33CD0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10" y="9549"/>
                    <a:ext cx="795" cy="46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 i="1">
                        <a:latin typeface="Times New Roman" pitchFamily="18" charset="0"/>
                      </a:rPr>
                      <a:t>M</a:t>
                    </a:r>
                    <a:r>
                      <a:rPr lang="en-US" altLang="zh-CN" sz="1600">
                        <a:latin typeface="Times New Roman" pitchFamily="18" charset="0"/>
                      </a:rPr>
                      <a:t>(</a:t>
                    </a:r>
                    <a:r>
                      <a:rPr lang="en-US" altLang="zh-CN" sz="1600" i="1">
                        <a:latin typeface="Times New Roman" pitchFamily="18" charset="0"/>
                      </a:rPr>
                      <a:t>f</a:t>
                    </a:r>
                    <a:r>
                      <a:rPr lang="en-US" altLang="zh-CN" sz="1600">
                        <a:latin typeface="Times New Roman" pitchFamily="18" charset="0"/>
                      </a:rPr>
                      <a:t>)</a:t>
                    </a:r>
                    <a:endParaRPr lang="en-US" altLang="zh-CN" sz="2800"/>
                  </a:p>
                </p:txBody>
              </p:sp>
              <p:sp>
                <p:nvSpPr>
                  <p:cNvPr id="70" name="Line 64">
                    <a:extLst>
                      <a:ext uri="{FF2B5EF4-FFF2-40B4-BE49-F238E27FC236}">
                        <a16:creationId xmlns:a16="http://schemas.microsoft.com/office/drawing/2014/main" id="{FA2ADD01-ECDA-73F7-A563-C11343083A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5" y="10825"/>
                    <a:ext cx="2152" cy="0"/>
                  </a:xfrm>
                  <a:prstGeom prst="line">
                    <a:avLst/>
                  </a:prstGeom>
                  <a:grp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1" name="Text Box 65">
                    <a:extLst>
                      <a:ext uri="{FF2B5EF4-FFF2-40B4-BE49-F238E27FC236}">
                        <a16:creationId xmlns:a16="http://schemas.microsoft.com/office/drawing/2014/main" id="{898ABD83-DF45-4397-B4C2-86006B02DD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40" y="10602"/>
                    <a:ext cx="463" cy="50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 i="1">
                        <a:latin typeface="Times New Roman" pitchFamily="18" charset="0"/>
                      </a:rPr>
                      <a:t>f</a:t>
                    </a:r>
                    <a:endParaRPr lang="en-US" altLang="zh-CN" sz="2800"/>
                  </a:p>
                </p:txBody>
              </p:sp>
              <p:sp>
                <p:nvSpPr>
                  <p:cNvPr id="72" name="Text Box 66">
                    <a:extLst>
                      <a:ext uri="{FF2B5EF4-FFF2-40B4-BE49-F238E27FC236}">
                        <a16:creationId xmlns:a16="http://schemas.microsoft.com/office/drawing/2014/main" id="{44875403-3902-7438-B3F0-81D77D5574A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60" y="10746"/>
                    <a:ext cx="464" cy="38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 dirty="0">
                        <a:latin typeface="Times New Roman" pitchFamily="18" charset="0"/>
                      </a:rPr>
                      <a:t>0</a:t>
                    </a:r>
                    <a:endParaRPr lang="en-US" altLang="zh-CN" sz="2800" dirty="0"/>
                  </a:p>
                </p:txBody>
              </p:sp>
            </p:grpSp>
            <p:grpSp>
              <p:nvGrpSpPr>
                <p:cNvPr id="50" name="Group 67">
                  <a:extLst>
                    <a:ext uri="{FF2B5EF4-FFF2-40B4-BE49-F238E27FC236}">
                      <a16:creationId xmlns:a16="http://schemas.microsoft.com/office/drawing/2014/main" id="{36E92C9F-E95A-3BF8-8FDC-A7B1F84867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32" y="9549"/>
                  <a:ext cx="4974" cy="1716"/>
                  <a:chOff x="5032" y="9549"/>
                  <a:chExt cx="4974" cy="1716"/>
                </a:xfrm>
                <a:grpFill/>
              </p:grpSpPr>
              <p:sp>
                <p:nvSpPr>
                  <p:cNvPr id="51" name="Text Box 68">
                    <a:extLst>
                      <a:ext uri="{FF2B5EF4-FFF2-40B4-BE49-F238E27FC236}">
                        <a16:creationId xmlns:a16="http://schemas.microsoft.com/office/drawing/2014/main" id="{E700E120-3D8F-3C51-B636-6429FAC0D1B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96" y="10764"/>
                    <a:ext cx="556" cy="489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 i="1">
                        <a:latin typeface="Times New Roman" pitchFamily="18" charset="0"/>
                      </a:rPr>
                      <a:t>f</a:t>
                    </a:r>
                    <a:r>
                      <a:rPr lang="en-US" altLang="zh-CN" sz="1600" baseline="-25000">
                        <a:latin typeface="Times New Roman" pitchFamily="18" charset="0"/>
                      </a:rPr>
                      <a:t>0</a:t>
                    </a:r>
                    <a:endParaRPr lang="en-US" altLang="zh-CN" sz="2800"/>
                  </a:p>
                </p:txBody>
              </p:sp>
              <p:sp>
                <p:nvSpPr>
                  <p:cNvPr id="52" name="Text Box 69">
                    <a:extLst>
                      <a:ext uri="{FF2B5EF4-FFF2-40B4-BE49-F238E27FC236}">
                        <a16:creationId xmlns:a16="http://schemas.microsoft.com/office/drawing/2014/main" id="{9ABA2F1F-F51E-A7CE-998E-D66E905E06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57" y="10753"/>
                    <a:ext cx="568" cy="512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>
                        <a:latin typeface="Times New Roman" pitchFamily="18" charset="0"/>
                      </a:rPr>
                      <a:t>0</a:t>
                    </a:r>
                    <a:endParaRPr lang="en-US" altLang="zh-CN" sz="2800"/>
                  </a:p>
                </p:txBody>
              </p:sp>
              <p:sp>
                <p:nvSpPr>
                  <p:cNvPr id="53" name="Text Box 70">
                    <a:extLst>
                      <a:ext uri="{FF2B5EF4-FFF2-40B4-BE49-F238E27FC236}">
                        <a16:creationId xmlns:a16="http://schemas.microsoft.com/office/drawing/2014/main" id="{51EF44C4-C6FE-F56C-F2FD-0BFA0A0860D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84" y="10749"/>
                    <a:ext cx="654" cy="401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>
                        <a:latin typeface="Times New Roman" pitchFamily="18" charset="0"/>
                      </a:rPr>
                      <a:t>-</a:t>
                    </a:r>
                    <a:r>
                      <a:rPr lang="en-US" altLang="zh-CN" sz="1600" i="1">
                        <a:latin typeface="Times New Roman" pitchFamily="18" charset="0"/>
                      </a:rPr>
                      <a:t>f</a:t>
                    </a:r>
                    <a:r>
                      <a:rPr lang="en-US" altLang="zh-CN" sz="1600" baseline="-25000">
                        <a:latin typeface="Times New Roman" pitchFamily="18" charset="0"/>
                      </a:rPr>
                      <a:t>0</a:t>
                    </a:r>
                    <a:endParaRPr lang="en-US" altLang="zh-CN" sz="2800"/>
                  </a:p>
                </p:txBody>
              </p:sp>
              <p:sp>
                <p:nvSpPr>
                  <p:cNvPr id="54" name="Text Box 71">
                    <a:extLst>
                      <a:ext uri="{FF2B5EF4-FFF2-40B4-BE49-F238E27FC236}">
                        <a16:creationId xmlns:a16="http://schemas.microsoft.com/office/drawing/2014/main" id="{4D5354B7-7368-714E-AEB5-89A1A8849A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541" y="10659"/>
                    <a:ext cx="465" cy="46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 i="1">
                        <a:latin typeface="Times New Roman" pitchFamily="18" charset="0"/>
                      </a:rPr>
                      <a:t>f</a:t>
                    </a:r>
                    <a:endParaRPr lang="en-US" altLang="zh-CN" sz="2800"/>
                  </a:p>
                </p:txBody>
              </p:sp>
              <p:grpSp>
                <p:nvGrpSpPr>
                  <p:cNvPr id="55" name="Group 72">
                    <a:extLst>
                      <a:ext uri="{FF2B5EF4-FFF2-40B4-BE49-F238E27FC236}">
                        <a16:creationId xmlns:a16="http://schemas.microsoft.com/office/drawing/2014/main" id="{F3CB0252-6E89-6460-725E-A56CE6716E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032" y="9605"/>
                    <a:ext cx="4550" cy="1284"/>
                    <a:chOff x="5032" y="9605"/>
                    <a:chExt cx="4550" cy="1284"/>
                  </a:xfrm>
                  <a:grpFill/>
                </p:grpSpPr>
                <p:pic>
                  <p:nvPicPr>
                    <p:cNvPr id="57" name="Picture 73" descr="SSB频谱产生">
                      <a:extLst>
                        <a:ext uri="{FF2B5EF4-FFF2-40B4-BE49-F238E27FC236}">
                          <a16:creationId xmlns:a16="http://schemas.microsoft.com/office/drawing/2014/main" id="{FE673F58-586C-7E32-0EB9-901EE55136D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flipH="1">
                      <a:off x="8247" y="10134"/>
                      <a:ext cx="469" cy="739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58" name="Picture 74" descr="SSB频谱产生">
                      <a:extLst>
                        <a:ext uri="{FF2B5EF4-FFF2-40B4-BE49-F238E27FC236}">
                          <a16:creationId xmlns:a16="http://schemas.microsoft.com/office/drawing/2014/main" id="{48F33B4F-715B-0C73-6362-5129E55E012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1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8956" y="10134"/>
                      <a:ext cx="467" cy="739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59" name="Picture 75" descr="SSB频谱产生">
                      <a:extLst>
                        <a:ext uri="{FF2B5EF4-FFF2-40B4-BE49-F238E27FC236}">
                          <a16:creationId xmlns:a16="http://schemas.microsoft.com/office/drawing/2014/main" id="{F8BAB310-53F1-F7B8-3740-C5E52A739B5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flipH="1">
                      <a:off x="5262" y="10176"/>
                      <a:ext cx="467" cy="7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60" name="Picture 76" descr="SSB频谱产生">
                      <a:extLst>
                        <a:ext uri="{FF2B5EF4-FFF2-40B4-BE49-F238E27FC236}">
                          <a16:creationId xmlns:a16="http://schemas.microsoft.com/office/drawing/2014/main" id="{493CCC5D-583B-2725-36CB-772F83EECE3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970" y="10176"/>
                      <a:ext cx="468" cy="7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grpSp>
                  <p:nvGrpSpPr>
                    <p:cNvPr id="61" name="Group 77">
                      <a:extLst>
                        <a:ext uri="{FF2B5EF4-FFF2-40B4-BE49-F238E27FC236}">
                          <a16:creationId xmlns:a16="http://schemas.microsoft.com/office/drawing/2014/main" id="{68708FDD-2316-5576-F955-CA4E9BC4CC1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32" y="9605"/>
                      <a:ext cx="4550" cy="1204"/>
                      <a:chOff x="5032" y="9605"/>
                      <a:chExt cx="4550" cy="1204"/>
                    </a:xfrm>
                    <a:grpFill/>
                  </p:grpSpPr>
                  <p:sp>
                    <p:nvSpPr>
                      <p:cNvPr id="62" name="Line 78">
                        <a:extLst>
                          <a:ext uri="{FF2B5EF4-FFF2-40B4-BE49-F238E27FC236}">
                            <a16:creationId xmlns:a16="http://schemas.microsoft.com/office/drawing/2014/main" id="{6CC12D2D-20BF-7DB4-252F-5B89E80BD4A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8864" y="10626"/>
                        <a:ext cx="1" cy="165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3" name="Line 79">
                        <a:extLst>
                          <a:ext uri="{FF2B5EF4-FFF2-40B4-BE49-F238E27FC236}">
                            <a16:creationId xmlns:a16="http://schemas.microsoft.com/office/drawing/2014/main" id="{8A529238-4204-6AB2-39B7-C3B057476A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032" y="10809"/>
                        <a:ext cx="4550" cy="0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4" name="Line 80">
                        <a:extLst>
                          <a:ext uri="{FF2B5EF4-FFF2-40B4-BE49-F238E27FC236}">
                            <a16:creationId xmlns:a16="http://schemas.microsoft.com/office/drawing/2014/main" id="{DCCB45B0-0300-1694-1FA4-D95E31B2F98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7361" y="9605"/>
                        <a:ext cx="0" cy="1204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65" name="Line 81">
                        <a:extLst>
                          <a:ext uri="{FF2B5EF4-FFF2-40B4-BE49-F238E27FC236}">
                            <a16:creationId xmlns:a16="http://schemas.microsoft.com/office/drawing/2014/main" id="{0068A43A-6F39-A2A3-889A-48ABF59F8B8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861" y="10667"/>
                        <a:ext cx="0" cy="13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</p:grpSp>
              <p:sp>
                <p:nvSpPr>
                  <p:cNvPr id="56" name="Text Box 82">
                    <a:extLst>
                      <a:ext uri="{FF2B5EF4-FFF2-40B4-BE49-F238E27FC236}">
                        <a16:creationId xmlns:a16="http://schemas.microsoft.com/office/drawing/2014/main" id="{5FCD6B73-F688-365B-8B19-EFCFEA75DF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33" y="9549"/>
                    <a:ext cx="757" cy="46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600" i="1">
                        <a:latin typeface="Times New Roman" pitchFamily="18" charset="0"/>
                      </a:rPr>
                      <a:t>S</a:t>
                    </a:r>
                    <a:r>
                      <a:rPr lang="en-US" altLang="zh-CN" sz="1600">
                        <a:latin typeface="Times New Roman" pitchFamily="18" charset="0"/>
                      </a:rPr>
                      <a:t>(</a:t>
                    </a:r>
                    <a:r>
                      <a:rPr lang="en-US" altLang="zh-CN" sz="1600" i="1">
                        <a:latin typeface="Times New Roman" pitchFamily="18" charset="0"/>
                      </a:rPr>
                      <a:t>f</a:t>
                    </a:r>
                    <a:r>
                      <a:rPr lang="en-US" altLang="zh-CN" sz="1600">
                        <a:latin typeface="Times New Roman" pitchFamily="18" charset="0"/>
                      </a:rPr>
                      <a:t>)</a:t>
                    </a:r>
                    <a:endParaRPr lang="en-US" altLang="zh-CN" sz="2800"/>
                  </a:p>
                </p:txBody>
              </p:sp>
            </p:grpSp>
          </p:grpSp>
          <p:sp>
            <p:nvSpPr>
              <p:cNvPr id="45" name="Line 83">
                <a:extLst>
                  <a:ext uri="{FF2B5EF4-FFF2-40B4-BE49-F238E27FC236}">
                    <a16:creationId xmlns:a16="http://schemas.microsoft.com/office/drawing/2014/main" id="{F0303F67-79A7-14F3-589D-EFBB1B789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76" y="2895"/>
                <a:ext cx="436" cy="285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Line 84">
                <a:extLst>
                  <a:ext uri="{FF2B5EF4-FFF2-40B4-BE49-F238E27FC236}">
                    <a16:creationId xmlns:a16="http://schemas.microsoft.com/office/drawing/2014/main" id="{76A775DB-A853-90C6-2B9E-FA0E9B81E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6" y="2850"/>
                <a:ext cx="316" cy="285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Line 85">
                <a:extLst>
                  <a:ext uri="{FF2B5EF4-FFF2-40B4-BE49-F238E27FC236}">
                    <a16:creationId xmlns:a16="http://schemas.microsoft.com/office/drawing/2014/main" id="{10AA4E64-0F10-B4B6-9FBF-69200AC74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68" y="2820"/>
                <a:ext cx="1080" cy="33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8" name="Line 86">
                <a:extLst>
                  <a:ext uri="{FF2B5EF4-FFF2-40B4-BE49-F238E27FC236}">
                    <a16:creationId xmlns:a16="http://schemas.microsoft.com/office/drawing/2014/main" id="{8B741244-AC5B-0098-CE5A-43672B9BB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934" y="2652"/>
                <a:ext cx="450" cy="24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8" name="Group 87">
              <a:extLst>
                <a:ext uri="{FF2B5EF4-FFF2-40B4-BE49-F238E27FC236}">
                  <a16:creationId xmlns:a16="http://schemas.microsoft.com/office/drawing/2014/main" id="{6104BF81-63F1-DFDF-4E0D-7E0158E52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9" y="2364"/>
              <a:ext cx="8803" cy="1848"/>
              <a:chOff x="1229" y="2364"/>
              <a:chExt cx="8803" cy="1848"/>
            </a:xfrm>
            <a:grpFill/>
          </p:grpSpPr>
          <p:sp>
            <p:nvSpPr>
              <p:cNvPr id="39" name="Text Box 88">
                <a:extLst>
                  <a:ext uri="{FF2B5EF4-FFF2-40B4-BE49-F238E27FC236}">
                    <a16:creationId xmlns:a16="http://schemas.microsoft.com/office/drawing/2014/main" id="{76C83B21-D350-6940-51D5-E2F56B1F1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9" y="3711"/>
                <a:ext cx="3507" cy="50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lvl="1"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(a) Frequency spectral density of modulating signal </a:t>
                </a: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Text Box 90">
                <a:extLst>
                  <a:ext uri="{FF2B5EF4-FFF2-40B4-BE49-F238E27FC236}">
                    <a16:creationId xmlns:a16="http://schemas.microsoft.com/office/drawing/2014/main" id="{0F27F9A4-50D8-E0EB-0E17-893807781E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493"/>
                <a:ext cx="1384" cy="39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1400">
                    <a:latin typeface="Times New Roman" pitchFamily="18" charset="0"/>
                  </a:rPr>
                  <a:t>Upper-sideband</a:t>
                </a:r>
                <a:endParaRPr lang="en-US" altLang="zh-CN" sz="2800"/>
              </a:p>
            </p:txBody>
          </p:sp>
          <p:sp>
            <p:nvSpPr>
              <p:cNvPr id="41" name="Text Box 91">
                <a:extLst>
                  <a:ext uri="{FF2B5EF4-FFF2-40B4-BE49-F238E27FC236}">
                    <a16:creationId xmlns:a16="http://schemas.microsoft.com/office/drawing/2014/main" id="{4E38D566-1786-1F67-DCF7-07149F4A18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6" y="3740"/>
                <a:ext cx="4676" cy="33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lvl="1"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(b) Frequency spectral density </a:t>
                </a:r>
              </a:p>
              <a:p>
                <a:pPr lvl="1" algn="ctr"/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modulated signal</a:t>
                </a: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 Box 92">
                <a:extLst>
                  <a:ext uri="{FF2B5EF4-FFF2-40B4-BE49-F238E27FC236}">
                    <a16:creationId xmlns:a16="http://schemas.microsoft.com/office/drawing/2014/main" id="{68C9210A-F9BD-C320-C14C-05316EF14B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8" y="2364"/>
                <a:ext cx="1384" cy="39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1400">
                    <a:latin typeface="Times New Roman" pitchFamily="18" charset="0"/>
                  </a:rPr>
                  <a:t>Upper-sideband</a:t>
                </a:r>
                <a:endParaRPr lang="en-US" altLang="zh-CN" sz="2800"/>
              </a:p>
            </p:txBody>
          </p:sp>
          <p:sp>
            <p:nvSpPr>
              <p:cNvPr id="43" name="Text Box 93">
                <a:extLst>
                  <a:ext uri="{FF2B5EF4-FFF2-40B4-BE49-F238E27FC236}">
                    <a16:creationId xmlns:a16="http://schemas.microsoft.com/office/drawing/2014/main" id="{B72E81EA-2553-4E80-A2AD-07D19BAA2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8" y="2520"/>
                <a:ext cx="1384" cy="39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1400">
                    <a:latin typeface="Times New Roman" pitchFamily="18" charset="0"/>
                  </a:rPr>
                  <a:t>Lower-sideband</a:t>
                </a:r>
                <a:endParaRPr lang="en-US" altLang="zh-CN" sz="2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552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C223-00AA-6F64-6DAD-86F3CA0E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EAF9E9C-3508-03A3-3B20-1B81826BF16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68C414C-F914-AC5F-F726-8ECF617F5E1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AFC8A8-7680-E2CE-31A9-DC6DAC1F47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2EB93E-DEA2-09AB-E726-675471C6FB50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DSB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670F10-CF1E-FF56-7505-66D72625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93EBC28-20F4-EF61-72EE-2C7CCA539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Envelope detector is no longer applicable, since the envelope of DSB signal is not the same as the modulating signal.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coherent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demodulator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should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used.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that the received DSB signal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func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output of the low-pass filter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93EBC28-20F4-EF61-72EE-2C7CCA539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 t="-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2860AA36-6409-7399-E2FF-2059E89BD67D}"/>
              </a:ext>
            </a:extLst>
          </p:cNvPr>
          <p:cNvGrpSpPr/>
          <p:nvPr/>
        </p:nvGrpSpPr>
        <p:grpSpPr>
          <a:xfrm>
            <a:off x="3555100" y="2686985"/>
            <a:ext cx="4649999" cy="1812488"/>
            <a:chOff x="4342034" y="4237937"/>
            <a:chExt cx="4118398" cy="1431488"/>
          </a:xfrm>
        </p:grpSpPr>
        <p:sp>
          <p:nvSpPr>
            <p:cNvPr id="21" name="Text Box 45">
              <a:extLst>
                <a:ext uri="{FF2B5EF4-FFF2-40B4-BE49-F238E27FC236}">
                  <a16:creationId xmlns:a16="http://schemas.microsoft.com/office/drawing/2014/main" id="{74B92D9D-AF04-5585-F4B4-401CB54D3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1542" y="4410684"/>
              <a:ext cx="1058890" cy="738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latin typeface="Times New Roman" pitchFamily="18" charset="0"/>
                </a:rPr>
                <a:t>Baseband signal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600" i="1" dirty="0">
                  <a:latin typeface="Times New Roman" pitchFamily="18" charset="0"/>
                </a:rPr>
                <a:t>m</a:t>
              </a:r>
              <a:r>
                <a:rPr lang="en-US" altLang="zh-CN" sz="1600" dirty="0">
                  <a:latin typeface="Times New Roman" pitchFamily="18" charset="0"/>
                </a:rPr>
                <a:t>(</a:t>
              </a:r>
              <a:r>
                <a:rPr lang="en-US" altLang="zh-CN" sz="1600" i="1" dirty="0">
                  <a:latin typeface="Times New Roman" pitchFamily="18" charset="0"/>
                </a:rPr>
                <a:t>t</a:t>
              </a:r>
              <a:r>
                <a:rPr lang="en-US" altLang="zh-CN" sz="1600" dirty="0">
                  <a:latin typeface="Times New Roman" pitchFamily="18" charset="0"/>
                </a:rPr>
                <a:t>)</a:t>
              </a:r>
              <a:endParaRPr lang="en-US" altLang="zh-CN" sz="2800" dirty="0"/>
            </a:p>
          </p:txBody>
        </p:sp>
        <p:sp>
          <p:nvSpPr>
            <p:cNvPr id="22" name="Text Box 46">
              <a:extLst>
                <a:ext uri="{FF2B5EF4-FFF2-40B4-BE49-F238E27FC236}">
                  <a16:creationId xmlns:a16="http://schemas.microsoft.com/office/drawing/2014/main" id="{1EA08320-ED7A-E708-C92E-29363EA55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034" y="4393079"/>
              <a:ext cx="965552" cy="736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latin typeface="Times New Roman" pitchFamily="18" charset="0"/>
                </a:rPr>
                <a:t>Received signal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600" i="1" dirty="0">
                  <a:latin typeface="Times New Roman" pitchFamily="18" charset="0"/>
                </a:rPr>
                <a:t>s</a:t>
              </a:r>
              <a:r>
                <a:rPr lang="en-US" altLang="zh-CN" sz="1600" dirty="0">
                  <a:latin typeface="Times New Roman" pitchFamily="18" charset="0"/>
                </a:rPr>
                <a:t>(</a:t>
              </a:r>
              <a:r>
                <a:rPr lang="en-US" altLang="zh-CN" sz="1600" i="1" dirty="0">
                  <a:latin typeface="Times New Roman" pitchFamily="18" charset="0"/>
                </a:rPr>
                <a:t>t</a:t>
              </a:r>
              <a:r>
                <a:rPr lang="en-US" altLang="zh-CN" sz="1600" dirty="0">
                  <a:latin typeface="Times New Roman" pitchFamily="18" charset="0"/>
                </a:rPr>
                <a:t>)</a:t>
              </a:r>
              <a:endParaRPr lang="en-US" altLang="zh-CN" sz="2800" dirty="0"/>
            </a:p>
          </p:txBody>
        </p:sp>
        <p:sp>
          <p:nvSpPr>
            <p:cNvPr id="23" name="Text Box 47">
              <a:extLst>
                <a:ext uri="{FF2B5EF4-FFF2-40B4-BE49-F238E27FC236}">
                  <a16:creationId xmlns:a16="http://schemas.microsoft.com/office/drawing/2014/main" id="{DB5AF8B5-D2D5-D9A9-5419-EBEE5C3E4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846" y="5200698"/>
              <a:ext cx="877986" cy="4687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zh-CN" sz="1600" dirty="0">
                  <a:latin typeface="Times New Roman" pitchFamily="18" charset="0"/>
                </a:rPr>
                <a:t>cos</a:t>
              </a:r>
              <a:r>
                <a:rPr lang="en-US" altLang="zh-CN" sz="1600" i="1" dirty="0">
                  <a:latin typeface="Times New Roman" pitchFamily="18" charset="0"/>
                  <a:sym typeface="Symbol" pitchFamily="18" charset="2"/>
                </a:rPr>
                <a:t></a:t>
              </a:r>
              <a:r>
                <a:rPr lang="en-US" altLang="zh-CN" sz="1600" baseline="-25000" dirty="0">
                  <a:latin typeface="Times New Roman" pitchFamily="18" charset="0"/>
                </a:rPr>
                <a:t>0</a:t>
              </a:r>
              <a:r>
                <a:rPr lang="en-US" altLang="zh-CN" sz="1600" i="1" dirty="0">
                  <a:latin typeface="Times New Roman" pitchFamily="18" charset="0"/>
                </a:rPr>
                <a:t>t</a:t>
              </a:r>
              <a:endParaRPr lang="en-US" altLang="zh-CN" sz="2800" dirty="0"/>
            </a:p>
          </p:txBody>
        </p:sp>
        <p:sp>
          <p:nvSpPr>
            <p:cNvPr id="24" name="Line 48">
              <a:extLst>
                <a:ext uri="{FF2B5EF4-FFF2-40B4-BE49-F238E27FC236}">
                  <a16:creationId xmlns:a16="http://schemas.microsoft.com/office/drawing/2014/main" id="{6DBE8F92-20C2-1367-A854-5D5818278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4202" y="4938827"/>
              <a:ext cx="1550" cy="273974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 Box 49">
              <a:extLst>
                <a:ext uri="{FF2B5EF4-FFF2-40B4-BE49-F238E27FC236}">
                  <a16:creationId xmlns:a16="http://schemas.microsoft.com/office/drawing/2014/main" id="{4F4427C9-3F4C-EBDE-C70D-02F8EA12B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4407" y="4237937"/>
              <a:ext cx="629841" cy="373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600" i="1">
                  <a:latin typeface="Times New Roman" pitchFamily="18" charset="0"/>
                </a:rPr>
                <a:t>r</a:t>
              </a:r>
              <a:r>
                <a:rPr lang="en-US" altLang="zh-CN" sz="1600">
                  <a:latin typeface="Times New Roman" pitchFamily="18" charset="0"/>
                  <a:sym typeface="Symbol" pitchFamily="18" charset="2"/>
                </a:rPr>
                <a:t></a:t>
              </a:r>
              <a:r>
                <a:rPr lang="en-US" altLang="zh-CN" sz="1600">
                  <a:latin typeface="Times New Roman" pitchFamily="18" charset="0"/>
                </a:rPr>
                <a:t>(</a:t>
              </a:r>
              <a:r>
                <a:rPr lang="en-US" altLang="zh-CN" sz="1600" i="1">
                  <a:latin typeface="Times New Roman" pitchFamily="18" charset="0"/>
                </a:rPr>
                <a:t>t</a:t>
              </a:r>
              <a:r>
                <a:rPr lang="en-US" altLang="zh-CN" sz="1600">
                  <a:latin typeface="Times New Roman" pitchFamily="18" charset="0"/>
                </a:rPr>
                <a:t>)</a:t>
              </a:r>
              <a:endParaRPr lang="en-US" altLang="zh-CN" sz="2800"/>
            </a:p>
          </p:txBody>
        </p:sp>
        <p:sp>
          <p:nvSpPr>
            <p:cNvPr id="26" name="Line 50">
              <a:extLst>
                <a:ext uri="{FF2B5EF4-FFF2-40B4-BE49-F238E27FC236}">
                  <a16:creationId xmlns:a16="http://schemas.microsoft.com/office/drawing/2014/main" id="{695ED0A7-EA61-0711-65B4-C4A4CF9DC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7290" y="4729771"/>
              <a:ext cx="272772" cy="220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Line 51">
              <a:extLst>
                <a:ext uri="{FF2B5EF4-FFF2-40B4-BE49-F238E27FC236}">
                  <a16:creationId xmlns:a16="http://schemas.microsoft.com/office/drawing/2014/main" id="{94499CF3-7166-7565-45D8-2B73E7E95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8137" y="4728670"/>
              <a:ext cx="364988" cy="440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Line 52">
              <a:extLst>
                <a:ext uri="{FF2B5EF4-FFF2-40B4-BE49-F238E27FC236}">
                  <a16:creationId xmlns:a16="http://schemas.microsoft.com/office/drawing/2014/main" id="{7B63D255-172E-CD94-7475-094EB5D32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7640" y="4724269"/>
              <a:ext cx="344065" cy="14304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29" name="Group 53">
              <a:extLst>
                <a:ext uri="{FF2B5EF4-FFF2-40B4-BE49-F238E27FC236}">
                  <a16:creationId xmlns:a16="http://schemas.microsoft.com/office/drawing/2014/main" id="{02CCD95F-472D-81DE-D9FE-34ECC8956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0837" y="4496507"/>
              <a:ext cx="1909406" cy="468727"/>
              <a:chOff x="4556" y="4374"/>
              <a:chExt cx="2464" cy="426"/>
            </a:xfrm>
            <a:solidFill>
              <a:schemeClr val="bg1"/>
            </a:solidFill>
          </p:grpSpPr>
          <p:sp>
            <p:nvSpPr>
              <p:cNvPr id="30" name="Text Box 54">
                <a:extLst>
                  <a:ext uri="{FF2B5EF4-FFF2-40B4-BE49-F238E27FC236}">
                    <a16:creationId xmlns:a16="http://schemas.microsoft.com/office/drawing/2014/main" id="{F105F642-8F24-0D2E-744D-25ADE6B8A0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6" y="4374"/>
                <a:ext cx="920" cy="426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72000" bIns="0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100" b="1">
                    <a:latin typeface="宋体" pitchFamily="2" charset="-122"/>
                    <a:sym typeface="Symbol" pitchFamily="18" charset="2"/>
                  </a:rPr>
                  <a:t></a:t>
                </a:r>
                <a:endParaRPr lang="en-US" altLang="zh-CN" sz="2800"/>
              </a:p>
            </p:txBody>
          </p:sp>
          <p:sp>
            <p:nvSpPr>
              <p:cNvPr id="31" name="Text Box 55">
                <a:extLst>
                  <a:ext uri="{FF2B5EF4-FFF2-40B4-BE49-F238E27FC236}">
                    <a16:creationId xmlns:a16="http://schemas.microsoft.com/office/drawing/2014/main" id="{6CAF10AB-E612-3157-69ED-14F6B46CB5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7" y="4374"/>
                <a:ext cx="1093" cy="426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LPF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819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BCBE-8B43-F41C-8A46-9D779B78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AF710C8-897C-1AB2-87FB-D1B09CB3C6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71127B3F-7D94-75AB-6C06-A1983A4C33B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9C8385-9EE1-C2EF-EEB1-4F0AC5449A2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DB4D41-6B63-3FF8-DEAC-165073396BFF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DSB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10CD1A-AE1B-3FB4-68B7-84965533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5DC99C7-8D75-1EC1-DE91-DCDA60DCEB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 marL="342900" lvl="1" indent="-342900" defTabSz="914400">
                  <a:lnSpc>
                    <a:spcPct val="130000"/>
                  </a:lnSpc>
                  <a:spcBef>
                    <a:spcPts val="0"/>
                  </a:spcBef>
                  <a:defRPr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output signal equals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18" charset="2"/>
                  </a:rPr>
                  <a:t>, only if the local carrier has no frequency and phase error.</a:t>
                </a:r>
              </a:p>
              <a:p>
                <a:pPr marL="342900" lvl="1" indent="-342900" defTabSz="914400">
                  <a:lnSpc>
                    <a:spcPct val="130000"/>
                  </a:lnSpc>
                  <a:spcBef>
                    <a:spcPts val="0"/>
                  </a:spcBef>
                  <a:defRPr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frequency and phase of the local carrier have errors, i.e. assume its expression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Cambria Math"/>
                                  </a:rPr>
                                  <m:t>∆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sz="240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</m:e>
                        </m:d>
                      </m:e>
                    </m:func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we have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/>
                                    </a:rPr>
                                    <m:t>Δ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𝜔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/>
                                      <a:ea typeface="Cambria Math"/>
                                    </a:rPr>
                                    <m:t>φ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latin typeface="Cambria Math"/>
                                        </a:rPr>
                                        <m:t>Δ</m:t>
                                      </m:r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output: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Δ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𝜑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DSB signal can save transmitting power, but the receiving circuit will be rather complicated.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5DC99C7-8D75-1EC1-DE91-DCDA60DCEB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6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FF3D6-A643-170A-1CBE-98A7687D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7AFE5718-F039-D198-FDE9-BBE0A619373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8C2CBBA-F099-2F4A-10D6-57712A29C271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A71E75-E996-15C5-D1DC-2179822E949B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3B3BB6-1260-04B0-4BAB-A8F9BC3E799A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B30E7E5-9D00-288F-2106-958761508F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0B57C69-6049-0F87-3791-8B50719EAEA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8F6E4DFF-24FA-8CD0-4108-1C78E20EFF3A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F6DC32B-20F7-B98E-991C-0276DA0225F0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8D1B2EE-46F3-021E-86B5-1A1005C1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4E63E9-9905-293F-25E0-9AB0D76A3300}"/>
              </a:ext>
            </a:extLst>
          </p:cNvPr>
          <p:cNvSpPr txBox="1"/>
          <p:nvPr/>
        </p:nvSpPr>
        <p:spPr>
          <a:xfrm>
            <a:off x="5270500" y="1720850"/>
            <a:ext cx="53340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(AM)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Double-sideband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(DSB)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(SSB)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(VSB)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Angle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</p:txBody>
      </p:sp>
    </p:spTree>
    <p:extLst>
      <p:ext uri="{BB962C8B-B14F-4D97-AF65-F5344CB8AC3E}">
        <p14:creationId xmlns:p14="http://schemas.microsoft.com/office/powerpoint/2010/main" val="1723447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A42D-754E-4C2B-556C-27AD939E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F3C86A2-585B-7AF5-DB2C-0047761A8D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D68B1AD-B4F7-5DE8-7DC8-D9A876CCEA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34D20A-0EE3-7F65-D82E-057D3161ED6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D8BD72-D388-D496-1511-4FD2A4FD66A6}"/>
              </a:ext>
            </a:extLst>
          </p:cNvPr>
          <p:cNvSpPr txBox="1"/>
          <p:nvPr/>
        </p:nvSpPr>
        <p:spPr>
          <a:xfrm>
            <a:off x="241300" y="268605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(SSB)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C9BFEF-4D61-B6FB-EA16-588AD723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A60F3DBD-1866-F139-B0EC-BBF21C6CA6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5772224" cy="612110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two sidebands of the DSB signal contains the same information, which results in inefficient use of channel. </a:t>
                </a:r>
                <a:endParaRPr lang="en-US" altLang="zh-CN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SSB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transmits only one sideband of the DSB signal.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filter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  <a:cs typeface="Arial" panose="020B0604020202020204" pitchFamily="34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|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|≥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  <a:cs typeface="Arial" panose="020B0604020202020204" pitchFamily="34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latin typeface="Cambria Math"/>
                                    <a:cs typeface="Arial" panose="020B0604020202020204" pitchFamily="34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Both power efficiency and spectrum efficiency of SSB signals are higher than AM and DSB signals.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A60F3DBD-1866-F139-B0EC-BBF21C6CA6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5772224" cy="6121106"/>
              </a:xfrm>
              <a:blipFill>
                <a:blip r:embed="rId7"/>
                <a:stretch>
                  <a:fillRect l="-1538" r="-2198" b="-223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96">
            <a:extLst>
              <a:ext uri="{FF2B5EF4-FFF2-40B4-BE49-F238E27FC236}">
                <a16:creationId xmlns:a16="http://schemas.microsoft.com/office/drawing/2014/main" id="{B42A4A12-36AD-4BC2-12CA-BD01D258492B}"/>
              </a:ext>
            </a:extLst>
          </p:cNvPr>
          <p:cNvGrpSpPr>
            <a:grpSpLocks/>
          </p:cNvGrpSpPr>
          <p:nvPr/>
        </p:nvGrpSpPr>
        <p:grpSpPr bwMode="auto">
          <a:xfrm>
            <a:off x="6054725" y="1416050"/>
            <a:ext cx="4397375" cy="4968707"/>
            <a:chOff x="2520" y="4998"/>
            <a:chExt cx="6926" cy="6645"/>
          </a:xfrm>
          <a:noFill/>
        </p:grpSpPr>
        <p:grpSp>
          <p:nvGrpSpPr>
            <p:cNvPr id="78" name="Group 97">
              <a:extLst>
                <a:ext uri="{FF2B5EF4-FFF2-40B4-BE49-F238E27FC236}">
                  <a16:creationId xmlns:a16="http://schemas.microsoft.com/office/drawing/2014/main" id="{842577D5-816A-CDE0-3943-A6B238FAC1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0" y="4998"/>
              <a:ext cx="6926" cy="6645"/>
              <a:chOff x="2520" y="4998"/>
              <a:chExt cx="6926" cy="6645"/>
            </a:xfrm>
            <a:grpFill/>
          </p:grpSpPr>
          <p:grpSp>
            <p:nvGrpSpPr>
              <p:cNvPr id="82" name="Group 98">
                <a:extLst>
                  <a:ext uri="{FF2B5EF4-FFF2-40B4-BE49-F238E27FC236}">
                    <a16:creationId xmlns:a16="http://schemas.microsoft.com/office/drawing/2014/main" id="{78DCA801-236A-7DCE-4DB6-3A3ACE8DBA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20" y="5054"/>
                <a:ext cx="6926" cy="6589"/>
                <a:chOff x="2520" y="5054"/>
                <a:chExt cx="6926" cy="6589"/>
              </a:xfrm>
              <a:grpFill/>
            </p:grpSpPr>
            <p:grpSp>
              <p:nvGrpSpPr>
                <p:cNvPr id="97" name="Group 99">
                  <a:extLst>
                    <a:ext uri="{FF2B5EF4-FFF2-40B4-BE49-F238E27FC236}">
                      <a16:creationId xmlns:a16="http://schemas.microsoft.com/office/drawing/2014/main" id="{B994C45E-6C48-D7C7-EDE6-E5F7FE42B9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20" y="5054"/>
                  <a:ext cx="6926" cy="4219"/>
                  <a:chOff x="2520" y="5054"/>
                  <a:chExt cx="6926" cy="4219"/>
                </a:xfrm>
                <a:grpFill/>
              </p:grpSpPr>
              <p:sp>
                <p:nvSpPr>
                  <p:cNvPr id="125" name="Text Box 100">
                    <a:extLst>
                      <a:ext uri="{FF2B5EF4-FFF2-40B4-BE49-F238E27FC236}">
                        <a16:creationId xmlns:a16="http://schemas.microsoft.com/office/drawing/2014/main" id="{82F8D87D-29CE-66F9-9D19-361A9B285E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6" y="8808"/>
                    <a:ext cx="6538" cy="465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ctr"/>
                    <a:r>
                      <a:rPr lang="en-US" altLang="zh-CN" sz="1400" dirty="0">
                        <a:latin typeface="Times New Roman" pitchFamily="18" charset="0"/>
                      </a:rPr>
                      <a:t>(b) Upper-sideband filter characteristic and signal frequency spectrum</a:t>
                    </a:r>
                    <a:endParaRPr lang="en-US" altLang="zh-CN" sz="2400" dirty="0"/>
                  </a:p>
                </p:txBody>
              </p:sp>
              <p:grpSp>
                <p:nvGrpSpPr>
                  <p:cNvPr id="126" name="Group 101">
                    <a:extLst>
                      <a:ext uri="{FF2B5EF4-FFF2-40B4-BE49-F238E27FC236}">
                        <a16:creationId xmlns:a16="http://schemas.microsoft.com/office/drawing/2014/main" id="{A3FF20AD-0B46-C220-FD23-2D4CC2D37B8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20" y="5054"/>
                    <a:ext cx="6926" cy="3910"/>
                    <a:chOff x="2520" y="5054"/>
                    <a:chExt cx="6926" cy="3910"/>
                  </a:xfrm>
                  <a:grpFill/>
                </p:grpSpPr>
                <p:grpSp>
                  <p:nvGrpSpPr>
                    <p:cNvPr id="127" name="Group 102">
                      <a:extLst>
                        <a:ext uri="{FF2B5EF4-FFF2-40B4-BE49-F238E27FC236}">
                          <a16:creationId xmlns:a16="http://schemas.microsoft.com/office/drawing/2014/main" id="{F10E1A91-5AD6-9484-644D-A603582F449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31" y="5054"/>
                      <a:ext cx="4990" cy="3910"/>
                      <a:chOff x="3531" y="5054"/>
                      <a:chExt cx="4990" cy="3910"/>
                    </a:xfrm>
                    <a:grpFill/>
                  </p:grpSpPr>
                  <p:pic>
                    <p:nvPicPr>
                      <p:cNvPr id="139" name="Picture 103" descr="SSB频谱产生">
                        <a:extLst>
                          <a:ext uri="{FF2B5EF4-FFF2-40B4-BE49-F238E27FC236}">
                            <a16:creationId xmlns:a16="http://schemas.microsoft.com/office/drawing/2014/main" id="{E1219283-13F8-F841-6F8D-ACE4885CDA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" y="5586"/>
                        <a:ext cx="469" cy="739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pic>
                    <p:nvPicPr>
                      <p:cNvPr id="140" name="Picture 104" descr="SSB频谱产生">
                        <a:extLst>
                          <a:ext uri="{FF2B5EF4-FFF2-40B4-BE49-F238E27FC236}">
                            <a16:creationId xmlns:a16="http://schemas.microsoft.com/office/drawing/2014/main" id="{94D57A54-CFAA-2952-2026-9C2F68231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" y="5607"/>
                        <a:ext cx="467" cy="71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grpSp>
                    <p:nvGrpSpPr>
                      <p:cNvPr id="141" name="Group 105">
                        <a:extLst>
                          <a:ext uri="{FF2B5EF4-FFF2-40B4-BE49-F238E27FC236}">
                            <a16:creationId xmlns:a16="http://schemas.microsoft.com/office/drawing/2014/main" id="{BFE50A58-DE24-0A37-5E39-C4299C13C6E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31" y="7248"/>
                        <a:ext cx="4974" cy="1716"/>
                        <a:chOff x="3071" y="4824"/>
                        <a:chExt cx="4974" cy="1716"/>
                      </a:xfrm>
                      <a:grpFill/>
                    </p:grpSpPr>
                    <p:sp>
                      <p:nvSpPr>
                        <p:cNvPr id="154" name="Text Box 106">
                          <a:extLst>
                            <a:ext uri="{FF2B5EF4-FFF2-40B4-BE49-F238E27FC236}">
                              <a16:creationId xmlns:a16="http://schemas.microsoft.com/office/drawing/2014/main" id="{DD0C381A-574B-02B7-FBC5-AA9C6975A4DE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735" y="6039"/>
                          <a:ext cx="556" cy="489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pPr algn="just"/>
                          <a:r>
                            <a:rPr lang="en-US" altLang="zh-CN" sz="1400" i="1">
                              <a:latin typeface="Times New Roman" pitchFamily="18" charset="0"/>
                            </a:rPr>
                            <a:t>f</a:t>
                          </a:r>
                          <a:r>
                            <a:rPr lang="en-US" altLang="zh-CN" sz="1400" baseline="-25000">
                              <a:latin typeface="Times New Roman" pitchFamily="18" charset="0"/>
                            </a:rPr>
                            <a:t>0</a:t>
                          </a:r>
                          <a:endParaRPr lang="en-US" altLang="zh-CN" sz="2400"/>
                        </a:p>
                      </p:txBody>
                    </p:sp>
                    <p:sp>
                      <p:nvSpPr>
                        <p:cNvPr id="155" name="Text Box 107">
                          <a:extLst>
                            <a:ext uri="{FF2B5EF4-FFF2-40B4-BE49-F238E27FC236}">
                              <a16:creationId xmlns:a16="http://schemas.microsoft.com/office/drawing/2014/main" id="{631B5EEE-7AF0-EA32-857B-D594F01AABF5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196" y="6028"/>
                          <a:ext cx="568" cy="512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pPr algn="just"/>
                          <a:r>
                            <a:rPr lang="en-US" altLang="zh-CN" sz="1400">
                              <a:latin typeface="Times New Roman" pitchFamily="18" charset="0"/>
                            </a:rPr>
                            <a:t>0</a:t>
                          </a:r>
                          <a:endParaRPr lang="en-US" altLang="zh-CN" sz="2400"/>
                        </a:p>
                      </p:txBody>
                    </p:sp>
                    <p:sp>
                      <p:nvSpPr>
                        <p:cNvPr id="156" name="Text Box 108">
                          <a:extLst>
                            <a:ext uri="{FF2B5EF4-FFF2-40B4-BE49-F238E27FC236}">
                              <a16:creationId xmlns:a16="http://schemas.microsoft.com/office/drawing/2014/main" id="{B54D3F2C-93E5-5D03-B8A0-EC52C93ACB9D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80" y="5934"/>
                          <a:ext cx="465" cy="468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pPr algn="just"/>
                          <a:r>
                            <a:rPr lang="en-US" altLang="zh-CN" sz="1400" i="1">
                              <a:latin typeface="Times New Roman" pitchFamily="18" charset="0"/>
                            </a:rPr>
                            <a:t>f</a:t>
                          </a:r>
                          <a:endParaRPr lang="en-US" altLang="zh-CN" sz="2400"/>
                        </a:p>
                      </p:txBody>
                    </p:sp>
                    <p:pic>
                      <p:nvPicPr>
                        <p:cNvPr id="157" name="Picture 109" descr="SSB频谱产生">
                          <a:extLst>
                            <a:ext uri="{FF2B5EF4-FFF2-40B4-BE49-F238E27FC236}">
                              <a16:creationId xmlns:a16="http://schemas.microsoft.com/office/drawing/2014/main" id="{8A702878-EB53-A00D-28DC-643B51ADF5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 cstate="print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5" y="5409"/>
                          <a:ext cx="467" cy="739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  <p:pic>
                      <p:nvPicPr>
                        <p:cNvPr id="158" name="Picture 110" descr="SSB频谱产生">
                          <a:extLst>
                            <a:ext uri="{FF2B5EF4-FFF2-40B4-BE49-F238E27FC236}">
                              <a16:creationId xmlns:a16="http://schemas.microsoft.com/office/drawing/2014/main" id="{4724041A-3587-5407-E879-D27AD84CB4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 cstate="print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3301" y="5451"/>
                          <a:ext cx="467" cy="713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  <p:sp>
                      <p:nvSpPr>
                        <p:cNvPr id="159" name="Line 111">
                          <a:extLst>
                            <a:ext uri="{FF2B5EF4-FFF2-40B4-BE49-F238E27FC236}">
                              <a16:creationId xmlns:a16="http://schemas.microsoft.com/office/drawing/2014/main" id="{8DFE9847-8DEB-F7A3-6EBA-7B0E4568377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 flipV="1">
                          <a:off x="6903" y="5901"/>
                          <a:ext cx="1" cy="165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60" name="Line 112">
                          <a:extLst>
                            <a:ext uri="{FF2B5EF4-FFF2-40B4-BE49-F238E27FC236}">
                              <a16:creationId xmlns:a16="http://schemas.microsoft.com/office/drawing/2014/main" id="{0CADA808-8FB9-88DD-DB69-1DF31AC9294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71" y="6084"/>
                          <a:ext cx="4550" cy="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61" name="Line 113">
                          <a:extLst>
                            <a:ext uri="{FF2B5EF4-FFF2-40B4-BE49-F238E27FC236}">
                              <a16:creationId xmlns:a16="http://schemas.microsoft.com/office/drawing/2014/main" id="{447D7143-89A1-4B1E-4A64-D4B59FCE48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400" y="4880"/>
                          <a:ext cx="0" cy="1204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62" name="Line 114">
                          <a:extLst>
                            <a:ext uri="{FF2B5EF4-FFF2-40B4-BE49-F238E27FC236}">
                              <a16:creationId xmlns:a16="http://schemas.microsoft.com/office/drawing/2014/main" id="{4989D8DC-6554-A5D3-06BA-38A6595C318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900" y="5942"/>
                          <a:ext cx="0" cy="130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63" name="Text Box 115">
                          <a:extLst>
                            <a:ext uri="{FF2B5EF4-FFF2-40B4-BE49-F238E27FC236}">
                              <a16:creationId xmlns:a16="http://schemas.microsoft.com/office/drawing/2014/main" id="{74E7AAD3-BE87-9FE4-C5D2-D6B551531418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372" y="4824"/>
                          <a:ext cx="757" cy="468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 altLang="en-US" sz="2400"/>
                        </a:p>
                      </p:txBody>
                    </p:sp>
                  </p:grpSp>
                  <p:sp>
                    <p:nvSpPr>
                      <p:cNvPr id="142" name="Text Box 116">
                        <a:extLst>
                          <a:ext uri="{FF2B5EF4-FFF2-40B4-BE49-F238E27FC236}">
                            <a16:creationId xmlns:a16="http://schemas.microsoft.com/office/drawing/2014/main" id="{B4FECC5E-C5F2-7832-BF15-C6CB40F318C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099" y="6198"/>
                        <a:ext cx="654" cy="46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pPr algn="just"/>
                        <a:r>
                          <a:rPr lang="en-US" altLang="zh-CN" sz="1400">
                            <a:latin typeface="Times New Roman" pitchFamily="18" charset="0"/>
                          </a:rPr>
                          <a:t>-</a:t>
                        </a:r>
                        <a:r>
                          <a:rPr lang="en-US" altLang="zh-CN" sz="1400" i="1">
                            <a:latin typeface="Times New Roman" pitchFamily="18" charset="0"/>
                          </a:rPr>
                          <a:t>f</a:t>
                        </a:r>
                        <a:r>
                          <a:rPr lang="en-US" altLang="zh-CN" sz="1400" baseline="-25000">
                            <a:latin typeface="Times New Roman" pitchFamily="18" charset="0"/>
                          </a:rPr>
                          <a:t>0</a:t>
                        </a:r>
                        <a:endParaRPr lang="en-US" altLang="zh-CN" sz="2400"/>
                      </a:p>
                    </p:txBody>
                  </p:sp>
                  <p:grpSp>
                    <p:nvGrpSpPr>
                      <p:cNvPr id="143" name="Group 117">
                        <a:extLst>
                          <a:ext uri="{FF2B5EF4-FFF2-40B4-BE49-F238E27FC236}">
                            <a16:creationId xmlns:a16="http://schemas.microsoft.com/office/drawing/2014/main" id="{2D059414-12AA-0FB5-1AB9-AB38072DE1C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32" y="5054"/>
                        <a:ext cx="4889" cy="1660"/>
                        <a:chOff x="3172" y="2630"/>
                        <a:chExt cx="4889" cy="1660"/>
                      </a:xfrm>
                      <a:grpFill/>
                    </p:grpSpPr>
                    <p:sp>
                      <p:nvSpPr>
                        <p:cNvPr id="145" name="Text Box 118">
                          <a:extLst>
                            <a:ext uri="{FF2B5EF4-FFF2-40B4-BE49-F238E27FC236}">
                              <a16:creationId xmlns:a16="http://schemas.microsoft.com/office/drawing/2014/main" id="{9F3C5F4C-460C-DAAA-07FD-4085E99C810E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2" y="3778"/>
                          <a:ext cx="568" cy="512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pPr algn="just"/>
                          <a:r>
                            <a:rPr lang="en-US" altLang="zh-CN" sz="1400">
                              <a:latin typeface="Times New Roman" pitchFamily="18" charset="0"/>
                            </a:rPr>
                            <a:t>0</a:t>
                          </a:r>
                          <a:endParaRPr lang="en-US" altLang="zh-CN" sz="2400"/>
                        </a:p>
                      </p:txBody>
                    </p:sp>
                    <p:sp>
                      <p:nvSpPr>
                        <p:cNvPr id="146" name="Text Box 119">
                          <a:extLst>
                            <a:ext uri="{FF2B5EF4-FFF2-40B4-BE49-F238E27FC236}">
                              <a16:creationId xmlns:a16="http://schemas.microsoft.com/office/drawing/2014/main" id="{2E7A0F52-2372-C26A-93FB-0F6EB6F0E4E1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96" y="3684"/>
                          <a:ext cx="465" cy="468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pPr algn="just"/>
                          <a:r>
                            <a:rPr lang="en-US" altLang="zh-CN" sz="1400" i="1">
                              <a:latin typeface="Times New Roman" pitchFamily="18" charset="0"/>
                            </a:rPr>
                            <a:t>f</a:t>
                          </a:r>
                          <a:endParaRPr lang="en-US" altLang="zh-CN" sz="2400"/>
                        </a:p>
                      </p:txBody>
                    </p:sp>
                    <p:sp>
                      <p:nvSpPr>
                        <p:cNvPr id="147" name="Line 120">
                          <a:extLst>
                            <a:ext uri="{FF2B5EF4-FFF2-40B4-BE49-F238E27FC236}">
                              <a16:creationId xmlns:a16="http://schemas.microsoft.com/office/drawing/2014/main" id="{9272B100-AD7C-5EF8-DEB2-71143949C20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 flipV="1">
                          <a:off x="6919" y="3651"/>
                          <a:ext cx="1" cy="165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48" name="Line 121">
                          <a:extLst>
                            <a:ext uri="{FF2B5EF4-FFF2-40B4-BE49-F238E27FC236}">
                              <a16:creationId xmlns:a16="http://schemas.microsoft.com/office/drawing/2014/main" id="{47A93D3F-E9A9-7599-428D-D7C1A9C46FA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416" y="2630"/>
                          <a:ext cx="0" cy="1204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49" name="Line 122">
                          <a:extLst>
                            <a:ext uri="{FF2B5EF4-FFF2-40B4-BE49-F238E27FC236}">
                              <a16:creationId xmlns:a16="http://schemas.microsoft.com/office/drawing/2014/main" id="{71031827-2CC4-82EE-F796-243E2E5FB9E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916" y="3692"/>
                          <a:ext cx="0" cy="130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50" name="Line 123">
                          <a:extLst>
                            <a:ext uri="{FF2B5EF4-FFF2-40B4-BE49-F238E27FC236}">
                              <a16:creationId xmlns:a16="http://schemas.microsoft.com/office/drawing/2014/main" id="{785835D0-5AB5-431D-834D-6C7B1C2F4D3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7240" y="3042"/>
                          <a:ext cx="450" cy="240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51" name="Line 124">
                          <a:extLst>
                            <a:ext uri="{FF2B5EF4-FFF2-40B4-BE49-F238E27FC236}">
                              <a16:creationId xmlns:a16="http://schemas.microsoft.com/office/drawing/2014/main" id="{4EA0B184-22C3-F96C-3E17-C93DAC06EB6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4282" y="3285"/>
                          <a:ext cx="436" cy="285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52" name="Line 125">
                          <a:extLst>
                            <a:ext uri="{FF2B5EF4-FFF2-40B4-BE49-F238E27FC236}">
                              <a16:creationId xmlns:a16="http://schemas.microsoft.com/office/drawing/2014/main" id="{20983CA8-C870-81AB-2C71-D5A8FEF6C5B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72" y="3240"/>
                          <a:ext cx="316" cy="285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53" name="Line 126">
                          <a:extLst>
                            <a:ext uri="{FF2B5EF4-FFF2-40B4-BE49-F238E27FC236}">
                              <a16:creationId xmlns:a16="http://schemas.microsoft.com/office/drawing/2014/main" id="{FA26CDB8-8904-B13F-7DB7-C3434B91713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74" y="3210"/>
                          <a:ext cx="1080" cy="330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</p:grpSp>
                  <p:sp>
                    <p:nvSpPr>
                      <p:cNvPr id="144" name="Text Box 127">
                        <a:extLst>
                          <a:ext uri="{FF2B5EF4-FFF2-40B4-BE49-F238E27FC236}">
                            <a16:creationId xmlns:a16="http://schemas.microsoft.com/office/drawing/2014/main" id="{C411AD7C-6EE8-B00C-FBF3-D74C492A8AD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7198" y="6198"/>
                        <a:ext cx="554" cy="46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pPr algn="just"/>
                        <a:r>
                          <a:rPr lang="en-US" altLang="zh-CN" sz="1400" i="1">
                            <a:latin typeface="Times New Roman" pitchFamily="18" charset="0"/>
                          </a:rPr>
                          <a:t>f</a:t>
                        </a:r>
                        <a:r>
                          <a:rPr lang="en-US" altLang="zh-CN" sz="1400" baseline="-25000">
                            <a:latin typeface="Times New Roman" pitchFamily="18" charset="0"/>
                          </a:rPr>
                          <a:t>0</a:t>
                        </a:r>
                        <a:endParaRPr lang="en-US" altLang="zh-CN" sz="2400"/>
                      </a:p>
                    </p:txBody>
                  </p:sp>
                </p:grpSp>
                <p:sp>
                  <p:nvSpPr>
                    <p:cNvPr id="128" name="Text Box 128">
                      <a:extLst>
                        <a:ext uri="{FF2B5EF4-FFF2-40B4-BE49-F238E27FC236}">
                          <a16:creationId xmlns:a16="http://schemas.microsoft.com/office/drawing/2014/main" id="{6DAFA685-C4A5-1021-8A30-A6AAD123D36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83" y="8448"/>
                      <a:ext cx="654" cy="48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400">
                          <a:latin typeface="Times New Roman" pitchFamily="18" charset="0"/>
                        </a:rPr>
                        <a:t>-</a:t>
                      </a:r>
                      <a:r>
                        <a:rPr lang="en-US" altLang="zh-CN" sz="1400" i="1">
                          <a:latin typeface="Times New Roman" pitchFamily="18" charset="0"/>
                        </a:rPr>
                        <a:t>f</a:t>
                      </a:r>
                      <a:r>
                        <a:rPr lang="en-US" altLang="zh-CN" sz="1400" baseline="-25000">
                          <a:latin typeface="Times New Roman" pitchFamily="18" charset="0"/>
                        </a:rPr>
                        <a:t>0</a:t>
                      </a:r>
                      <a:endParaRPr lang="en-US" altLang="zh-CN" sz="2400"/>
                    </a:p>
                  </p:txBody>
                </p:sp>
                <p:grpSp>
                  <p:nvGrpSpPr>
                    <p:cNvPr id="129" name="Group 129">
                      <a:extLst>
                        <a:ext uri="{FF2B5EF4-FFF2-40B4-BE49-F238E27FC236}">
                          <a16:creationId xmlns:a16="http://schemas.microsoft.com/office/drawing/2014/main" id="{A0E9FC79-6542-7ABD-939E-D3CE4D42C98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22" y="7653"/>
                      <a:ext cx="4612" cy="840"/>
                      <a:chOff x="3818" y="6360"/>
                      <a:chExt cx="4612" cy="840"/>
                    </a:xfrm>
                    <a:grpFill/>
                  </p:grpSpPr>
                  <p:sp>
                    <p:nvSpPr>
                      <p:cNvPr id="135" name="Line 130">
                        <a:extLst>
                          <a:ext uri="{FF2B5EF4-FFF2-40B4-BE49-F238E27FC236}">
                            <a16:creationId xmlns:a16="http://schemas.microsoft.com/office/drawing/2014/main" id="{0A0AEAA4-B5A0-B97E-F61B-252F9097D91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7678" y="6375"/>
                        <a:ext cx="150" cy="825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6" name="Line 131">
                        <a:extLst>
                          <a:ext uri="{FF2B5EF4-FFF2-40B4-BE49-F238E27FC236}">
                            <a16:creationId xmlns:a16="http://schemas.microsoft.com/office/drawing/2014/main" id="{ED56AF1B-E6AE-253E-CAE5-1ED915BDFC7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7830" y="6360"/>
                        <a:ext cx="600" cy="9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7" name="Line 132">
                        <a:extLst>
                          <a:ext uri="{FF2B5EF4-FFF2-40B4-BE49-F238E27FC236}">
                            <a16:creationId xmlns:a16="http://schemas.microsoft.com/office/drawing/2014/main" id="{B68A8A01-ABE8-8399-9CD4-A7A55689606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490" y="6375"/>
                        <a:ext cx="150" cy="825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38" name="Line 133">
                        <a:extLst>
                          <a:ext uri="{FF2B5EF4-FFF2-40B4-BE49-F238E27FC236}">
                            <a16:creationId xmlns:a16="http://schemas.microsoft.com/office/drawing/2014/main" id="{4045CAC6-BA6B-C4E9-80DD-AEA9E3A9EE0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3818" y="6360"/>
                        <a:ext cx="670" cy="9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sp>
                  <p:nvSpPr>
                    <p:cNvPr id="130" name="Text Box 134">
                      <a:extLst>
                        <a:ext uri="{FF2B5EF4-FFF2-40B4-BE49-F238E27FC236}">
                          <a16:creationId xmlns:a16="http://schemas.microsoft.com/office/drawing/2014/main" id="{13F6B6F0-7CDD-1CF4-1A15-18C31BFF4EF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14" y="7188"/>
                      <a:ext cx="1214" cy="495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 i="1">
                          <a:latin typeface="Times New Roman" pitchFamily="18" charset="0"/>
                        </a:rPr>
                        <a:t>H</a:t>
                      </a:r>
                      <a:r>
                        <a:rPr lang="en-US" altLang="zh-CN" sz="1200" i="1" baseline="-25000">
                          <a:latin typeface="Times New Roman" pitchFamily="18" charset="0"/>
                        </a:rPr>
                        <a:t>H</a:t>
                      </a:r>
                      <a:r>
                        <a:rPr lang="en-US" altLang="zh-CN" sz="1200">
                          <a:latin typeface="Times New Roman" pitchFamily="18" charset="0"/>
                        </a:rPr>
                        <a:t>(</a:t>
                      </a:r>
                      <a:r>
                        <a:rPr lang="en-US" altLang="zh-CN" sz="1200" i="1">
                          <a:latin typeface="Times New Roman" pitchFamily="18" charset="0"/>
                        </a:rPr>
                        <a:t>f</a:t>
                      </a:r>
                      <a:r>
                        <a:rPr lang="en-US" altLang="zh-CN" sz="1200">
                          <a:latin typeface="Times New Roman" pitchFamily="18" charset="0"/>
                        </a:rPr>
                        <a:t>)</a:t>
                      </a:r>
                      <a:endParaRPr lang="en-US" altLang="zh-CN" sz="2400"/>
                    </a:p>
                  </p:txBody>
                </p:sp>
                <p:sp>
                  <p:nvSpPr>
                    <p:cNvPr id="131" name="Text Box 135">
                      <a:extLst>
                        <a:ext uri="{FF2B5EF4-FFF2-40B4-BE49-F238E27FC236}">
                          <a16:creationId xmlns:a16="http://schemas.microsoft.com/office/drawing/2014/main" id="{C89AE2A6-EA7A-6643-A2D9-6FF5D7BC680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78" y="7188"/>
                      <a:ext cx="1214" cy="495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 i="1">
                          <a:latin typeface="Times New Roman" pitchFamily="18" charset="0"/>
                        </a:rPr>
                        <a:t>H</a:t>
                      </a:r>
                      <a:r>
                        <a:rPr lang="en-US" altLang="zh-CN" sz="1200" i="1" baseline="-25000">
                          <a:latin typeface="Times New Roman" pitchFamily="18" charset="0"/>
                        </a:rPr>
                        <a:t>H</a:t>
                      </a:r>
                      <a:r>
                        <a:rPr lang="en-US" altLang="zh-CN" sz="1200">
                          <a:latin typeface="Times New Roman" pitchFamily="18" charset="0"/>
                        </a:rPr>
                        <a:t>(</a:t>
                      </a:r>
                      <a:r>
                        <a:rPr lang="en-US" altLang="zh-CN" sz="1200" i="1">
                          <a:latin typeface="Times New Roman" pitchFamily="18" charset="0"/>
                        </a:rPr>
                        <a:t>f</a:t>
                      </a:r>
                      <a:r>
                        <a:rPr lang="en-US" altLang="zh-CN" sz="1200">
                          <a:latin typeface="Times New Roman" pitchFamily="18" charset="0"/>
                        </a:rPr>
                        <a:t>)</a:t>
                      </a:r>
                      <a:endParaRPr lang="en-US" altLang="zh-CN" sz="2400"/>
                    </a:p>
                  </p:txBody>
                </p:sp>
                <p:sp>
                  <p:nvSpPr>
                    <p:cNvPr id="132" name="Text Box 136">
                      <a:extLst>
                        <a:ext uri="{FF2B5EF4-FFF2-40B4-BE49-F238E27FC236}">
                          <a16:creationId xmlns:a16="http://schemas.microsoft.com/office/drawing/2014/main" id="{22C60447-5F2F-E73B-E856-181AC211057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794" y="7047"/>
                      <a:ext cx="757" cy="46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400" i="1">
                          <a:latin typeface="Times New Roman" pitchFamily="18" charset="0"/>
                        </a:rPr>
                        <a:t>S</a:t>
                      </a:r>
                      <a:r>
                        <a:rPr lang="en-US" altLang="zh-CN" sz="1400">
                          <a:latin typeface="Times New Roman" pitchFamily="18" charset="0"/>
                        </a:rPr>
                        <a:t>(</a:t>
                      </a:r>
                      <a:r>
                        <a:rPr lang="en-US" altLang="zh-CN" sz="1400" i="1">
                          <a:latin typeface="Times New Roman" pitchFamily="18" charset="0"/>
                        </a:rPr>
                        <a:t>f</a:t>
                      </a:r>
                      <a:r>
                        <a:rPr lang="en-US" altLang="zh-CN" sz="1400">
                          <a:latin typeface="Times New Roman" pitchFamily="18" charset="0"/>
                        </a:rPr>
                        <a:t>)</a:t>
                      </a:r>
                      <a:endParaRPr lang="en-US" altLang="zh-CN" sz="2400"/>
                    </a:p>
                  </p:txBody>
                </p:sp>
                <p:sp>
                  <p:nvSpPr>
                    <p:cNvPr id="133" name="Text Box 137">
                      <a:extLst>
                        <a:ext uri="{FF2B5EF4-FFF2-40B4-BE49-F238E27FC236}">
                          <a16:creationId xmlns:a16="http://schemas.microsoft.com/office/drawing/2014/main" id="{26605DF4-BFFE-FEFA-7958-55A336CD5B1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892" y="7632"/>
                      <a:ext cx="1554" cy="39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>
                          <a:latin typeface="Times New Roman" pitchFamily="18" charset="0"/>
                        </a:rPr>
                        <a:t>Upper-sideband</a:t>
                      </a:r>
                      <a:endParaRPr lang="en-US" altLang="zh-CN" sz="2400"/>
                    </a:p>
                  </p:txBody>
                </p:sp>
                <p:sp>
                  <p:nvSpPr>
                    <p:cNvPr id="134" name="Text Box 138">
                      <a:extLst>
                        <a:ext uri="{FF2B5EF4-FFF2-40B4-BE49-F238E27FC236}">
                          <a16:creationId xmlns:a16="http://schemas.microsoft.com/office/drawing/2014/main" id="{B4B3D123-F18B-D445-4AAB-3749B35B913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20" y="7692"/>
                      <a:ext cx="1554" cy="39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>
                          <a:latin typeface="Times New Roman" pitchFamily="18" charset="0"/>
                        </a:rPr>
                        <a:t>Upper-sideband</a:t>
                      </a:r>
                      <a:endParaRPr lang="en-US" altLang="zh-CN" sz="2400"/>
                    </a:p>
                  </p:txBody>
                </p:sp>
              </p:grpSp>
            </p:grpSp>
            <p:grpSp>
              <p:nvGrpSpPr>
                <p:cNvPr id="98" name="Group 139">
                  <a:extLst>
                    <a:ext uri="{FF2B5EF4-FFF2-40B4-BE49-F238E27FC236}">
                      <a16:creationId xmlns:a16="http://schemas.microsoft.com/office/drawing/2014/main" id="{D0326CA3-5C02-1A22-9776-C323339B57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12" y="9378"/>
                  <a:ext cx="6404" cy="2265"/>
                  <a:chOff x="3012" y="9378"/>
                  <a:chExt cx="6404" cy="2265"/>
                </a:xfrm>
                <a:grpFill/>
              </p:grpSpPr>
              <p:sp>
                <p:nvSpPr>
                  <p:cNvPr id="99" name="Text Box 140">
                    <a:extLst>
                      <a:ext uri="{FF2B5EF4-FFF2-40B4-BE49-F238E27FC236}">
                        <a16:creationId xmlns:a16="http://schemas.microsoft.com/office/drawing/2014/main" id="{3FA7239B-E568-2C80-BC10-5C56864A246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2" y="11178"/>
                    <a:ext cx="6404" cy="465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ctr"/>
                    <a:r>
                      <a:rPr lang="en-US" altLang="zh-CN" sz="1400" dirty="0">
                        <a:latin typeface="Times New Roman" pitchFamily="18" charset="0"/>
                      </a:rPr>
                      <a:t>(c) Lower-sideband filter characteristic and signal frequency spectrum</a:t>
                    </a:r>
                    <a:endParaRPr lang="en-US" altLang="zh-CN" sz="2400" dirty="0"/>
                  </a:p>
                </p:txBody>
              </p:sp>
              <p:grpSp>
                <p:nvGrpSpPr>
                  <p:cNvPr id="100" name="Group 141">
                    <a:extLst>
                      <a:ext uri="{FF2B5EF4-FFF2-40B4-BE49-F238E27FC236}">
                        <a16:creationId xmlns:a16="http://schemas.microsoft.com/office/drawing/2014/main" id="{78724DC1-94DA-36CF-9295-C9F25D90468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22" y="9378"/>
                    <a:ext cx="4974" cy="1911"/>
                    <a:chOff x="3622" y="9378"/>
                    <a:chExt cx="4974" cy="1911"/>
                  </a:xfrm>
                  <a:grpFill/>
                </p:grpSpPr>
                <p:grpSp>
                  <p:nvGrpSpPr>
                    <p:cNvPr id="101" name="Group 142">
                      <a:extLst>
                        <a:ext uri="{FF2B5EF4-FFF2-40B4-BE49-F238E27FC236}">
                          <a16:creationId xmlns:a16="http://schemas.microsoft.com/office/drawing/2014/main" id="{916D3F0C-CE11-A408-0DAA-B9AC0C0521D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34" y="10014"/>
                      <a:ext cx="2990" cy="819"/>
                      <a:chOff x="4434" y="10014"/>
                      <a:chExt cx="2990" cy="819"/>
                    </a:xfrm>
                    <a:grpFill/>
                  </p:grpSpPr>
                  <p:sp>
                    <p:nvSpPr>
                      <p:cNvPr id="120" name="Line 143">
                        <a:extLst>
                          <a:ext uri="{FF2B5EF4-FFF2-40B4-BE49-F238E27FC236}">
                            <a16:creationId xmlns:a16="http://schemas.microsoft.com/office/drawing/2014/main" id="{2B2B9753-7435-CBED-9972-4988DEC12C5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434" y="10014"/>
                        <a:ext cx="150" cy="81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1" name="Line 144">
                        <a:extLst>
                          <a:ext uri="{FF2B5EF4-FFF2-40B4-BE49-F238E27FC236}">
                            <a16:creationId xmlns:a16="http://schemas.microsoft.com/office/drawing/2014/main" id="{E8758CDD-8BD9-F24A-EAD1-D1EB48D7BB9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7274" y="10023"/>
                        <a:ext cx="150" cy="81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2" name="Line 145">
                        <a:extLst>
                          <a:ext uri="{FF2B5EF4-FFF2-40B4-BE49-F238E27FC236}">
                            <a16:creationId xmlns:a16="http://schemas.microsoft.com/office/drawing/2014/main" id="{087D95EE-EAA4-962E-3829-BFED1CBC2FA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574" y="10083"/>
                        <a:ext cx="2710" cy="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3" name="Line 146">
                        <a:extLst>
                          <a:ext uri="{FF2B5EF4-FFF2-40B4-BE49-F238E27FC236}">
                            <a16:creationId xmlns:a16="http://schemas.microsoft.com/office/drawing/2014/main" id="{EC53B560-993E-AC16-5B07-E7B3CBA8B37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870" y="10299"/>
                        <a:ext cx="1080" cy="33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24" name="Line 147">
                        <a:extLst>
                          <a:ext uri="{FF2B5EF4-FFF2-40B4-BE49-F238E27FC236}">
                            <a16:creationId xmlns:a16="http://schemas.microsoft.com/office/drawing/2014/main" id="{23C9EF0E-4EA0-39FE-14BB-FCFAA4F2D3C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858" y="10404"/>
                        <a:ext cx="436" cy="285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</p:grpSp>
                <p:grpSp>
                  <p:nvGrpSpPr>
                    <p:cNvPr id="102" name="Group 148">
                      <a:extLst>
                        <a:ext uri="{FF2B5EF4-FFF2-40B4-BE49-F238E27FC236}">
                          <a16:creationId xmlns:a16="http://schemas.microsoft.com/office/drawing/2014/main" id="{08D19DF5-4B70-56FD-D801-5A1F03DC307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22" y="9378"/>
                      <a:ext cx="4974" cy="1911"/>
                      <a:chOff x="3622" y="9378"/>
                      <a:chExt cx="4974" cy="1911"/>
                    </a:xfrm>
                    <a:grpFill/>
                  </p:grpSpPr>
                  <p:grpSp>
                    <p:nvGrpSpPr>
                      <p:cNvPr id="103" name="Group 149">
                        <a:extLst>
                          <a:ext uri="{FF2B5EF4-FFF2-40B4-BE49-F238E27FC236}">
                            <a16:creationId xmlns:a16="http://schemas.microsoft.com/office/drawing/2014/main" id="{7D8D76BB-D8AD-3387-C11C-742A5F13DF2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22" y="9573"/>
                        <a:ext cx="4974" cy="1716"/>
                        <a:chOff x="3162" y="7149"/>
                        <a:chExt cx="4974" cy="1716"/>
                      </a:xfrm>
                      <a:grpFill/>
                    </p:grpSpPr>
                    <p:sp>
                      <p:nvSpPr>
                        <p:cNvPr id="108" name="Text Box 150">
                          <a:extLst>
                            <a:ext uri="{FF2B5EF4-FFF2-40B4-BE49-F238E27FC236}">
                              <a16:creationId xmlns:a16="http://schemas.microsoft.com/office/drawing/2014/main" id="{9E613456-5818-0573-8A2B-A71F4B236C76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714" y="8349"/>
                          <a:ext cx="654" cy="459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pPr algn="just"/>
                          <a:r>
                            <a:rPr lang="en-US" altLang="zh-CN" sz="1400">
                              <a:latin typeface="Times New Roman" pitchFamily="18" charset="0"/>
                            </a:rPr>
                            <a:t>-</a:t>
                          </a:r>
                          <a:r>
                            <a:rPr lang="en-US" altLang="zh-CN" sz="1400" i="1">
                              <a:latin typeface="Times New Roman" pitchFamily="18" charset="0"/>
                            </a:rPr>
                            <a:t>f</a:t>
                          </a:r>
                          <a:r>
                            <a:rPr lang="en-US" altLang="zh-CN" sz="1400" baseline="-25000">
                              <a:latin typeface="Times New Roman" pitchFamily="18" charset="0"/>
                            </a:rPr>
                            <a:t>0</a:t>
                          </a:r>
                          <a:endParaRPr lang="en-US" altLang="zh-CN" sz="2400"/>
                        </a:p>
                      </p:txBody>
                    </p:sp>
                    <p:grpSp>
                      <p:nvGrpSpPr>
                        <p:cNvPr id="109" name="Group 151">
                          <a:extLst>
                            <a:ext uri="{FF2B5EF4-FFF2-40B4-BE49-F238E27FC236}">
                              <a16:creationId xmlns:a16="http://schemas.microsoft.com/office/drawing/2014/main" id="{C3F4B6B1-B2E2-B011-5BA8-489283578D9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162" y="7149"/>
                          <a:ext cx="4974" cy="1716"/>
                          <a:chOff x="3162" y="7149"/>
                          <a:chExt cx="4974" cy="1716"/>
                        </a:xfrm>
                        <a:grpFill/>
                      </p:grpSpPr>
                      <p:sp>
                        <p:nvSpPr>
                          <p:cNvPr id="110" name="Text Box 152">
                            <a:extLst>
                              <a:ext uri="{FF2B5EF4-FFF2-40B4-BE49-F238E27FC236}">
                                <a16:creationId xmlns:a16="http://schemas.microsoft.com/office/drawing/2014/main" id="{901D34E1-4321-7C3A-2012-C345D93397CE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826" y="8364"/>
                            <a:ext cx="556" cy="489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algn="just"/>
                            <a:r>
                              <a:rPr lang="en-US" altLang="zh-CN" sz="1400" i="1">
                                <a:latin typeface="Times New Roman" pitchFamily="18" charset="0"/>
                              </a:rPr>
                              <a:t>f</a:t>
                            </a:r>
                            <a:r>
                              <a:rPr lang="en-US" altLang="zh-CN" sz="1400" i="1" baseline="-25000">
                                <a:latin typeface="Times New Roman" pitchFamily="18" charset="0"/>
                              </a:rPr>
                              <a:t>0</a:t>
                            </a:r>
                            <a:endParaRPr lang="en-US" altLang="zh-CN" sz="2400"/>
                          </a:p>
                        </p:txBody>
                      </p:sp>
                      <p:sp>
                        <p:nvSpPr>
                          <p:cNvPr id="111" name="Text Box 153">
                            <a:extLst>
                              <a:ext uri="{FF2B5EF4-FFF2-40B4-BE49-F238E27FC236}">
                                <a16:creationId xmlns:a16="http://schemas.microsoft.com/office/drawing/2014/main" id="{70B3ECAB-AE74-DC12-F973-CC92442F973D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87" y="8353"/>
                            <a:ext cx="568" cy="512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 altLang="en-US" sz="2400"/>
                          </a:p>
                        </p:txBody>
                      </p:sp>
                      <p:sp>
                        <p:nvSpPr>
                          <p:cNvPr id="112" name="Text Box 154">
                            <a:extLst>
                              <a:ext uri="{FF2B5EF4-FFF2-40B4-BE49-F238E27FC236}">
                                <a16:creationId xmlns:a16="http://schemas.microsoft.com/office/drawing/2014/main" id="{001FA5D7-C07D-9432-6044-0EF72753EF20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671" y="8259"/>
                            <a:ext cx="465" cy="468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algn="just"/>
                            <a:r>
                              <a:rPr lang="en-US" altLang="zh-CN" sz="1400" i="1">
                                <a:latin typeface="Times New Roman" pitchFamily="18" charset="0"/>
                              </a:rPr>
                              <a:t>f</a:t>
                            </a:r>
                            <a:endParaRPr lang="en-US" altLang="zh-CN" sz="2400"/>
                          </a:p>
                        </p:txBody>
                      </p:sp>
                      <p:pic>
                        <p:nvPicPr>
                          <p:cNvPr id="113" name="Picture 155" descr="SSB频谱产生">
                            <a:extLst>
                              <a:ext uri="{FF2B5EF4-FFF2-40B4-BE49-F238E27FC236}">
                                <a16:creationId xmlns:a16="http://schemas.microsoft.com/office/drawing/2014/main" id="{614BE293-D482-C117-28C1-15B64B277D0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 cstate="print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H="1">
                            <a:off x="6377" y="7734"/>
                            <a:ext cx="469" cy="739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  <p:pic>
                        <p:nvPicPr>
                          <p:cNvPr id="114" name="Picture 156" descr="SSB频谱产生">
                            <a:extLst>
                              <a:ext uri="{FF2B5EF4-FFF2-40B4-BE49-F238E27FC236}">
                                <a16:creationId xmlns:a16="http://schemas.microsoft.com/office/drawing/2014/main" id="{557BB022-90AE-E174-2CC9-E2A45911E54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 cstate="print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0" y="7776"/>
                            <a:ext cx="468" cy="713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  <p:sp>
                        <p:nvSpPr>
                          <p:cNvPr id="115" name="Line 157">
                            <a:extLst>
                              <a:ext uri="{FF2B5EF4-FFF2-40B4-BE49-F238E27FC236}">
                                <a16:creationId xmlns:a16="http://schemas.microsoft.com/office/drawing/2014/main" id="{D2FDB915-EDE7-500E-F356-40963C58B465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 flipV="1">
                            <a:off x="6994" y="8226"/>
                            <a:ext cx="1" cy="165"/>
                          </a:xfrm>
                          <a:prstGeom prst="line">
                            <a:avLst/>
                          </a:prstGeom>
                          <a:grp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6" name="Line 158">
                            <a:extLst>
                              <a:ext uri="{FF2B5EF4-FFF2-40B4-BE49-F238E27FC236}">
                                <a16:creationId xmlns:a16="http://schemas.microsoft.com/office/drawing/2014/main" id="{AEABFA05-4FFF-F1CA-9B6D-61D54EEC0A4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162" y="8409"/>
                            <a:ext cx="4550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7" name="Line 159">
                            <a:extLst>
                              <a:ext uri="{FF2B5EF4-FFF2-40B4-BE49-F238E27FC236}">
                                <a16:creationId xmlns:a16="http://schemas.microsoft.com/office/drawing/2014/main" id="{9BF1D2F8-BB81-4C59-29C0-8E49625EF8F5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491" y="7205"/>
                            <a:ext cx="0" cy="1204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8" name="Line 160">
                            <a:extLst>
                              <a:ext uri="{FF2B5EF4-FFF2-40B4-BE49-F238E27FC236}">
                                <a16:creationId xmlns:a16="http://schemas.microsoft.com/office/drawing/2014/main" id="{00473603-044A-7C76-5AC0-CFD134359902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991" y="8267"/>
                            <a:ext cx="0" cy="130"/>
                          </a:xfrm>
                          <a:prstGeom prst="line">
                            <a:avLst/>
                          </a:prstGeom>
                          <a:grp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9" name="Text Box 161">
                            <a:extLst>
                              <a:ext uri="{FF2B5EF4-FFF2-40B4-BE49-F238E27FC236}">
                                <a16:creationId xmlns:a16="http://schemas.microsoft.com/office/drawing/2014/main" id="{153E87BF-1349-F008-A467-FD7C8C891B4A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463" y="7149"/>
                            <a:ext cx="757" cy="468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 altLang="en-US" sz="2400"/>
                          </a:p>
                        </p:txBody>
                      </p:sp>
                    </p:grpSp>
                  </p:grpSp>
                  <p:sp>
                    <p:nvSpPr>
                      <p:cNvPr id="104" name="Text Box 162">
                        <a:extLst>
                          <a:ext uri="{FF2B5EF4-FFF2-40B4-BE49-F238E27FC236}">
                            <a16:creationId xmlns:a16="http://schemas.microsoft.com/office/drawing/2014/main" id="{E7F50E5F-1C01-7A2E-04ED-A6D3CB327D2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814" y="9378"/>
                        <a:ext cx="1214" cy="49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pPr algn="just"/>
                        <a:r>
                          <a:rPr lang="en-US" altLang="zh-CN" sz="1200" i="1">
                            <a:latin typeface="Times New Roman" pitchFamily="18" charset="0"/>
                          </a:rPr>
                          <a:t>H</a:t>
                        </a:r>
                        <a:r>
                          <a:rPr lang="en-US" altLang="zh-CN" sz="1200" i="1" baseline="-25000">
                            <a:latin typeface="Times New Roman" pitchFamily="18" charset="0"/>
                          </a:rPr>
                          <a:t>L</a:t>
                        </a:r>
                        <a:r>
                          <a:rPr lang="en-US" altLang="zh-CN" sz="1200">
                            <a:latin typeface="Times New Roman" pitchFamily="18" charset="0"/>
                          </a:rPr>
                          <a:t>(</a:t>
                        </a:r>
                        <a:r>
                          <a:rPr lang="en-US" altLang="zh-CN" sz="1200" i="1">
                            <a:latin typeface="Times New Roman" pitchFamily="18" charset="0"/>
                          </a:rPr>
                          <a:t>f</a:t>
                        </a:r>
                        <a:r>
                          <a:rPr lang="en-US" altLang="zh-CN" sz="1200">
                            <a:latin typeface="Times New Roman" pitchFamily="18" charset="0"/>
                          </a:rPr>
                          <a:t>)</a:t>
                        </a:r>
                        <a:endParaRPr lang="en-US" altLang="zh-CN" sz="2400"/>
                      </a:p>
                    </p:txBody>
                  </p:sp>
                  <p:sp>
                    <p:nvSpPr>
                      <p:cNvPr id="105" name="Line 163">
                        <a:extLst>
                          <a:ext uri="{FF2B5EF4-FFF2-40B4-BE49-F238E27FC236}">
                            <a16:creationId xmlns:a16="http://schemas.microsoft.com/office/drawing/2014/main" id="{0CD20792-3279-E3C2-E199-61CB4E17991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948" y="9768"/>
                        <a:ext cx="300" cy="30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6" name="Text Box 164">
                        <a:extLst>
                          <a:ext uri="{FF2B5EF4-FFF2-40B4-BE49-F238E27FC236}">
                            <a16:creationId xmlns:a16="http://schemas.microsoft.com/office/drawing/2014/main" id="{65C95A6B-12DD-68EA-2295-69872796C75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824" y="9462"/>
                        <a:ext cx="757" cy="468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pPr algn="just"/>
                        <a:r>
                          <a:rPr lang="en-US" altLang="zh-CN" sz="1400" i="1">
                            <a:latin typeface="Times New Roman" pitchFamily="18" charset="0"/>
                          </a:rPr>
                          <a:t>S</a:t>
                        </a:r>
                        <a:r>
                          <a:rPr lang="en-US" altLang="zh-CN" sz="1400">
                            <a:latin typeface="Times New Roman" pitchFamily="18" charset="0"/>
                          </a:rPr>
                          <a:t>(</a:t>
                        </a:r>
                        <a:r>
                          <a:rPr lang="en-US" altLang="zh-CN" sz="1400" i="1">
                            <a:latin typeface="Times New Roman" pitchFamily="18" charset="0"/>
                          </a:rPr>
                          <a:t>f</a:t>
                        </a:r>
                        <a:r>
                          <a:rPr lang="en-US" altLang="zh-CN" sz="1400">
                            <a:latin typeface="Times New Roman" pitchFamily="18" charset="0"/>
                          </a:rPr>
                          <a:t>)</a:t>
                        </a:r>
                        <a:endParaRPr lang="en-US" altLang="zh-CN" sz="2400"/>
                      </a:p>
                    </p:txBody>
                  </p:sp>
                  <p:sp>
                    <p:nvSpPr>
                      <p:cNvPr id="107" name="Text Box 165">
                        <a:extLst>
                          <a:ext uri="{FF2B5EF4-FFF2-40B4-BE49-F238E27FC236}">
                            <a16:creationId xmlns:a16="http://schemas.microsoft.com/office/drawing/2014/main" id="{B07B987E-EE69-A969-6728-82BB65AAD63A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886" y="9975"/>
                        <a:ext cx="1554" cy="39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pPr algn="just"/>
                        <a:r>
                          <a:rPr lang="en-US" altLang="zh-CN" sz="1200">
                            <a:latin typeface="Times New Roman" pitchFamily="18" charset="0"/>
                          </a:rPr>
                          <a:t>Lower-sideband</a:t>
                        </a:r>
                        <a:endParaRPr lang="en-US" altLang="zh-CN" sz="2400"/>
                      </a:p>
                    </p:txBody>
                  </p:sp>
                </p:grpSp>
              </p:grpSp>
            </p:grpSp>
          </p:grpSp>
          <p:grpSp>
            <p:nvGrpSpPr>
              <p:cNvPr id="83" name="Group 166">
                <a:extLst>
                  <a:ext uri="{FF2B5EF4-FFF2-40B4-BE49-F238E27FC236}">
                    <a16:creationId xmlns:a16="http://schemas.microsoft.com/office/drawing/2014/main" id="{0C814819-1F44-8F64-2157-28798F298C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8" y="4998"/>
                <a:ext cx="6324" cy="2895"/>
                <a:chOff x="2808" y="4998"/>
                <a:chExt cx="6324" cy="2895"/>
              </a:xfrm>
              <a:grpFill/>
            </p:grpSpPr>
            <p:sp>
              <p:nvSpPr>
                <p:cNvPr id="84" name="Text Box 167">
                  <a:extLst>
                    <a:ext uri="{FF2B5EF4-FFF2-40B4-BE49-F238E27FC236}">
                      <a16:creationId xmlns:a16="http://schemas.microsoft.com/office/drawing/2014/main" id="{C00FCE71-DA69-7502-9AF3-BD220EC6AD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12" y="6573"/>
                  <a:ext cx="6120" cy="46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CN" sz="1400" dirty="0">
                      <a:latin typeface="Times New Roman" pitchFamily="18" charset="0"/>
                    </a:rPr>
                    <a:t>(a) Signal frequency spectrum before filtering</a:t>
                  </a:r>
                  <a:endParaRPr lang="en-US" altLang="zh-CN" sz="2400" dirty="0"/>
                </a:p>
              </p:txBody>
            </p:sp>
            <p:grpSp>
              <p:nvGrpSpPr>
                <p:cNvPr id="85" name="Group 168">
                  <a:extLst>
                    <a:ext uri="{FF2B5EF4-FFF2-40B4-BE49-F238E27FC236}">
                      <a16:creationId xmlns:a16="http://schemas.microsoft.com/office/drawing/2014/main" id="{B852EFD1-EF67-8136-A8F8-8086EDBA87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08" y="4998"/>
                  <a:ext cx="6324" cy="2895"/>
                  <a:chOff x="2808" y="4998"/>
                  <a:chExt cx="6324" cy="2895"/>
                </a:xfrm>
                <a:grpFill/>
              </p:grpSpPr>
              <p:grpSp>
                <p:nvGrpSpPr>
                  <p:cNvPr id="86" name="Group 169">
                    <a:extLst>
                      <a:ext uri="{FF2B5EF4-FFF2-40B4-BE49-F238E27FC236}">
                        <a16:creationId xmlns:a16="http://schemas.microsoft.com/office/drawing/2014/main" id="{97737C76-6F05-15ED-7E26-ECA72F614F5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08" y="4998"/>
                    <a:ext cx="6324" cy="1340"/>
                    <a:chOff x="2808" y="4998"/>
                    <a:chExt cx="6324" cy="1340"/>
                  </a:xfrm>
                  <a:grpFill/>
                </p:grpSpPr>
                <p:pic>
                  <p:nvPicPr>
                    <p:cNvPr id="92" name="Picture 170" descr="SSB频谱产生">
                      <a:extLst>
                        <a:ext uri="{FF2B5EF4-FFF2-40B4-BE49-F238E27FC236}">
                          <a16:creationId xmlns:a16="http://schemas.microsoft.com/office/drawing/2014/main" id="{128D7526-50BA-BA43-F092-7D2EC5804C3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485" y="5625"/>
                      <a:ext cx="468" cy="71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3" name="Text Box 171">
                      <a:extLst>
                        <a:ext uri="{FF2B5EF4-FFF2-40B4-BE49-F238E27FC236}">
                          <a16:creationId xmlns:a16="http://schemas.microsoft.com/office/drawing/2014/main" id="{0E6F2CF2-9767-5031-EE86-2D79DC4A910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578" y="5076"/>
                      <a:ext cx="1554" cy="39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>
                          <a:latin typeface="Times New Roman" pitchFamily="18" charset="0"/>
                        </a:rPr>
                        <a:t>Upper-sideband</a:t>
                      </a:r>
                      <a:endParaRPr lang="en-US" altLang="zh-CN" sz="2400"/>
                    </a:p>
                  </p:txBody>
                </p:sp>
                <p:sp>
                  <p:nvSpPr>
                    <p:cNvPr id="94" name="Text Box 172">
                      <a:extLst>
                        <a:ext uri="{FF2B5EF4-FFF2-40B4-BE49-F238E27FC236}">
                          <a16:creationId xmlns:a16="http://schemas.microsoft.com/office/drawing/2014/main" id="{C5B3F164-B830-816B-B865-61E942FFB5C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848" y="4998"/>
                      <a:ext cx="757" cy="46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400" i="1">
                          <a:latin typeface="Times New Roman" pitchFamily="18" charset="0"/>
                        </a:rPr>
                        <a:t>S</a:t>
                      </a:r>
                      <a:r>
                        <a:rPr lang="en-US" altLang="zh-CN" sz="1400">
                          <a:latin typeface="Times New Roman" pitchFamily="18" charset="0"/>
                          <a:sym typeface="Symbol" pitchFamily="18" charset="2"/>
                        </a:rPr>
                        <a:t></a:t>
                      </a:r>
                      <a:r>
                        <a:rPr lang="en-US" altLang="zh-CN" sz="1400">
                          <a:latin typeface="Times New Roman" pitchFamily="18" charset="0"/>
                        </a:rPr>
                        <a:t>(</a:t>
                      </a:r>
                      <a:r>
                        <a:rPr lang="en-US" altLang="zh-CN" sz="1400" i="1">
                          <a:latin typeface="Times New Roman" pitchFamily="18" charset="0"/>
                        </a:rPr>
                        <a:t>f</a:t>
                      </a:r>
                      <a:r>
                        <a:rPr lang="en-US" altLang="zh-CN" sz="1400">
                          <a:latin typeface="Times New Roman" pitchFamily="18" charset="0"/>
                        </a:rPr>
                        <a:t>)</a:t>
                      </a:r>
                      <a:endParaRPr lang="en-US" altLang="zh-CN" sz="2400"/>
                    </a:p>
                  </p:txBody>
                </p:sp>
                <p:sp>
                  <p:nvSpPr>
                    <p:cNvPr id="95" name="Text Box 173">
                      <a:extLst>
                        <a:ext uri="{FF2B5EF4-FFF2-40B4-BE49-F238E27FC236}">
                          <a16:creationId xmlns:a16="http://schemas.microsoft.com/office/drawing/2014/main" id="{DBC235B6-2B17-C940-5148-D149AC432C1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08" y="5238"/>
                      <a:ext cx="1554" cy="39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>
                          <a:latin typeface="Times New Roman" pitchFamily="18" charset="0"/>
                        </a:rPr>
                        <a:t>Upper-sideband</a:t>
                      </a:r>
                      <a:endParaRPr lang="en-US" altLang="zh-CN" sz="2400"/>
                    </a:p>
                  </p:txBody>
                </p:sp>
                <p:sp>
                  <p:nvSpPr>
                    <p:cNvPr id="96" name="Text Box 174">
                      <a:extLst>
                        <a:ext uri="{FF2B5EF4-FFF2-40B4-BE49-F238E27FC236}">
                          <a16:creationId xmlns:a16="http://schemas.microsoft.com/office/drawing/2014/main" id="{27FB8E62-CAA0-4EE6-6BCE-4CE5CB83259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536" y="5178"/>
                      <a:ext cx="1554" cy="39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algn="just"/>
                      <a:r>
                        <a:rPr lang="en-US" altLang="zh-CN" sz="1200">
                          <a:latin typeface="Times New Roman" pitchFamily="18" charset="0"/>
                        </a:rPr>
                        <a:t>Lower-sideband</a:t>
                      </a:r>
                      <a:endParaRPr lang="en-US" altLang="zh-CN" sz="2400"/>
                    </a:p>
                  </p:txBody>
                </p:sp>
              </p:grpSp>
              <p:grpSp>
                <p:nvGrpSpPr>
                  <p:cNvPr id="87" name="Group 175">
                    <a:extLst>
                      <a:ext uri="{FF2B5EF4-FFF2-40B4-BE49-F238E27FC236}">
                        <a16:creationId xmlns:a16="http://schemas.microsoft.com/office/drawing/2014/main" id="{D5D88656-ECDE-953F-CE54-AEBB7E2265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48" y="5583"/>
                    <a:ext cx="4550" cy="2310"/>
                    <a:chOff x="3548" y="5583"/>
                    <a:chExt cx="4550" cy="2310"/>
                  </a:xfrm>
                  <a:grpFill/>
                </p:grpSpPr>
                <p:pic>
                  <p:nvPicPr>
                    <p:cNvPr id="88" name="Picture 176" descr="SSB频谱产生">
                      <a:extLst>
                        <a:ext uri="{FF2B5EF4-FFF2-40B4-BE49-F238E27FC236}">
                          <a16:creationId xmlns:a16="http://schemas.microsoft.com/office/drawing/2014/main" id="{E00B41F7-AFA9-FAB5-F9D8-9DD4185FCF88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471" y="5583"/>
                      <a:ext cx="467" cy="739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89" name="Line 177">
                      <a:extLst>
                        <a:ext uri="{FF2B5EF4-FFF2-40B4-BE49-F238E27FC236}">
                          <a16:creationId xmlns:a16="http://schemas.microsoft.com/office/drawing/2014/main" id="{E65CCD28-B643-F4D8-145D-AD0C16EE139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48" y="6258"/>
                      <a:ext cx="4550" cy="0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0" name="Line 178">
                      <a:extLst>
                        <a:ext uri="{FF2B5EF4-FFF2-40B4-BE49-F238E27FC236}">
                          <a16:creationId xmlns:a16="http://schemas.microsoft.com/office/drawing/2014/main" id="{0DC96A0F-D5AA-C403-107D-F78A8F3A85A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234" y="7623"/>
                      <a:ext cx="284" cy="27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1" name="Line 179">
                      <a:extLst>
                        <a:ext uri="{FF2B5EF4-FFF2-40B4-BE49-F238E27FC236}">
                          <a16:creationId xmlns:a16="http://schemas.microsoft.com/office/drawing/2014/main" id="{673BB500-940E-DD94-1707-371223161C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144" y="7563"/>
                      <a:ext cx="344" cy="21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</p:grpSp>
        <p:grpSp>
          <p:nvGrpSpPr>
            <p:cNvPr id="79" name="Group 180">
              <a:extLst>
                <a:ext uri="{FF2B5EF4-FFF2-40B4-BE49-F238E27FC236}">
                  <a16:creationId xmlns:a16="http://schemas.microsoft.com/office/drawing/2014/main" id="{20B08E1A-2482-C5E7-595D-691D4E50A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8028"/>
              <a:ext cx="4658" cy="285"/>
              <a:chOff x="3552" y="8028"/>
              <a:chExt cx="4658" cy="285"/>
            </a:xfrm>
            <a:grpFill/>
          </p:grpSpPr>
          <p:sp>
            <p:nvSpPr>
              <p:cNvPr id="80" name="Line 181">
                <a:extLst>
                  <a:ext uri="{FF2B5EF4-FFF2-40B4-BE49-F238E27FC236}">
                    <a16:creationId xmlns:a16="http://schemas.microsoft.com/office/drawing/2014/main" id="{A770DC86-F11B-1463-3F88-6F901CB27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8028"/>
                <a:ext cx="316" cy="285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Line 182">
                <a:extLst>
                  <a:ext uri="{FF2B5EF4-FFF2-40B4-BE49-F238E27FC236}">
                    <a16:creationId xmlns:a16="http://schemas.microsoft.com/office/drawing/2014/main" id="{7700891C-0486-7400-BD95-835E21523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60" y="8040"/>
                <a:ext cx="450" cy="24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64" name="灯片编号占位符 4">
            <a:extLst>
              <a:ext uri="{FF2B5EF4-FFF2-40B4-BE49-F238E27FC236}">
                <a16:creationId xmlns:a16="http://schemas.microsoft.com/office/drawing/2014/main" id="{825FE41F-2811-6694-C8D3-0C43BDB8D331}"/>
              </a:ext>
            </a:extLst>
          </p:cNvPr>
          <p:cNvSpPr txBox="1">
            <a:spLocks/>
          </p:cNvSpPr>
          <p:nvPr/>
        </p:nvSpPr>
        <p:spPr>
          <a:xfrm>
            <a:off x="8040812" y="628777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008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1909-2407-B713-291A-D17D242A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5CF3E6D-8621-2593-6975-BA10A5E9A9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C9BDA93-C094-0C35-140C-A7CE078C69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DD4F40-EFD6-4873-5DE8-A632F216C4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353F34-D3F5-FA78-4B06-286744C0E1A0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SSB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678371-3968-4031-AF01-F8AB6977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AD32C08-7C18-DEEB-BDDF-8DF98044A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Demodulation: A carrier is multiplied to the received signal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Time-domain and frequency-domain operations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∗</m:t>
                      </m:r>
                      <m:r>
                        <a:rPr lang="en-US" altLang="zh-CN" sz="2400" i="1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zh-CN" sz="2400">
                              <a:latin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T</m:t>
                          </m:r>
                        </m:e>
                      </m:groupChr>
                      <m:r>
                        <a:rPr lang="en-US" altLang="zh-CN" sz="2400" i="1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𝑌</m:t>
                      </m:r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𝜔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altLang="zh-CN" sz="2400">
                              <a:latin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T</m:t>
                          </m:r>
                        </m:e>
                      </m:groupChr>
                      <m:r>
                        <a:rPr lang="en-US" altLang="zh-CN" sz="2400" i="1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∗</m:t>
                      </m:r>
                      <m:r>
                        <a:rPr lang="en-US" altLang="zh-CN" sz="2400" i="1">
                          <a:latin typeface="Cambria Math"/>
                        </a:rPr>
                        <m:t>𝑌</m:t>
                      </m:r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𝜔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multiplication of carrier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the received signal is equivalent to the convolution of the carrier frequency spectrum with the signal frequency spectrum in the frequency domain. 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AD32C08-7C18-DEEB-BDDF-8DF98044A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 r="-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081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50B0-B1A8-18BF-2199-BDFD7A21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6056BF08-4B0D-CB2B-0316-72181A69B4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A11B6CC-8916-2BAC-2BED-C533F6BD0222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14F02A-464A-E8FB-2B46-B662FF7E7199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FCEA25-4410-14B7-2A44-ABE0FAC0AA1E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9E180CB-9F5A-7E73-9E5A-42643A83540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31981F2-99C4-8EEB-722E-E265A63DCB1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EFFE5956-511F-E14F-1476-15AA940DAAE2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06CA7AE-E368-4CDB-0F79-B5BD37593FEB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F0C8EE7-6EB3-BD25-3B95-9DE13648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19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64ABE6-A1A6-B481-CD80-326EC89A2F54}"/>
              </a:ext>
            </a:extLst>
          </p:cNvPr>
          <p:cNvSpPr txBox="1"/>
          <p:nvPr/>
        </p:nvSpPr>
        <p:spPr>
          <a:xfrm>
            <a:off x="5270500" y="1720850"/>
            <a:ext cx="53340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(AM)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Double-sideband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(DSB)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(SSB)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(VSB)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Angle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</p:txBody>
      </p:sp>
    </p:spTree>
    <p:extLst>
      <p:ext uri="{BB962C8B-B14F-4D97-AF65-F5344CB8AC3E}">
        <p14:creationId xmlns:p14="http://schemas.microsoft.com/office/powerpoint/2010/main" val="1360222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18D2-586F-49A4-9A85-E181B6DE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57E8DF0-0824-DFD8-E05B-177F91A931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D5D7B9CA-9A0B-6B56-4EEF-17F4CFDD23C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2946F6-3E51-0D54-0440-5AA41261995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B2927A-18B3-3CEC-05DB-82F4B318AC03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(VSB)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278EA0-5108-BB59-1915-4D4D347A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20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29A27A1-B9A0-C0EE-E45C-86CB7FAB4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12110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Despite the high power and spectrum efficiency, SSB requires high system complexity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local carrier at the demodulator must have the same frequency and phase as that in the transmitter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modulator should have a very high-quality filter to attain SSB from DSB or AM signals. </a:t>
            </a:r>
          </a:p>
          <a:p>
            <a:pPr marL="342900" lvl="1" indent="-342900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VSB allows the modulating signal to contain very low frequency and DC components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97">
            <a:extLst>
              <a:ext uri="{FF2B5EF4-FFF2-40B4-BE49-F238E27FC236}">
                <a16:creationId xmlns:a16="http://schemas.microsoft.com/office/drawing/2014/main" id="{AF9951AE-03A4-D65C-8429-3BDE918C1D6B}"/>
              </a:ext>
            </a:extLst>
          </p:cNvPr>
          <p:cNvGrpSpPr>
            <a:grpSpLocks/>
          </p:cNvGrpSpPr>
          <p:nvPr/>
        </p:nvGrpSpPr>
        <p:grpSpPr bwMode="auto">
          <a:xfrm>
            <a:off x="927100" y="5166162"/>
            <a:ext cx="4572000" cy="1304925"/>
            <a:chOff x="2880" y="1253"/>
            <a:chExt cx="2880" cy="822"/>
          </a:xfrm>
        </p:grpSpPr>
        <p:grpSp>
          <p:nvGrpSpPr>
            <p:cNvPr id="10" name="Group 89">
              <a:extLst>
                <a:ext uri="{FF2B5EF4-FFF2-40B4-BE49-F238E27FC236}">
                  <a16:creationId xmlns:a16="http://schemas.microsoft.com/office/drawing/2014/main" id="{9EE8A9BB-C961-4B71-13AC-62E66ED82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1417"/>
              <a:ext cx="1695" cy="260"/>
              <a:chOff x="4191" y="4361"/>
              <a:chExt cx="3053" cy="426"/>
            </a:xfrm>
          </p:grpSpPr>
          <p:sp>
            <p:nvSpPr>
              <p:cNvPr id="17" name="Line 90">
                <a:extLst>
                  <a:ext uri="{FF2B5EF4-FFF2-40B4-BE49-F238E27FC236}">
                    <a16:creationId xmlns:a16="http://schemas.microsoft.com/office/drawing/2014/main" id="{4653D509-29F8-2478-D20E-B94FDDAAD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1" y="4573"/>
                <a:ext cx="352" cy="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Line 91">
                <a:extLst>
                  <a:ext uri="{FF2B5EF4-FFF2-40B4-BE49-F238E27FC236}">
                    <a16:creationId xmlns:a16="http://schemas.microsoft.com/office/drawing/2014/main" id="{F22158DB-62BC-EB58-14BD-FF8DFEAE2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3" y="4572"/>
                <a:ext cx="471" cy="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Line 92">
                <a:extLst>
                  <a:ext uri="{FF2B5EF4-FFF2-40B4-BE49-F238E27FC236}">
                    <a16:creationId xmlns:a16="http://schemas.microsoft.com/office/drawing/2014/main" id="{A2A61372-74FC-035F-40D8-02CB7F527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9" y="4568"/>
                <a:ext cx="444" cy="13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 Box 93">
                <a:extLst>
                  <a:ext uri="{FF2B5EF4-FFF2-40B4-BE49-F238E27FC236}">
                    <a16:creationId xmlns:a16="http://schemas.microsoft.com/office/drawing/2014/main" id="{6EF9C84B-2EB3-3772-8FE8-30A7D18AFA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4" y="4361"/>
                <a:ext cx="920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36000"/>
              <a:lstStyle/>
              <a:p>
                <a:pPr algn="ctr">
                  <a:lnSpc>
                    <a:spcPct val="128000"/>
                  </a:lnSpc>
                </a:pPr>
                <a:r>
                  <a:rPr lang="en-US" altLang="zh-CN" sz="1600" b="1" dirty="0">
                    <a:latin typeface="宋体" pitchFamily="2" charset="-122"/>
                    <a:sym typeface="Symbol" pitchFamily="18" charset="2"/>
                  </a:rPr>
                  <a:t></a:t>
                </a:r>
                <a:endParaRPr lang="en-US" altLang="zh-CN" dirty="0"/>
              </a:p>
            </p:txBody>
          </p:sp>
          <p:sp>
            <p:nvSpPr>
              <p:cNvPr id="21" name="Text Box 94">
                <a:extLst>
                  <a:ext uri="{FF2B5EF4-FFF2-40B4-BE49-F238E27FC236}">
                    <a16:creationId xmlns:a16="http://schemas.microsoft.com/office/drawing/2014/main" id="{B23C4052-77A9-3F16-4E01-03EFD7B9D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5" y="4361"/>
                <a:ext cx="920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600" b="1" i="1" dirty="0">
                    <a:latin typeface="Times New Roman" pitchFamily="18" charset="0"/>
                  </a:rPr>
                  <a:t>H</a:t>
                </a:r>
                <a:r>
                  <a:rPr lang="en-US" altLang="zh-CN" sz="1600" b="1" dirty="0">
                    <a:latin typeface="Times New Roman" pitchFamily="18" charset="0"/>
                  </a:rPr>
                  <a:t>(</a:t>
                </a:r>
                <a:r>
                  <a:rPr lang="en-US" altLang="zh-CN" sz="1600" b="1" i="1" dirty="0">
                    <a:latin typeface="Times New Roman" pitchFamily="18" charset="0"/>
                  </a:rPr>
                  <a:t>f</a:t>
                </a:r>
                <a:r>
                  <a:rPr lang="en-US" altLang="zh-CN" sz="1600" b="1" dirty="0">
                    <a:latin typeface="Times New Roman" pitchFamily="18" charset="0"/>
                  </a:rPr>
                  <a:t>)</a:t>
                </a:r>
                <a:endParaRPr lang="en-US" altLang="zh-CN" sz="2800" b="1" dirty="0"/>
              </a:p>
            </p:txBody>
          </p:sp>
        </p:grpSp>
        <p:grpSp>
          <p:nvGrpSpPr>
            <p:cNvPr id="11" name="Group 96">
              <a:extLst>
                <a:ext uri="{FF2B5EF4-FFF2-40B4-BE49-F238E27FC236}">
                  <a16:creationId xmlns:a16="http://schemas.microsoft.com/office/drawing/2014/main" id="{84FD19A7-16CC-447D-AF07-79E1EB4CB0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253"/>
              <a:ext cx="2880" cy="822"/>
              <a:chOff x="2880" y="1253"/>
              <a:chExt cx="2880" cy="822"/>
            </a:xfrm>
          </p:grpSpPr>
          <p:sp>
            <p:nvSpPr>
              <p:cNvPr id="12" name="Text Box 81">
                <a:extLst>
                  <a:ext uri="{FF2B5EF4-FFF2-40B4-BE49-F238E27FC236}">
                    <a16:creationId xmlns:a16="http://schemas.microsoft.com/office/drawing/2014/main" id="{46EB2B62-B60F-5AD6-9004-4AC292510E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" y="1253"/>
                <a:ext cx="36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400" b="1" i="1">
                    <a:latin typeface="Times New Roman" pitchFamily="18" charset="0"/>
                  </a:rPr>
                  <a:t>s</a:t>
                </a:r>
                <a:r>
                  <a:rPr lang="en-US" altLang="zh-CN" sz="1400" b="1">
                    <a:latin typeface="Times New Roman" pitchFamily="18" charset="0"/>
                    <a:sym typeface="Symbol" pitchFamily="18" charset="2"/>
                  </a:rPr>
                  <a:t></a:t>
                </a:r>
                <a:r>
                  <a:rPr lang="en-US" altLang="zh-CN" sz="1400" b="1">
                    <a:latin typeface="Times New Roman" pitchFamily="18" charset="0"/>
                  </a:rPr>
                  <a:t>(</a:t>
                </a:r>
                <a:r>
                  <a:rPr lang="en-US" altLang="zh-CN" sz="1400" b="1" i="1">
                    <a:latin typeface="Times New Roman" pitchFamily="18" charset="0"/>
                  </a:rPr>
                  <a:t>t</a:t>
                </a:r>
                <a:r>
                  <a:rPr lang="en-US" altLang="zh-CN" sz="1400" b="1">
                    <a:latin typeface="Times New Roman" pitchFamily="18" charset="0"/>
                  </a:rPr>
                  <a:t>)</a:t>
                </a:r>
                <a:endParaRPr lang="en-US" altLang="zh-CN" sz="2400" b="1"/>
              </a:p>
            </p:txBody>
          </p:sp>
          <p:sp>
            <p:nvSpPr>
              <p:cNvPr id="13" name="Text Box 86">
                <a:extLst>
                  <a:ext uri="{FF2B5EF4-FFF2-40B4-BE49-F238E27FC236}">
                    <a16:creationId xmlns:a16="http://schemas.microsoft.com/office/drawing/2014/main" id="{59DCB37E-FC4C-6D79-C8ED-94344A3586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0" y="1366"/>
                <a:ext cx="710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Times New Roman" pitchFamily="18" charset="0"/>
                  </a:rPr>
                  <a:t>Modulated signal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600" b="1" i="1" dirty="0">
                    <a:latin typeface="Times New Roman" pitchFamily="18" charset="0"/>
                  </a:rPr>
                  <a:t>s</a:t>
                </a:r>
                <a:r>
                  <a:rPr lang="en-US" altLang="zh-CN" sz="1600" b="1" dirty="0">
                    <a:latin typeface="Times New Roman" pitchFamily="18" charset="0"/>
                  </a:rPr>
                  <a:t>(</a:t>
                </a:r>
                <a:r>
                  <a:rPr lang="en-US" altLang="zh-CN" sz="1600" b="1" i="1" dirty="0">
                    <a:latin typeface="Times New Roman" pitchFamily="18" charset="0"/>
                  </a:rPr>
                  <a:t>t</a:t>
                </a:r>
                <a:r>
                  <a:rPr lang="en-US" altLang="zh-CN" sz="1600" b="1" dirty="0">
                    <a:latin typeface="Times New Roman" pitchFamily="18" charset="0"/>
                  </a:rPr>
                  <a:t>)</a:t>
                </a:r>
                <a:endParaRPr lang="en-US" altLang="zh-CN" sz="2800" b="1" dirty="0"/>
              </a:p>
            </p:txBody>
          </p:sp>
          <p:sp>
            <p:nvSpPr>
              <p:cNvPr id="14" name="Text Box 87">
                <a:extLst>
                  <a:ext uri="{FF2B5EF4-FFF2-40B4-BE49-F238E27FC236}">
                    <a16:creationId xmlns:a16="http://schemas.microsoft.com/office/drawing/2014/main" id="{50164664-697F-F743-3840-484D6FBBAC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1372"/>
                <a:ext cx="706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Times New Roman" pitchFamily="18" charset="0"/>
                  </a:rPr>
                  <a:t>Modulating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Times New Roman" pitchFamily="18" charset="0"/>
                  </a:rPr>
                  <a:t>signal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600" b="1" i="1" dirty="0">
                    <a:latin typeface="Times New Roman" pitchFamily="18" charset="0"/>
                  </a:rPr>
                  <a:t>m</a:t>
                </a:r>
                <a:r>
                  <a:rPr lang="en-US" altLang="zh-CN" sz="1600" b="1" dirty="0">
                    <a:latin typeface="Times New Roman" pitchFamily="18" charset="0"/>
                  </a:rPr>
                  <a:t>(</a:t>
                </a:r>
                <a:r>
                  <a:rPr lang="en-US" altLang="zh-CN" sz="1600" b="1" i="1" dirty="0">
                    <a:latin typeface="Times New Roman" pitchFamily="18" charset="0"/>
                  </a:rPr>
                  <a:t>t</a:t>
                </a:r>
                <a:r>
                  <a:rPr lang="en-US" altLang="zh-CN" sz="1600" b="1" dirty="0">
                    <a:latin typeface="Times New Roman" pitchFamily="18" charset="0"/>
                  </a:rPr>
                  <a:t>)</a:t>
                </a:r>
                <a:endParaRPr lang="en-US" altLang="zh-CN" sz="2800" b="1" dirty="0"/>
              </a:p>
            </p:txBody>
          </p:sp>
          <p:sp>
            <p:nvSpPr>
              <p:cNvPr id="15" name="Text Box 88">
                <a:extLst>
                  <a:ext uri="{FF2B5EF4-FFF2-40B4-BE49-F238E27FC236}">
                    <a16:creationId xmlns:a16="http://schemas.microsoft.com/office/drawing/2014/main" id="{D5D662B9-7007-7CC0-1A7F-E264506041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0" y="1815"/>
                <a:ext cx="511" cy="2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400" b="1" i="1" dirty="0">
                    <a:latin typeface="Times New Roman" pitchFamily="18" charset="0"/>
                  </a:rPr>
                  <a:t>A</a:t>
                </a:r>
                <a:r>
                  <a:rPr lang="en-US" altLang="zh-CN" sz="1400" b="1" dirty="0">
                    <a:latin typeface="Times New Roman" pitchFamily="18" charset="0"/>
                  </a:rPr>
                  <a:t>cos</a:t>
                </a:r>
                <a:r>
                  <a:rPr lang="en-US" altLang="zh-CN" sz="1400" b="1" i="1" dirty="0">
                    <a:latin typeface="Times New Roman" pitchFamily="18" charset="0"/>
                    <a:sym typeface="Symbol" pitchFamily="18" charset="2"/>
                  </a:rPr>
                  <a:t></a:t>
                </a:r>
                <a:r>
                  <a:rPr lang="en-US" altLang="zh-CN" sz="1400" b="1" baseline="-25000" dirty="0">
                    <a:latin typeface="Times New Roman" pitchFamily="18" charset="0"/>
                  </a:rPr>
                  <a:t>0</a:t>
                </a:r>
                <a:r>
                  <a:rPr lang="en-US" altLang="zh-CN" sz="1400" b="1" i="1" dirty="0">
                    <a:latin typeface="Times New Roman" pitchFamily="18" charset="0"/>
                  </a:rPr>
                  <a:t>t</a:t>
                </a:r>
                <a:endParaRPr lang="en-US" altLang="zh-CN" sz="2400" b="1" dirty="0"/>
              </a:p>
            </p:txBody>
          </p:sp>
          <p:sp>
            <p:nvSpPr>
              <p:cNvPr id="16" name="Line 95">
                <a:extLst>
                  <a:ext uri="{FF2B5EF4-FFF2-40B4-BE49-F238E27FC236}">
                    <a16:creationId xmlns:a16="http://schemas.microsoft.com/office/drawing/2014/main" id="{7306151E-F298-5412-5538-54728CC0A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6" y="1670"/>
                <a:ext cx="1" cy="15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2FA17CF-B509-66C1-E44F-18CF0AB9A4A1}"/>
              </a:ext>
            </a:extLst>
          </p:cNvPr>
          <p:cNvGrpSpPr/>
          <p:nvPr/>
        </p:nvGrpSpPr>
        <p:grpSpPr>
          <a:xfrm>
            <a:off x="5876502" y="5166162"/>
            <a:ext cx="4118398" cy="1431488"/>
            <a:chOff x="4342034" y="4237937"/>
            <a:chExt cx="4118398" cy="1431488"/>
          </a:xfrm>
        </p:grpSpPr>
        <p:sp>
          <p:nvSpPr>
            <p:cNvPr id="23" name="Text Box 45">
              <a:extLst>
                <a:ext uri="{FF2B5EF4-FFF2-40B4-BE49-F238E27FC236}">
                  <a16:creationId xmlns:a16="http://schemas.microsoft.com/office/drawing/2014/main" id="{8125B032-14D2-0385-3704-AA2930476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1542" y="4410684"/>
              <a:ext cx="1058890" cy="738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Times New Roman" pitchFamily="18" charset="0"/>
                </a:rPr>
                <a:t>Baseband signal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600" b="1" i="1" dirty="0">
                  <a:latin typeface="Times New Roman" pitchFamily="18" charset="0"/>
                </a:rPr>
                <a:t>m</a:t>
              </a:r>
              <a:r>
                <a:rPr lang="en-US" altLang="zh-CN" sz="1600" b="1" dirty="0">
                  <a:latin typeface="Times New Roman" pitchFamily="18" charset="0"/>
                </a:rPr>
                <a:t>(</a:t>
              </a:r>
              <a:r>
                <a:rPr lang="en-US" altLang="zh-CN" sz="1600" b="1" i="1" dirty="0">
                  <a:latin typeface="Times New Roman" pitchFamily="18" charset="0"/>
                </a:rPr>
                <a:t>t</a:t>
              </a:r>
              <a:r>
                <a:rPr lang="en-US" altLang="zh-CN" sz="1600" b="1" dirty="0">
                  <a:latin typeface="Times New Roman" pitchFamily="18" charset="0"/>
                </a:rPr>
                <a:t>)</a:t>
              </a:r>
              <a:endParaRPr lang="en-US" altLang="zh-CN" sz="2800" b="1" dirty="0"/>
            </a:p>
          </p:txBody>
        </p:sp>
        <p:sp>
          <p:nvSpPr>
            <p:cNvPr id="24" name="Text Box 46">
              <a:extLst>
                <a:ext uri="{FF2B5EF4-FFF2-40B4-BE49-F238E27FC236}">
                  <a16:creationId xmlns:a16="http://schemas.microsoft.com/office/drawing/2014/main" id="{DD8D5B7F-D5B2-3C78-CF42-6E897DA34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034" y="4393079"/>
              <a:ext cx="965552" cy="736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Times New Roman" pitchFamily="18" charset="0"/>
                </a:rPr>
                <a:t>Received signal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600" b="1" i="1" dirty="0">
                  <a:latin typeface="Times New Roman" pitchFamily="18" charset="0"/>
                </a:rPr>
                <a:t>s</a:t>
              </a:r>
              <a:r>
                <a:rPr lang="en-US" altLang="zh-CN" sz="1600" b="1" dirty="0">
                  <a:latin typeface="Times New Roman" pitchFamily="18" charset="0"/>
                </a:rPr>
                <a:t>(</a:t>
              </a:r>
              <a:r>
                <a:rPr lang="en-US" altLang="zh-CN" sz="1600" b="1" i="1" dirty="0">
                  <a:latin typeface="Times New Roman" pitchFamily="18" charset="0"/>
                </a:rPr>
                <a:t>t</a:t>
              </a:r>
              <a:r>
                <a:rPr lang="en-US" altLang="zh-CN" sz="1600" b="1" dirty="0">
                  <a:latin typeface="Times New Roman" pitchFamily="18" charset="0"/>
                </a:rPr>
                <a:t>)</a:t>
              </a:r>
              <a:endParaRPr lang="en-US" altLang="zh-CN" sz="2800" b="1" dirty="0"/>
            </a:p>
          </p:txBody>
        </p:sp>
        <p:sp>
          <p:nvSpPr>
            <p:cNvPr id="25" name="Text Box 47">
              <a:extLst>
                <a:ext uri="{FF2B5EF4-FFF2-40B4-BE49-F238E27FC236}">
                  <a16:creationId xmlns:a16="http://schemas.microsoft.com/office/drawing/2014/main" id="{E0A8486F-7797-80FF-19D0-1F7A14AAD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846" y="5200698"/>
              <a:ext cx="877986" cy="4687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cos</a:t>
              </a:r>
              <a:r>
                <a:rPr lang="en-US" altLang="zh-CN" sz="1600" b="1" i="1" dirty="0">
                  <a:latin typeface="Times New Roman" pitchFamily="18" charset="0"/>
                  <a:sym typeface="Symbol" pitchFamily="18" charset="2"/>
                </a:rPr>
                <a:t></a:t>
              </a:r>
              <a:r>
                <a:rPr lang="en-US" altLang="zh-CN" sz="1600" b="1" baseline="-25000" dirty="0">
                  <a:latin typeface="Times New Roman" pitchFamily="18" charset="0"/>
                </a:rPr>
                <a:t>0</a:t>
              </a:r>
              <a:r>
                <a:rPr lang="en-US" altLang="zh-CN" sz="1600" b="1" i="1" dirty="0">
                  <a:latin typeface="Times New Roman" pitchFamily="18" charset="0"/>
                </a:rPr>
                <a:t>t</a:t>
              </a:r>
              <a:endParaRPr lang="en-US" altLang="zh-CN" sz="2800" b="1" dirty="0"/>
            </a:p>
          </p:txBody>
        </p:sp>
        <p:sp>
          <p:nvSpPr>
            <p:cNvPr id="26" name="Line 48">
              <a:extLst>
                <a:ext uri="{FF2B5EF4-FFF2-40B4-BE49-F238E27FC236}">
                  <a16:creationId xmlns:a16="http://schemas.microsoft.com/office/drawing/2014/main" id="{5F2E68BC-C142-5A25-A000-42093C8455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4202" y="4938827"/>
              <a:ext cx="1550" cy="273974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 Box 49">
              <a:extLst>
                <a:ext uri="{FF2B5EF4-FFF2-40B4-BE49-F238E27FC236}">
                  <a16:creationId xmlns:a16="http://schemas.microsoft.com/office/drawing/2014/main" id="{10F9D26B-D97B-C6A8-C960-9A592F48A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4407" y="4237937"/>
              <a:ext cx="629841" cy="373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1600" b="1" i="1" dirty="0">
                  <a:latin typeface="Times New Roman" pitchFamily="18" charset="0"/>
                </a:rPr>
                <a:t>r</a:t>
              </a:r>
              <a:r>
                <a:rPr lang="en-US" altLang="zh-CN" sz="1600" b="1" dirty="0">
                  <a:latin typeface="Times New Roman" pitchFamily="18" charset="0"/>
                  <a:sym typeface="Symbol" pitchFamily="18" charset="2"/>
                </a:rPr>
                <a:t></a:t>
              </a:r>
              <a:r>
                <a:rPr lang="en-US" altLang="zh-CN" sz="1600" b="1" dirty="0">
                  <a:latin typeface="Times New Roman" pitchFamily="18" charset="0"/>
                </a:rPr>
                <a:t>(</a:t>
              </a:r>
              <a:r>
                <a:rPr lang="en-US" altLang="zh-CN" sz="1600" b="1" i="1" dirty="0">
                  <a:latin typeface="Times New Roman" pitchFamily="18" charset="0"/>
                </a:rPr>
                <a:t>t</a:t>
              </a:r>
              <a:r>
                <a:rPr lang="en-US" altLang="zh-CN" sz="1600" b="1" dirty="0">
                  <a:latin typeface="Times New Roman" pitchFamily="18" charset="0"/>
                </a:rPr>
                <a:t>)</a:t>
              </a:r>
              <a:endParaRPr lang="en-US" altLang="zh-CN" sz="2800" b="1" dirty="0"/>
            </a:p>
          </p:txBody>
        </p:sp>
        <p:sp>
          <p:nvSpPr>
            <p:cNvPr id="28" name="Line 50">
              <a:extLst>
                <a:ext uri="{FF2B5EF4-FFF2-40B4-BE49-F238E27FC236}">
                  <a16:creationId xmlns:a16="http://schemas.microsoft.com/office/drawing/2014/main" id="{1BBEFE7D-A2B4-8E6F-0359-94BD9C405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7290" y="4729771"/>
              <a:ext cx="272772" cy="220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Line 51">
              <a:extLst>
                <a:ext uri="{FF2B5EF4-FFF2-40B4-BE49-F238E27FC236}">
                  <a16:creationId xmlns:a16="http://schemas.microsoft.com/office/drawing/2014/main" id="{002063F4-D8C5-B2A2-F626-FEC6B43DD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8137" y="4728670"/>
              <a:ext cx="364988" cy="440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Line 52">
              <a:extLst>
                <a:ext uri="{FF2B5EF4-FFF2-40B4-BE49-F238E27FC236}">
                  <a16:creationId xmlns:a16="http://schemas.microsoft.com/office/drawing/2014/main" id="{105FA3B5-DEBE-0905-C34A-15EA43138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7640" y="4724269"/>
              <a:ext cx="344065" cy="14304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1" name="Group 53">
              <a:extLst>
                <a:ext uri="{FF2B5EF4-FFF2-40B4-BE49-F238E27FC236}">
                  <a16:creationId xmlns:a16="http://schemas.microsoft.com/office/drawing/2014/main" id="{5F0E12EA-69FB-DAC7-179E-B4AECA8A4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0838" y="4496507"/>
              <a:ext cx="1775345" cy="468727"/>
              <a:chOff x="4556" y="4374"/>
              <a:chExt cx="2291" cy="426"/>
            </a:xfrm>
            <a:solidFill>
              <a:schemeClr val="bg1"/>
            </a:solidFill>
          </p:grpSpPr>
          <p:sp>
            <p:nvSpPr>
              <p:cNvPr id="32" name="Text Box 54">
                <a:extLst>
                  <a:ext uri="{FF2B5EF4-FFF2-40B4-BE49-F238E27FC236}">
                    <a16:creationId xmlns:a16="http://schemas.microsoft.com/office/drawing/2014/main" id="{E8181515-DB6E-E116-22C5-B4783EF40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6" y="4374"/>
                <a:ext cx="920" cy="426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72000" bIns="0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100" b="1">
                    <a:latin typeface="宋体" pitchFamily="2" charset="-122"/>
                    <a:sym typeface="Symbol" pitchFamily="18" charset="2"/>
                  </a:rPr>
                  <a:t></a:t>
                </a:r>
                <a:endParaRPr lang="en-US" altLang="zh-CN" sz="2800"/>
              </a:p>
            </p:txBody>
          </p:sp>
          <p:sp>
            <p:nvSpPr>
              <p:cNvPr id="33" name="Text Box 55">
                <a:extLst>
                  <a:ext uri="{FF2B5EF4-FFF2-40B4-BE49-F238E27FC236}">
                    <a16:creationId xmlns:a16="http://schemas.microsoft.com/office/drawing/2014/main" id="{2578D025-094F-7A33-8BC1-DEFA64E7D3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7" y="4374"/>
                <a:ext cx="920" cy="426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600" b="1" dirty="0">
                    <a:latin typeface="Times New Roman" pitchFamily="18" charset="0"/>
                  </a:rPr>
                  <a:t>LPF</a:t>
                </a:r>
              </a:p>
              <a:p>
                <a:endParaRPr lang="en-US" altLang="zh-CN" sz="2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8700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B646-713B-F9E7-F0DE-11CF73877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B52F59E-CFE2-B279-1FC6-945B203F78C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D5F4C36-7F6F-ED82-1332-B89254E6CA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854EBE-E573-749C-3390-858410CA39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00A03A-71AF-4F06-FDFF-194503255741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(VSB)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476C2D1-C9F9-08F4-F1C4-ED4D1D0C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E002E13-AE90-C0F4-CE70-553551191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Frequency spectrum expression of the output signal of the multiplier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</a:rPr>
                          <m:t>𝐴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𝑀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𝑓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i="1">
                            <a:latin typeface="Cambria Math"/>
                          </a:rPr>
                          <m:t>+</m:t>
                        </m:r>
                        <m:r>
                          <a:rPr lang="en-US" altLang="zh-CN" sz="2400" i="1">
                            <a:latin typeface="Cambria Math"/>
                          </a:rPr>
                          <m:t>𝑀</m:t>
                        </m:r>
                        <m:r>
                          <a:rPr lang="en-US" altLang="zh-CN" sz="2400" i="1">
                            <a:latin typeface="Cambria Math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  <m:r>
                          <a:rPr lang="en-US" altLang="zh-CN" sz="24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being filtered, the frequency spectrum of VSB signal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𝑠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𝑆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𝐻</m:t>
                      </m:r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𝑓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condition should be satisfied, to realize demodulation without distortion?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frequency spectrum of the output signal of the multiplier at the demodulator,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𝑆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𝐻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E002E13-AE90-C0F4-CE70-553551191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908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6870-F57B-2B7B-E33F-6837403C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C4CC97B-9C0D-C39D-3F38-FB512886EA5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0F00B347-2A35-DA36-954A-92959581EF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DA9AC-F74A-812E-4CBB-0BBC3B103D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85FA04-6963-7D80-27D0-3456B4D64E08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(VSB)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DD93D9-9C74-3F74-6F4E-130CEC06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AAC6A5A-9FD7-5E28-1BB9-BF44F2A35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output demodulated signal after the low-pass filter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𝑀</m:t>
                      </m:r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𝑓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𝐻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Transmission without distortion requires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r>
                        <a:rPr lang="en-US" altLang="zh-CN" sz="24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where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𝐶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constant.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𝑀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𝑓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frequency spectral density function of the baseband modulating signal, let its highest frequency component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 have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𝐶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           |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|≤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AAC6A5A-9FD7-5E28-1BB9-BF44F2A35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680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2DC9-521E-3A57-7A3B-B0BB36BC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2221C44-DAA6-720A-3D29-A2D8EA19FB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98FA6247-ABEA-1F84-0853-391687B38FE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1A8F1-BCD7-03C5-1EF0-BA3DD6E3301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F02381-3808-6439-5CF4-7060852C90C5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(VSB)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1C9F12-E954-5E62-8391-484E1272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23</a:t>
            </a:fld>
            <a:endParaRPr lang="zh-CN" altLang="en-US"/>
          </a:p>
        </p:txBody>
      </p:sp>
      <p:grpSp>
        <p:nvGrpSpPr>
          <p:cNvPr id="10" name="Group 123">
            <a:extLst>
              <a:ext uri="{FF2B5EF4-FFF2-40B4-BE49-F238E27FC236}">
                <a16:creationId xmlns:a16="http://schemas.microsoft.com/office/drawing/2014/main" id="{755834D3-6425-FA72-769D-4162C4BFBCF2}"/>
              </a:ext>
            </a:extLst>
          </p:cNvPr>
          <p:cNvGrpSpPr>
            <a:grpSpLocks/>
          </p:cNvGrpSpPr>
          <p:nvPr/>
        </p:nvGrpSpPr>
        <p:grpSpPr bwMode="auto">
          <a:xfrm>
            <a:off x="1993900" y="1322388"/>
            <a:ext cx="7065963" cy="5589585"/>
            <a:chOff x="1179" y="459"/>
            <a:chExt cx="4451" cy="3521"/>
          </a:xfrm>
          <a:noFill/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A40B56BB-D158-9210-139B-DF17F7A1D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459"/>
              <a:ext cx="4451" cy="34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2" name="Group 122">
              <a:extLst>
                <a:ext uri="{FF2B5EF4-FFF2-40B4-BE49-F238E27FC236}">
                  <a16:creationId xmlns:a16="http://schemas.microsoft.com/office/drawing/2014/main" id="{767E234A-D7C6-5A12-9659-884002707C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4" y="459"/>
              <a:ext cx="4340" cy="3521"/>
              <a:chOff x="1224" y="459"/>
              <a:chExt cx="4340" cy="3521"/>
            </a:xfrm>
            <a:grpFill/>
          </p:grpSpPr>
          <p:sp>
            <p:nvSpPr>
              <p:cNvPr id="13" name="Text Box 112">
                <a:extLst>
                  <a:ext uri="{FF2B5EF4-FFF2-40B4-BE49-F238E27FC236}">
                    <a16:creationId xmlns:a16="http://schemas.microsoft.com/office/drawing/2014/main" id="{7E989AD4-3639-0048-1196-D245ED05D3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3" y="1338"/>
                <a:ext cx="674" cy="30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600" b="1" i="1">
                    <a:latin typeface="Times New Roman" pitchFamily="18" charset="0"/>
                  </a:rPr>
                  <a:t>H</a:t>
                </a:r>
                <a:r>
                  <a:rPr lang="en-US" altLang="zh-CN" sz="1600" b="1">
                    <a:latin typeface="Times New Roman" pitchFamily="18" charset="0"/>
                  </a:rPr>
                  <a:t>(</a:t>
                </a:r>
                <a:r>
                  <a:rPr lang="en-US" altLang="zh-CN" sz="1600" b="1" i="1">
                    <a:latin typeface="Times New Roman" pitchFamily="18" charset="0"/>
                  </a:rPr>
                  <a:t>f</a:t>
                </a:r>
                <a:r>
                  <a:rPr lang="en-US" altLang="zh-CN" sz="1600" b="1">
                    <a:latin typeface="Times New Roman" pitchFamily="18" charset="0"/>
                  </a:rPr>
                  <a:t> + </a:t>
                </a:r>
                <a:r>
                  <a:rPr lang="en-US" altLang="zh-CN" sz="1600" b="1" i="1">
                    <a:latin typeface="Times New Roman" pitchFamily="18" charset="0"/>
                  </a:rPr>
                  <a:t>f</a:t>
                </a:r>
                <a:r>
                  <a:rPr lang="en-US" altLang="zh-CN" sz="1600" b="1" baseline="-25000">
                    <a:latin typeface="Times New Roman" pitchFamily="18" charset="0"/>
                  </a:rPr>
                  <a:t>0</a:t>
                </a:r>
                <a:r>
                  <a:rPr lang="en-US" altLang="zh-CN" sz="1600" b="1">
                    <a:latin typeface="Times New Roman" pitchFamily="18" charset="0"/>
                  </a:rPr>
                  <a:t>)</a:t>
                </a:r>
                <a:endParaRPr lang="en-US" altLang="zh-CN" sz="3200" b="1"/>
              </a:p>
            </p:txBody>
          </p:sp>
          <p:sp>
            <p:nvSpPr>
              <p:cNvPr id="14" name="Text Box 102">
                <a:extLst>
                  <a:ext uri="{FF2B5EF4-FFF2-40B4-BE49-F238E27FC236}">
                    <a16:creationId xmlns:a16="http://schemas.microsoft.com/office/drawing/2014/main" id="{188E448C-8E1D-AA06-79D4-A7EE64E1F2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5" y="1196"/>
                <a:ext cx="484" cy="29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600" b="1" dirty="0">
                    <a:latin typeface="Times New Roman" pitchFamily="18" charset="0"/>
                  </a:rPr>
                  <a:t>-(</a:t>
                </a:r>
                <a:r>
                  <a:rPr lang="en-US" altLang="zh-CN" sz="1600" b="1" i="1" dirty="0">
                    <a:latin typeface="Times New Roman" pitchFamily="18" charset="0"/>
                  </a:rPr>
                  <a:t>f</a:t>
                </a:r>
                <a:r>
                  <a:rPr lang="en-US" altLang="zh-CN" sz="1600" b="1" baseline="-25000" dirty="0">
                    <a:latin typeface="Times New Roman" pitchFamily="18" charset="0"/>
                  </a:rPr>
                  <a:t>0</a:t>
                </a:r>
                <a:r>
                  <a:rPr lang="en-US" altLang="zh-CN" sz="1600" b="1" dirty="0">
                    <a:latin typeface="Times New Roman" pitchFamily="18" charset="0"/>
                  </a:rPr>
                  <a:t>+</a:t>
                </a:r>
                <a:r>
                  <a:rPr lang="en-US" altLang="zh-CN" sz="1600" b="1" i="1" dirty="0">
                    <a:latin typeface="Times New Roman" pitchFamily="18" charset="0"/>
                  </a:rPr>
                  <a:t>f</a:t>
                </a:r>
                <a:r>
                  <a:rPr lang="en-US" altLang="zh-CN" sz="1600" b="1" baseline="-25000" dirty="0">
                    <a:latin typeface="Times New Roman" pitchFamily="18" charset="0"/>
                  </a:rPr>
                  <a:t>m</a:t>
                </a:r>
                <a:r>
                  <a:rPr lang="en-US" altLang="zh-CN" sz="1600" b="1" dirty="0">
                    <a:latin typeface="Times New Roman" pitchFamily="18" charset="0"/>
                  </a:rPr>
                  <a:t>)</a:t>
                </a:r>
                <a:endParaRPr lang="en-US" altLang="zh-CN" sz="3200" b="1" dirty="0"/>
              </a:p>
            </p:txBody>
          </p:sp>
          <p:grpSp>
            <p:nvGrpSpPr>
              <p:cNvPr id="15" name="Group 121">
                <a:extLst>
                  <a:ext uri="{FF2B5EF4-FFF2-40B4-BE49-F238E27FC236}">
                    <a16:creationId xmlns:a16="http://schemas.microsoft.com/office/drawing/2014/main" id="{238AAA18-03A1-63AF-6572-2F20841394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4" y="459"/>
                <a:ext cx="4340" cy="3521"/>
                <a:chOff x="1224" y="459"/>
                <a:chExt cx="4340" cy="3521"/>
              </a:xfrm>
              <a:grpFill/>
            </p:grpSpPr>
            <p:grpSp>
              <p:nvGrpSpPr>
                <p:cNvPr id="18" name="Group 9">
                  <a:extLst>
                    <a:ext uri="{FF2B5EF4-FFF2-40B4-BE49-F238E27FC236}">
                      <a16:creationId xmlns:a16="http://schemas.microsoft.com/office/drawing/2014/main" id="{A140C1B3-89BD-F6D7-695F-61FCB37FF7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4" y="685"/>
                  <a:ext cx="4144" cy="3042"/>
                  <a:chOff x="2184" y="7482"/>
                  <a:chExt cx="7680" cy="4203"/>
                </a:xfrm>
                <a:grpFill/>
              </p:grpSpPr>
              <p:grpSp>
                <p:nvGrpSpPr>
                  <p:cNvPr id="39" name="Group 10">
                    <a:extLst>
                      <a:ext uri="{FF2B5EF4-FFF2-40B4-BE49-F238E27FC236}">
                        <a16:creationId xmlns:a16="http://schemas.microsoft.com/office/drawing/2014/main" id="{D5E839B8-4A45-0A32-B289-7DFEB22EB3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84" y="7482"/>
                    <a:ext cx="7680" cy="4203"/>
                    <a:chOff x="2184" y="7482"/>
                    <a:chExt cx="7680" cy="4203"/>
                  </a:xfrm>
                  <a:grpFill/>
                </p:grpSpPr>
                <p:grpSp>
                  <p:nvGrpSpPr>
                    <p:cNvPr id="62" name="Group 11">
                      <a:extLst>
                        <a:ext uri="{FF2B5EF4-FFF2-40B4-BE49-F238E27FC236}">
                          <a16:creationId xmlns:a16="http://schemas.microsoft.com/office/drawing/2014/main" id="{1EB6CC1E-7C26-AD3C-C37B-06449373631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84" y="7482"/>
                      <a:ext cx="7680" cy="768"/>
                      <a:chOff x="2184" y="7482"/>
                      <a:chExt cx="7680" cy="768"/>
                    </a:xfrm>
                    <a:grpFill/>
                  </p:grpSpPr>
                  <p:grpSp>
                    <p:nvGrpSpPr>
                      <p:cNvPr id="109" name="Group 12">
                        <a:extLst>
                          <a:ext uri="{FF2B5EF4-FFF2-40B4-BE49-F238E27FC236}">
                            <a16:creationId xmlns:a16="http://schemas.microsoft.com/office/drawing/2014/main" id="{A95E35EF-DCCE-E706-EDBA-785C0F02305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62" y="7863"/>
                        <a:ext cx="3786" cy="372"/>
                        <a:chOff x="4162" y="7863"/>
                        <a:chExt cx="3786" cy="372"/>
                      </a:xfrm>
                      <a:grpFill/>
                    </p:grpSpPr>
                    <p:grpSp>
                      <p:nvGrpSpPr>
                        <p:cNvPr id="113" name="Group 13">
                          <a:extLst>
                            <a:ext uri="{FF2B5EF4-FFF2-40B4-BE49-F238E27FC236}">
                              <a16:creationId xmlns:a16="http://schemas.microsoft.com/office/drawing/2014/main" id="{A6C89F97-284E-C12E-6B3B-45E76690ACB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7078" y="7863"/>
                          <a:ext cx="870" cy="372"/>
                          <a:chOff x="7078" y="7863"/>
                          <a:chExt cx="870" cy="372"/>
                        </a:xfrm>
                        <a:grpFill/>
                      </p:grpSpPr>
                      <p:sp>
                        <p:nvSpPr>
                          <p:cNvPr id="118" name="Freeform 14">
                            <a:extLst>
                              <a:ext uri="{FF2B5EF4-FFF2-40B4-BE49-F238E27FC236}">
                                <a16:creationId xmlns:a16="http://schemas.microsoft.com/office/drawing/2014/main" id="{3A56B64D-68C5-C701-52B0-DDBA26F86319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7078" y="7863"/>
                            <a:ext cx="382" cy="371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mpd="sng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9" name="Freeform 15">
                            <a:extLst>
                              <a:ext uri="{FF2B5EF4-FFF2-40B4-BE49-F238E27FC236}">
                                <a16:creationId xmlns:a16="http://schemas.microsoft.com/office/drawing/2014/main" id="{BC0DA805-E885-E209-8F9A-99BD4F8E3099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7733" y="7864"/>
                            <a:ext cx="215" cy="371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mpd="sng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20" name="Line 16">
                            <a:extLst>
                              <a:ext uri="{FF2B5EF4-FFF2-40B4-BE49-F238E27FC236}">
                                <a16:creationId xmlns:a16="http://schemas.microsoft.com/office/drawing/2014/main" id="{62F618C3-9C7D-D37D-7051-C2E20BD9E5B3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7459" y="7864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  <p:grpSp>
                      <p:nvGrpSpPr>
                        <p:cNvPr id="114" name="Group 17">
                          <a:extLst>
                            <a:ext uri="{FF2B5EF4-FFF2-40B4-BE49-F238E27FC236}">
                              <a16:creationId xmlns:a16="http://schemas.microsoft.com/office/drawing/2014/main" id="{541D7A65-609F-D83B-93E0-C79D72CB7DA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62" y="7863"/>
                          <a:ext cx="870" cy="357"/>
                          <a:chOff x="4324" y="7578"/>
                          <a:chExt cx="870" cy="357"/>
                        </a:xfrm>
                        <a:grpFill/>
                      </p:grpSpPr>
                      <p:sp>
                        <p:nvSpPr>
                          <p:cNvPr id="115" name="Freeform 18">
                            <a:extLst>
                              <a:ext uri="{FF2B5EF4-FFF2-40B4-BE49-F238E27FC236}">
                                <a16:creationId xmlns:a16="http://schemas.microsoft.com/office/drawing/2014/main" id="{EC841982-B027-F9CC-C9D3-E019ADE487F9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12" y="7578"/>
                            <a:ext cx="382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mpd="sng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6" name="Freeform 19">
                            <a:extLst>
                              <a:ext uri="{FF2B5EF4-FFF2-40B4-BE49-F238E27FC236}">
                                <a16:creationId xmlns:a16="http://schemas.microsoft.com/office/drawing/2014/main" id="{4EA0DBE3-FA05-618E-E28B-823E83186495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4324" y="7579"/>
                            <a:ext cx="215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mpd="sng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17" name="Line 20">
                            <a:extLst>
                              <a:ext uri="{FF2B5EF4-FFF2-40B4-BE49-F238E27FC236}">
                                <a16:creationId xmlns:a16="http://schemas.microsoft.com/office/drawing/2014/main" id="{32A98E1C-4E5C-F46F-8B70-20F5809F50F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538" y="7579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  <p:grpSp>
                    <p:nvGrpSpPr>
                      <p:cNvPr id="110" name="Group 21">
                        <a:extLst>
                          <a:ext uri="{FF2B5EF4-FFF2-40B4-BE49-F238E27FC236}">
                            <a16:creationId xmlns:a16="http://schemas.microsoft.com/office/drawing/2014/main" id="{3CF16C43-773D-C95B-C9E3-90DFEE2BFA3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84" y="7482"/>
                        <a:ext cx="7680" cy="768"/>
                        <a:chOff x="2184" y="7482"/>
                        <a:chExt cx="7680" cy="768"/>
                      </a:xfrm>
                      <a:grpFill/>
                    </p:grpSpPr>
                    <p:sp>
                      <p:nvSpPr>
                        <p:cNvPr id="111" name="Line 22">
                          <a:extLst>
                            <a:ext uri="{FF2B5EF4-FFF2-40B4-BE49-F238E27FC236}">
                              <a16:creationId xmlns:a16="http://schemas.microsoft.com/office/drawing/2014/main" id="{65BA1F34-C20C-7331-5EAE-D9D58BB0971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84" y="8230"/>
                          <a:ext cx="7680" cy="2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12" name="Line 23">
                          <a:extLst>
                            <a:ext uri="{FF2B5EF4-FFF2-40B4-BE49-F238E27FC236}">
                              <a16:creationId xmlns:a16="http://schemas.microsoft.com/office/drawing/2014/main" id="{9FB1FB9C-B1EC-3348-1FE1-79A60487091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054" y="7482"/>
                          <a:ext cx="0" cy="758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</p:grpSp>
                </p:grpSp>
                <p:grpSp>
                  <p:nvGrpSpPr>
                    <p:cNvPr id="63" name="Group 24">
                      <a:extLst>
                        <a:ext uri="{FF2B5EF4-FFF2-40B4-BE49-F238E27FC236}">
                          <a16:creationId xmlns:a16="http://schemas.microsoft.com/office/drawing/2014/main" id="{14AF2EF7-59D5-37E9-24AA-E8C5882AEC8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84" y="8586"/>
                      <a:ext cx="7680" cy="767"/>
                      <a:chOff x="2184" y="8586"/>
                      <a:chExt cx="7680" cy="767"/>
                    </a:xfrm>
                    <a:grpFill/>
                  </p:grpSpPr>
                  <p:grpSp>
                    <p:nvGrpSpPr>
                      <p:cNvPr id="97" name="Group 25">
                        <a:extLst>
                          <a:ext uri="{FF2B5EF4-FFF2-40B4-BE49-F238E27FC236}">
                            <a16:creationId xmlns:a16="http://schemas.microsoft.com/office/drawing/2014/main" id="{D193C0B1-D266-D39E-9C68-7885C86AAB5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84" y="8586"/>
                        <a:ext cx="7680" cy="767"/>
                        <a:chOff x="2184" y="8587"/>
                        <a:chExt cx="7680" cy="767"/>
                      </a:xfrm>
                      <a:grpFill/>
                    </p:grpSpPr>
                    <p:sp>
                      <p:nvSpPr>
                        <p:cNvPr id="107" name="Line 26">
                          <a:extLst>
                            <a:ext uri="{FF2B5EF4-FFF2-40B4-BE49-F238E27FC236}">
                              <a16:creationId xmlns:a16="http://schemas.microsoft.com/office/drawing/2014/main" id="{8D65080B-D60E-8EF7-2D94-3A87BFF562C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84" y="9334"/>
                          <a:ext cx="7680" cy="2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108" name="Line 27">
                          <a:extLst>
                            <a:ext uri="{FF2B5EF4-FFF2-40B4-BE49-F238E27FC236}">
                              <a16:creationId xmlns:a16="http://schemas.microsoft.com/office/drawing/2014/main" id="{9B90EDB4-BAFB-ACE9-6921-8D9F69CCBC5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054" y="8587"/>
                          <a:ext cx="0" cy="758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</p:grpSp>
                  <p:grpSp>
                    <p:nvGrpSpPr>
                      <p:cNvPr id="98" name="Group 28">
                        <a:extLst>
                          <a:ext uri="{FF2B5EF4-FFF2-40B4-BE49-F238E27FC236}">
                            <a16:creationId xmlns:a16="http://schemas.microsoft.com/office/drawing/2014/main" id="{A467CB30-51A0-5F03-1953-B9CB045213C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74" y="8964"/>
                        <a:ext cx="3788" cy="373"/>
                        <a:chOff x="2958" y="8964"/>
                        <a:chExt cx="3788" cy="373"/>
                      </a:xfrm>
                      <a:grpFill/>
                    </p:grpSpPr>
                    <p:grpSp>
                      <p:nvGrpSpPr>
                        <p:cNvPr id="99" name="Group 29">
                          <a:extLst>
                            <a:ext uri="{FF2B5EF4-FFF2-40B4-BE49-F238E27FC236}">
                              <a16:creationId xmlns:a16="http://schemas.microsoft.com/office/drawing/2014/main" id="{CF1A82DE-DEA5-F509-0016-DDD957EC205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876" y="8965"/>
                          <a:ext cx="870" cy="372"/>
                          <a:chOff x="5876" y="8965"/>
                          <a:chExt cx="870" cy="372"/>
                        </a:xfrm>
                        <a:grpFill/>
                      </p:grpSpPr>
                      <p:sp>
                        <p:nvSpPr>
                          <p:cNvPr id="104" name="Freeform 30">
                            <a:extLst>
                              <a:ext uri="{FF2B5EF4-FFF2-40B4-BE49-F238E27FC236}">
                                <a16:creationId xmlns:a16="http://schemas.microsoft.com/office/drawing/2014/main" id="{96169E88-6630-76CB-E085-E3157E1AE799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5876" y="8965"/>
                            <a:ext cx="382" cy="371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05" name="Freeform 31">
                            <a:extLst>
                              <a:ext uri="{FF2B5EF4-FFF2-40B4-BE49-F238E27FC236}">
                                <a16:creationId xmlns:a16="http://schemas.microsoft.com/office/drawing/2014/main" id="{5C83BFA0-E7D4-8ECD-71B0-DAE6F5198C91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6531" y="8966"/>
                            <a:ext cx="215" cy="371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06" name="Line 32">
                            <a:extLst>
                              <a:ext uri="{FF2B5EF4-FFF2-40B4-BE49-F238E27FC236}">
                                <a16:creationId xmlns:a16="http://schemas.microsoft.com/office/drawing/2014/main" id="{6C7FCF91-7F66-F0D7-474D-9D30EC743E7E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6257" y="8966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  <p:grpSp>
                      <p:nvGrpSpPr>
                        <p:cNvPr id="100" name="Group 33">
                          <a:extLst>
                            <a:ext uri="{FF2B5EF4-FFF2-40B4-BE49-F238E27FC236}">
                              <a16:creationId xmlns:a16="http://schemas.microsoft.com/office/drawing/2014/main" id="{6970ED6E-7059-8048-ADEB-69D5284F4EB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958" y="8964"/>
                          <a:ext cx="870" cy="357"/>
                          <a:chOff x="4324" y="7578"/>
                          <a:chExt cx="870" cy="357"/>
                        </a:xfrm>
                        <a:grpFill/>
                      </p:grpSpPr>
                      <p:sp>
                        <p:nvSpPr>
                          <p:cNvPr id="101" name="Freeform 34">
                            <a:extLst>
                              <a:ext uri="{FF2B5EF4-FFF2-40B4-BE49-F238E27FC236}">
                                <a16:creationId xmlns:a16="http://schemas.microsoft.com/office/drawing/2014/main" id="{20B65307-A5A5-343B-93A5-3A4715C55343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12" y="7578"/>
                            <a:ext cx="382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02" name="Freeform 35">
                            <a:extLst>
                              <a:ext uri="{FF2B5EF4-FFF2-40B4-BE49-F238E27FC236}">
                                <a16:creationId xmlns:a16="http://schemas.microsoft.com/office/drawing/2014/main" id="{FF0ED872-88A6-2303-5B4B-01ED45A8509E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4324" y="7579"/>
                            <a:ext cx="215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103" name="Line 36">
                            <a:extLst>
                              <a:ext uri="{FF2B5EF4-FFF2-40B4-BE49-F238E27FC236}">
                                <a16:creationId xmlns:a16="http://schemas.microsoft.com/office/drawing/2014/main" id="{E9666648-0F53-FCEA-9A16-BF47AC51479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538" y="7579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64" name="Group 37">
                      <a:extLst>
                        <a:ext uri="{FF2B5EF4-FFF2-40B4-BE49-F238E27FC236}">
                          <a16:creationId xmlns:a16="http://schemas.microsoft.com/office/drawing/2014/main" id="{D162CA77-12F8-02C1-AB95-22795D8EC58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84" y="9751"/>
                      <a:ext cx="7680" cy="768"/>
                      <a:chOff x="2184" y="9751"/>
                      <a:chExt cx="7680" cy="768"/>
                    </a:xfrm>
                    <a:grpFill/>
                  </p:grpSpPr>
                  <p:grpSp>
                    <p:nvGrpSpPr>
                      <p:cNvPr id="85" name="Group 38">
                        <a:extLst>
                          <a:ext uri="{FF2B5EF4-FFF2-40B4-BE49-F238E27FC236}">
                            <a16:creationId xmlns:a16="http://schemas.microsoft.com/office/drawing/2014/main" id="{45FBC6D1-08F7-20C8-E4B4-AC551666199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84" y="9751"/>
                        <a:ext cx="7680" cy="768"/>
                        <a:chOff x="2184" y="9751"/>
                        <a:chExt cx="7680" cy="768"/>
                      </a:xfrm>
                      <a:grpFill/>
                    </p:grpSpPr>
                    <p:sp>
                      <p:nvSpPr>
                        <p:cNvPr id="95" name="Line 39">
                          <a:extLst>
                            <a:ext uri="{FF2B5EF4-FFF2-40B4-BE49-F238E27FC236}">
                              <a16:creationId xmlns:a16="http://schemas.microsoft.com/office/drawing/2014/main" id="{E6E6C4B8-590C-F353-0BCF-A6B4283778B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84" y="10499"/>
                          <a:ext cx="7680" cy="2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96" name="Line 40">
                          <a:extLst>
                            <a:ext uri="{FF2B5EF4-FFF2-40B4-BE49-F238E27FC236}">
                              <a16:creationId xmlns:a16="http://schemas.microsoft.com/office/drawing/2014/main" id="{AD65C42D-DDA9-CFC8-F372-9732F334997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054" y="9751"/>
                          <a:ext cx="0" cy="758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</p:grpSp>
                  <p:grpSp>
                    <p:nvGrpSpPr>
                      <p:cNvPr id="86" name="Group 41">
                        <a:extLst>
                          <a:ext uri="{FF2B5EF4-FFF2-40B4-BE49-F238E27FC236}">
                            <a16:creationId xmlns:a16="http://schemas.microsoft.com/office/drawing/2014/main" id="{D166897F-FE7F-FE6B-1040-58FB7EE717A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338" y="10128"/>
                        <a:ext cx="3788" cy="372"/>
                        <a:chOff x="5338" y="10128"/>
                        <a:chExt cx="3788" cy="372"/>
                      </a:xfrm>
                      <a:grpFill/>
                    </p:grpSpPr>
                    <p:grpSp>
                      <p:nvGrpSpPr>
                        <p:cNvPr id="87" name="Group 42">
                          <a:extLst>
                            <a:ext uri="{FF2B5EF4-FFF2-40B4-BE49-F238E27FC236}">
                              <a16:creationId xmlns:a16="http://schemas.microsoft.com/office/drawing/2014/main" id="{89E43A07-2586-6630-375E-955C9595B7D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8256" y="10128"/>
                          <a:ext cx="870" cy="372"/>
                          <a:chOff x="8256" y="10128"/>
                          <a:chExt cx="870" cy="372"/>
                        </a:xfrm>
                        <a:grpFill/>
                      </p:grpSpPr>
                      <p:sp>
                        <p:nvSpPr>
                          <p:cNvPr id="92" name="Freeform 43">
                            <a:extLst>
                              <a:ext uri="{FF2B5EF4-FFF2-40B4-BE49-F238E27FC236}">
                                <a16:creationId xmlns:a16="http://schemas.microsoft.com/office/drawing/2014/main" id="{C90B7ECC-AD65-27A3-1E08-A08CF8887B0C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8256" y="10128"/>
                            <a:ext cx="382" cy="371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93" name="Freeform 44">
                            <a:extLst>
                              <a:ext uri="{FF2B5EF4-FFF2-40B4-BE49-F238E27FC236}">
                                <a16:creationId xmlns:a16="http://schemas.microsoft.com/office/drawing/2014/main" id="{C488E4F0-78CD-A353-EBA8-E9F1269663A2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8911" y="10129"/>
                            <a:ext cx="215" cy="371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94" name="Line 45">
                            <a:extLst>
                              <a:ext uri="{FF2B5EF4-FFF2-40B4-BE49-F238E27FC236}">
                                <a16:creationId xmlns:a16="http://schemas.microsoft.com/office/drawing/2014/main" id="{F2D2CD4C-426E-33D4-144F-D3865BAAE690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8637" y="10129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  <p:grpSp>
                      <p:nvGrpSpPr>
                        <p:cNvPr id="88" name="Group 46">
                          <a:extLst>
                            <a:ext uri="{FF2B5EF4-FFF2-40B4-BE49-F238E27FC236}">
                              <a16:creationId xmlns:a16="http://schemas.microsoft.com/office/drawing/2014/main" id="{D87414F2-8351-2EFD-80EA-96DE3B82245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338" y="10128"/>
                          <a:ext cx="870" cy="357"/>
                          <a:chOff x="4324" y="7578"/>
                          <a:chExt cx="870" cy="357"/>
                        </a:xfrm>
                        <a:grpFill/>
                      </p:grpSpPr>
                      <p:sp>
                        <p:nvSpPr>
                          <p:cNvPr id="89" name="Freeform 47">
                            <a:extLst>
                              <a:ext uri="{FF2B5EF4-FFF2-40B4-BE49-F238E27FC236}">
                                <a16:creationId xmlns:a16="http://schemas.microsoft.com/office/drawing/2014/main" id="{F9D88233-4988-0E89-DEBF-54BF2BCFC1B0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12" y="7578"/>
                            <a:ext cx="382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90" name="Freeform 48">
                            <a:extLst>
                              <a:ext uri="{FF2B5EF4-FFF2-40B4-BE49-F238E27FC236}">
                                <a16:creationId xmlns:a16="http://schemas.microsoft.com/office/drawing/2014/main" id="{B60E7449-B298-9F2F-5CB3-B03322F9DA8A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4324" y="7579"/>
                            <a:ext cx="215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91" name="Line 49">
                            <a:extLst>
                              <a:ext uri="{FF2B5EF4-FFF2-40B4-BE49-F238E27FC236}">
                                <a16:creationId xmlns:a16="http://schemas.microsoft.com/office/drawing/2014/main" id="{9C83FE92-6E68-5567-9B9D-6C5D230B5B3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538" y="7579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65" name="Group 50">
                      <a:extLst>
                        <a:ext uri="{FF2B5EF4-FFF2-40B4-BE49-F238E27FC236}">
                          <a16:creationId xmlns:a16="http://schemas.microsoft.com/office/drawing/2014/main" id="{1765C649-B080-F97E-4F9D-20D642C3E51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84" y="10915"/>
                      <a:ext cx="7680" cy="770"/>
                      <a:chOff x="2184" y="10915"/>
                      <a:chExt cx="7680" cy="770"/>
                    </a:xfrm>
                    <a:grpFill/>
                  </p:grpSpPr>
                  <p:grpSp>
                    <p:nvGrpSpPr>
                      <p:cNvPr id="66" name="Group 51">
                        <a:extLst>
                          <a:ext uri="{FF2B5EF4-FFF2-40B4-BE49-F238E27FC236}">
                            <a16:creationId xmlns:a16="http://schemas.microsoft.com/office/drawing/2014/main" id="{C2AD5DFF-AE7D-CEBD-8C19-5449796B5DE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84" y="10915"/>
                        <a:ext cx="7680" cy="768"/>
                        <a:chOff x="2184" y="10915"/>
                        <a:chExt cx="7680" cy="768"/>
                      </a:xfrm>
                      <a:grpFill/>
                    </p:grpSpPr>
                    <p:sp>
                      <p:nvSpPr>
                        <p:cNvPr id="83" name="Line 52">
                          <a:extLst>
                            <a:ext uri="{FF2B5EF4-FFF2-40B4-BE49-F238E27FC236}">
                              <a16:creationId xmlns:a16="http://schemas.microsoft.com/office/drawing/2014/main" id="{4C0338C9-921A-8670-8E7A-C7EF61A7501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84" y="11663"/>
                          <a:ext cx="7680" cy="2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84" name="Line 53">
                          <a:extLst>
                            <a:ext uri="{FF2B5EF4-FFF2-40B4-BE49-F238E27FC236}">
                              <a16:creationId xmlns:a16="http://schemas.microsoft.com/office/drawing/2014/main" id="{634458B0-5260-D120-8872-70B9C4896A9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054" y="10915"/>
                          <a:ext cx="0" cy="758"/>
                        </a:xfrm>
                        <a:prstGeom prst="line">
                          <a:avLst/>
                        </a:prstGeom>
                        <a:grp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</p:grpSp>
                  <p:grpSp>
                    <p:nvGrpSpPr>
                      <p:cNvPr id="67" name="Group 54">
                        <a:extLst>
                          <a:ext uri="{FF2B5EF4-FFF2-40B4-BE49-F238E27FC236}">
                            <a16:creationId xmlns:a16="http://schemas.microsoft.com/office/drawing/2014/main" id="{FE1694C9-108D-5825-23B1-80A13670447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346" y="11313"/>
                        <a:ext cx="3788" cy="372"/>
                        <a:chOff x="5346" y="11313"/>
                        <a:chExt cx="3788" cy="372"/>
                      </a:xfrm>
                      <a:grpFill/>
                    </p:grpSpPr>
                    <p:sp>
                      <p:nvSpPr>
                        <p:cNvPr id="76" name="Freeform 55">
                          <a:extLst>
                            <a:ext uri="{FF2B5EF4-FFF2-40B4-BE49-F238E27FC236}">
                              <a16:creationId xmlns:a16="http://schemas.microsoft.com/office/drawing/2014/main" id="{1113929C-12D8-2A6C-A196-79979660A8D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 flipH="1">
                          <a:off x="8264" y="11313"/>
                          <a:ext cx="382" cy="371"/>
                        </a:xfrm>
                        <a:custGeom>
                          <a:avLst/>
                          <a:gdLst>
                            <a:gd name="T0" fmla="*/ 0 w 954"/>
                            <a:gd name="T1" fmla="*/ 0 h 807"/>
                            <a:gd name="T2" fmla="*/ 117 w 954"/>
                            <a:gd name="T3" fmla="*/ 9 h 807"/>
                            <a:gd name="T4" fmla="*/ 219 w 954"/>
                            <a:gd name="T5" fmla="*/ 45 h 807"/>
                            <a:gd name="T6" fmla="*/ 297 w 954"/>
                            <a:gd name="T7" fmla="*/ 93 h 807"/>
                            <a:gd name="T8" fmla="*/ 393 w 954"/>
                            <a:gd name="T9" fmla="*/ 183 h 807"/>
                            <a:gd name="T10" fmla="*/ 354 w 954"/>
                            <a:gd name="T11" fmla="*/ 144 h 807"/>
                            <a:gd name="T12" fmla="*/ 438 w 954"/>
                            <a:gd name="T13" fmla="*/ 234 h 807"/>
                            <a:gd name="T14" fmla="*/ 495 w 954"/>
                            <a:gd name="T15" fmla="*/ 309 h 807"/>
                            <a:gd name="T16" fmla="*/ 543 w 954"/>
                            <a:gd name="T17" fmla="*/ 375 h 807"/>
                            <a:gd name="T18" fmla="*/ 609 w 954"/>
                            <a:gd name="T19" fmla="*/ 468 h 807"/>
                            <a:gd name="T20" fmla="*/ 663 w 954"/>
                            <a:gd name="T21" fmla="*/ 543 h 807"/>
                            <a:gd name="T22" fmla="*/ 717 w 954"/>
                            <a:gd name="T23" fmla="*/ 618 h 807"/>
                            <a:gd name="T24" fmla="*/ 771 w 954"/>
                            <a:gd name="T25" fmla="*/ 681 h 807"/>
                            <a:gd name="T26" fmla="*/ 819 w 954"/>
                            <a:gd name="T27" fmla="*/ 732 h 807"/>
                            <a:gd name="T28" fmla="*/ 879 w 954"/>
                            <a:gd name="T29" fmla="*/ 774 h 807"/>
                            <a:gd name="T30" fmla="*/ 954 w 954"/>
                            <a:gd name="T31" fmla="*/ 807 h 80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</a:cxnLst>
                          <a:rect l="0" t="0" r="r" b="b"/>
                          <a:pathLst>
                            <a:path w="954" h="807">
                              <a:moveTo>
                                <a:pt x="0" y="0"/>
                              </a:moveTo>
                              <a:cubicBezTo>
                                <a:pt x="19" y="1"/>
                                <a:pt x="81" y="2"/>
                                <a:pt x="117" y="9"/>
                              </a:cubicBezTo>
                              <a:cubicBezTo>
                                <a:pt x="153" y="16"/>
                                <a:pt x="189" y="31"/>
                                <a:pt x="219" y="45"/>
                              </a:cubicBezTo>
                              <a:cubicBezTo>
                                <a:pt x="249" y="59"/>
                                <a:pt x="268" y="70"/>
                                <a:pt x="297" y="93"/>
                              </a:cubicBezTo>
                              <a:cubicBezTo>
                                <a:pt x="326" y="116"/>
                                <a:pt x="384" y="175"/>
                                <a:pt x="393" y="183"/>
                              </a:cubicBezTo>
                              <a:cubicBezTo>
                                <a:pt x="402" y="191"/>
                                <a:pt x="347" y="136"/>
                                <a:pt x="354" y="144"/>
                              </a:cubicBezTo>
                              <a:cubicBezTo>
                                <a:pt x="361" y="152"/>
                                <a:pt x="414" y="207"/>
                                <a:pt x="438" y="234"/>
                              </a:cubicBezTo>
                              <a:cubicBezTo>
                                <a:pt x="462" y="261"/>
                                <a:pt x="478" y="286"/>
                                <a:pt x="495" y="309"/>
                              </a:cubicBezTo>
                              <a:cubicBezTo>
                                <a:pt x="512" y="332"/>
                                <a:pt x="524" y="349"/>
                                <a:pt x="543" y="375"/>
                              </a:cubicBezTo>
                              <a:cubicBezTo>
                                <a:pt x="562" y="401"/>
                                <a:pt x="589" y="440"/>
                                <a:pt x="609" y="468"/>
                              </a:cubicBezTo>
                              <a:cubicBezTo>
                                <a:pt x="629" y="496"/>
                                <a:pt x="645" y="518"/>
                                <a:pt x="663" y="543"/>
                              </a:cubicBezTo>
                              <a:cubicBezTo>
                                <a:pt x="681" y="568"/>
                                <a:pt x="699" y="595"/>
                                <a:pt x="717" y="618"/>
                              </a:cubicBezTo>
                              <a:cubicBezTo>
                                <a:pt x="735" y="641"/>
                                <a:pt x="754" y="662"/>
                                <a:pt x="771" y="681"/>
                              </a:cubicBezTo>
                              <a:cubicBezTo>
                                <a:pt x="788" y="700"/>
                                <a:pt x="801" y="717"/>
                                <a:pt x="819" y="732"/>
                              </a:cubicBezTo>
                              <a:cubicBezTo>
                                <a:pt x="837" y="747"/>
                                <a:pt x="856" y="761"/>
                                <a:pt x="879" y="774"/>
                              </a:cubicBezTo>
                              <a:cubicBezTo>
                                <a:pt x="902" y="787"/>
                                <a:pt x="939" y="800"/>
                                <a:pt x="954" y="807"/>
                              </a:cubicBezTo>
                            </a:path>
                          </a:pathLst>
                        </a:custGeom>
                        <a:grpFill/>
                        <a:ln w="12700" cap="flat" cmpd="sng">
                          <a:solidFill>
                            <a:srgbClr val="000000"/>
                          </a:solidFill>
                          <a:prstDash val="sysDot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77" name="Freeform 56">
                          <a:extLst>
                            <a:ext uri="{FF2B5EF4-FFF2-40B4-BE49-F238E27FC236}">
                              <a16:creationId xmlns:a16="http://schemas.microsoft.com/office/drawing/2014/main" id="{AFFCC107-F254-5455-BB32-07621999584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8919" y="11314"/>
                          <a:ext cx="215" cy="371"/>
                        </a:xfrm>
                        <a:custGeom>
                          <a:avLst/>
                          <a:gdLst>
                            <a:gd name="T0" fmla="*/ 0 w 954"/>
                            <a:gd name="T1" fmla="*/ 0 h 807"/>
                            <a:gd name="T2" fmla="*/ 117 w 954"/>
                            <a:gd name="T3" fmla="*/ 9 h 807"/>
                            <a:gd name="T4" fmla="*/ 219 w 954"/>
                            <a:gd name="T5" fmla="*/ 45 h 807"/>
                            <a:gd name="T6" fmla="*/ 297 w 954"/>
                            <a:gd name="T7" fmla="*/ 93 h 807"/>
                            <a:gd name="T8" fmla="*/ 393 w 954"/>
                            <a:gd name="T9" fmla="*/ 183 h 807"/>
                            <a:gd name="T10" fmla="*/ 354 w 954"/>
                            <a:gd name="T11" fmla="*/ 144 h 807"/>
                            <a:gd name="T12" fmla="*/ 438 w 954"/>
                            <a:gd name="T13" fmla="*/ 234 h 807"/>
                            <a:gd name="T14" fmla="*/ 495 w 954"/>
                            <a:gd name="T15" fmla="*/ 309 h 807"/>
                            <a:gd name="T16" fmla="*/ 543 w 954"/>
                            <a:gd name="T17" fmla="*/ 375 h 807"/>
                            <a:gd name="T18" fmla="*/ 609 w 954"/>
                            <a:gd name="T19" fmla="*/ 468 h 807"/>
                            <a:gd name="T20" fmla="*/ 663 w 954"/>
                            <a:gd name="T21" fmla="*/ 543 h 807"/>
                            <a:gd name="T22" fmla="*/ 717 w 954"/>
                            <a:gd name="T23" fmla="*/ 618 h 807"/>
                            <a:gd name="T24" fmla="*/ 771 w 954"/>
                            <a:gd name="T25" fmla="*/ 681 h 807"/>
                            <a:gd name="T26" fmla="*/ 819 w 954"/>
                            <a:gd name="T27" fmla="*/ 732 h 807"/>
                            <a:gd name="T28" fmla="*/ 879 w 954"/>
                            <a:gd name="T29" fmla="*/ 774 h 807"/>
                            <a:gd name="T30" fmla="*/ 954 w 954"/>
                            <a:gd name="T31" fmla="*/ 807 h 80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</a:cxnLst>
                          <a:rect l="0" t="0" r="r" b="b"/>
                          <a:pathLst>
                            <a:path w="954" h="807">
                              <a:moveTo>
                                <a:pt x="0" y="0"/>
                              </a:moveTo>
                              <a:cubicBezTo>
                                <a:pt x="19" y="1"/>
                                <a:pt x="81" y="2"/>
                                <a:pt x="117" y="9"/>
                              </a:cubicBezTo>
                              <a:cubicBezTo>
                                <a:pt x="153" y="16"/>
                                <a:pt x="189" y="31"/>
                                <a:pt x="219" y="45"/>
                              </a:cubicBezTo>
                              <a:cubicBezTo>
                                <a:pt x="249" y="59"/>
                                <a:pt x="268" y="70"/>
                                <a:pt x="297" y="93"/>
                              </a:cubicBezTo>
                              <a:cubicBezTo>
                                <a:pt x="326" y="116"/>
                                <a:pt x="384" y="175"/>
                                <a:pt x="393" y="183"/>
                              </a:cubicBezTo>
                              <a:cubicBezTo>
                                <a:pt x="402" y="191"/>
                                <a:pt x="347" y="136"/>
                                <a:pt x="354" y="144"/>
                              </a:cubicBezTo>
                              <a:cubicBezTo>
                                <a:pt x="361" y="152"/>
                                <a:pt x="414" y="207"/>
                                <a:pt x="438" y="234"/>
                              </a:cubicBezTo>
                              <a:cubicBezTo>
                                <a:pt x="462" y="261"/>
                                <a:pt x="478" y="286"/>
                                <a:pt x="495" y="309"/>
                              </a:cubicBezTo>
                              <a:cubicBezTo>
                                <a:pt x="512" y="332"/>
                                <a:pt x="524" y="349"/>
                                <a:pt x="543" y="375"/>
                              </a:cubicBezTo>
                              <a:cubicBezTo>
                                <a:pt x="562" y="401"/>
                                <a:pt x="589" y="440"/>
                                <a:pt x="609" y="468"/>
                              </a:cubicBezTo>
                              <a:cubicBezTo>
                                <a:pt x="629" y="496"/>
                                <a:pt x="645" y="518"/>
                                <a:pt x="663" y="543"/>
                              </a:cubicBezTo>
                              <a:cubicBezTo>
                                <a:pt x="681" y="568"/>
                                <a:pt x="699" y="595"/>
                                <a:pt x="717" y="618"/>
                              </a:cubicBezTo>
                              <a:cubicBezTo>
                                <a:pt x="735" y="641"/>
                                <a:pt x="754" y="662"/>
                                <a:pt x="771" y="681"/>
                              </a:cubicBezTo>
                              <a:cubicBezTo>
                                <a:pt x="788" y="700"/>
                                <a:pt x="801" y="717"/>
                                <a:pt x="819" y="732"/>
                              </a:cubicBezTo>
                              <a:cubicBezTo>
                                <a:pt x="837" y="747"/>
                                <a:pt x="856" y="761"/>
                                <a:pt x="879" y="774"/>
                              </a:cubicBezTo>
                              <a:cubicBezTo>
                                <a:pt x="902" y="787"/>
                                <a:pt x="939" y="800"/>
                                <a:pt x="954" y="807"/>
                              </a:cubicBezTo>
                            </a:path>
                          </a:pathLst>
                        </a:custGeom>
                        <a:grpFill/>
                        <a:ln w="12700" cap="flat" cmpd="sng">
                          <a:solidFill>
                            <a:srgbClr val="000000"/>
                          </a:solidFill>
                          <a:prstDash val="sysDot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78" name="Line 57">
                          <a:extLst>
                            <a:ext uri="{FF2B5EF4-FFF2-40B4-BE49-F238E27FC236}">
                              <a16:creationId xmlns:a16="http://schemas.microsoft.com/office/drawing/2014/main" id="{1E8B0483-B8C5-920F-2249-6B85E409084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8645" y="11314"/>
                          <a:ext cx="275" cy="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ysDot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grpSp>
                      <p:nvGrpSpPr>
                        <p:cNvPr id="79" name="Group 58">
                          <a:extLst>
                            <a:ext uri="{FF2B5EF4-FFF2-40B4-BE49-F238E27FC236}">
                              <a16:creationId xmlns:a16="http://schemas.microsoft.com/office/drawing/2014/main" id="{F4BC2E9A-4A84-7180-9E89-2430DE43024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346" y="11313"/>
                          <a:ext cx="870" cy="357"/>
                          <a:chOff x="4324" y="7578"/>
                          <a:chExt cx="870" cy="357"/>
                        </a:xfrm>
                        <a:grpFill/>
                      </p:grpSpPr>
                      <p:sp>
                        <p:nvSpPr>
                          <p:cNvPr id="80" name="Freeform 59">
                            <a:extLst>
                              <a:ext uri="{FF2B5EF4-FFF2-40B4-BE49-F238E27FC236}">
                                <a16:creationId xmlns:a16="http://schemas.microsoft.com/office/drawing/2014/main" id="{8BE7FC53-3EFB-2C53-0A36-BD529FBB399B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12" y="7578"/>
                            <a:ext cx="382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81" name="Freeform 60">
                            <a:extLst>
                              <a:ext uri="{FF2B5EF4-FFF2-40B4-BE49-F238E27FC236}">
                                <a16:creationId xmlns:a16="http://schemas.microsoft.com/office/drawing/2014/main" id="{EE625422-A55F-A43D-F418-7D893FDBFB6F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4324" y="7579"/>
                            <a:ext cx="215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82" name="Line 61">
                            <a:extLst>
                              <a:ext uri="{FF2B5EF4-FFF2-40B4-BE49-F238E27FC236}">
                                <a16:creationId xmlns:a16="http://schemas.microsoft.com/office/drawing/2014/main" id="{59785763-787C-50D3-8214-229DDFFE948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538" y="7579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ysDot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  <p:grpSp>
                    <p:nvGrpSpPr>
                      <p:cNvPr id="68" name="Group 62">
                        <a:extLst>
                          <a:ext uri="{FF2B5EF4-FFF2-40B4-BE49-F238E27FC236}">
                            <a16:creationId xmlns:a16="http://schemas.microsoft.com/office/drawing/2014/main" id="{40BE4957-88A1-B29F-63C5-BBC72E3E8E5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88" y="11304"/>
                        <a:ext cx="3788" cy="372"/>
                        <a:chOff x="4324" y="7563"/>
                        <a:chExt cx="3788" cy="372"/>
                      </a:xfrm>
                      <a:grpFill/>
                    </p:grpSpPr>
                    <p:sp>
                      <p:nvSpPr>
                        <p:cNvPr id="69" name="Freeform 63">
                          <a:extLst>
                            <a:ext uri="{FF2B5EF4-FFF2-40B4-BE49-F238E27FC236}">
                              <a16:creationId xmlns:a16="http://schemas.microsoft.com/office/drawing/2014/main" id="{64FC4589-8D43-EB14-A1F4-D99B07081D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 flipH="1">
                          <a:off x="7242" y="7563"/>
                          <a:ext cx="382" cy="371"/>
                        </a:xfrm>
                        <a:custGeom>
                          <a:avLst/>
                          <a:gdLst>
                            <a:gd name="T0" fmla="*/ 0 w 954"/>
                            <a:gd name="T1" fmla="*/ 0 h 807"/>
                            <a:gd name="T2" fmla="*/ 117 w 954"/>
                            <a:gd name="T3" fmla="*/ 9 h 807"/>
                            <a:gd name="T4" fmla="*/ 219 w 954"/>
                            <a:gd name="T5" fmla="*/ 45 h 807"/>
                            <a:gd name="T6" fmla="*/ 297 w 954"/>
                            <a:gd name="T7" fmla="*/ 93 h 807"/>
                            <a:gd name="T8" fmla="*/ 393 w 954"/>
                            <a:gd name="T9" fmla="*/ 183 h 807"/>
                            <a:gd name="T10" fmla="*/ 354 w 954"/>
                            <a:gd name="T11" fmla="*/ 144 h 807"/>
                            <a:gd name="T12" fmla="*/ 438 w 954"/>
                            <a:gd name="T13" fmla="*/ 234 h 807"/>
                            <a:gd name="T14" fmla="*/ 495 w 954"/>
                            <a:gd name="T15" fmla="*/ 309 h 807"/>
                            <a:gd name="T16" fmla="*/ 543 w 954"/>
                            <a:gd name="T17" fmla="*/ 375 h 807"/>
                            <a:gd name="T18" fmla="*/ 609 w 954"/>
                            <a:gd name="T19" fmla="*/ 468 h 807"/>
                            <a:gd name="T20" fmla="*/ 663 w 954"/>
                            <a:gd name="T21" fmla="*/ 543 h 807"/>
                            <a:gd name="T22" fmla="*/ 717 w 954"/>
                            <a:gd name="T23" fmla="*/ 618 h 807"/>
                            <a:gd name="T24" fmla="*/ 771 w 954"/>
                            <a:gd name="T25" fmla="*/ 681 h 807"/>
                            <a:gd name="T26" fmla="*/ 819 w 954"/>
                            <a:gd name="T27" fmla="*/ 732 h 807"/>
                            <a:gd name="T28" fmla="*/ 879 w 954"/>
                            <a:gd name="T29" fmla="*/ 774 h 807"/>
                            <a:gd name="T30" fmla="*/ 954 w 954"/>
                            <a:gd name="T31" fmla="*/ 807 h 80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</a:cxnLst>
                          <a:rect l="0" t="0" r="r" b="b"/>
                          <a:pathLst>
                            <a:path w="954" h="807">
                              <a:moveTo>
                                <a:pt x="0" y="0"/>
                              </a:moveTo>
                              <a:cubicBezTo>
                                <a:pt x="19" y="1"/>
                                <a:pt x="81" y="2"/>
                                <a:pt x="117" y="9"/>
                              </a:cubicBezTo>
                              <a:cubicBezTo>
                                <a:pt x="153" y="16"/>
                                <a:pt x="189" y="31"/>
                                <a:pt x="219" y="45"/>
                              </a:cubicBezTo>
                              <a:cubicBezTo>
                                <a:pt x="249" y="59"/>
                                <a:pt x="268" y="70"/>
                                <a:pt x="297" y="93"/>
                              </a:cubicBezTo>
                              <a:cubicBezTo>
                                <a:pt x="326" y="116"/>
                                <a:pt x="384" y="175"/>
                                <a:pt x="393" y="183"/>
                              </a:cubicBezTo>
                              <a:cubicBezTo>
                                <a:pt x="402" y="191"/>
                                <a:pt x="347" y="136"/>
                                <a:pt x="354" y="144"/>
                              </a:cubicBezTo>
                              <a:cubicBezTo>
                                <a:pt x="361" y="152"/>
                                <a:pt x="414" y="207"/>
                                <a:pt x="438" y="234"/>
                              </a:cubicBezTo>
                              <a:cubicBezTo>
                                <a:pt x="462" y="261"/>
                                <a:pt x="478" y="286"/>
                                <a:pt x="495" y="309"/>
                              </a:cubicBezTo>
                              <a:cubicBezTo>
                                <a:pt x="512" y="332"/>
                                <a:pt x="524" y="349"/>
                                <a:pt x="543" y="375"/>
                              </a:cubicBezTo>
                              <a:cubicBezTo>
                                <a:pt x="562" y="401"/>
                                <a:pt x="589" y="440"/>
                                <a:pt x="609" y="468"/>
                              </a:cubicBezTo>
                              <a:cubicBezTo>
                                <a:pt x="629" y="496"/>
                                <a:pt x="645" y="518"/>
                                <a:pt x="663" y="543"/>
                              </a:cubicBezTo>
                              <a:cubicBezTo>
                                <a:pt x="681" y="568"/>
                                <a:pt x="699" y="595"/>
                                <a:pt x="717" y="618"/>
                              </a:cubicBezTo>
                              <a:cubicBezTo>
                                <a:pt x="735" y="641"/>
                                <a:pt x="754" y="662"/>
                                <a:pt x="771" y="681"/>
                              </a:cubicBezTo>
                              <a:cubicBezTo>
                                <a:pt x="788" y="700"/>
                                <a:pt x="801" y="717"/>
                                <a:pt x="819" y="732"/>
                              </a:cubicBezTo>
                              <a:cubicBezTo>
                                <a:pt x="837" y="747"/>
                                <a:pt x="856" y="761"/>
                                <a:pt x="879" y="774"/>
                              </a:cubicBezTo>
                              <a:cubicBezTo>
                                <a:pt x="902" y="787"/>
                                <a:pt x="939" y="800"/>
                                <a:pt x="954" y="807"/>
                              </a:cubicBezTo>
                            </a:path>
                          </a:pathLst>
                        </a:custGeom>
                        <a:grpFill/>
                        <a:ln w="12700" cap="flat" cmpd="sng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70" name="Freeform 64">
                          <a:extLst>
                            <a:ext uri="{FF2B5EF4-FFF2-40B4-BE49-F238E27FC236}">
                              <a16:creationId xmlns:a16="http://schemas.microsoft.com/office/drawing/2014/main" id="{92951C84-4034-C53C-3F34-43620E083BE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7897" y="7564"/>
                          <a:ext cx="215" cy="371"/>
                        </a:xfrm>
                        <a:custGeom>
                          <a:avLst/>
                          <a:gdLst>
                            <a:gd name="T0" fmla="*/ 0 w 954"/>
                            <a:gd name="T1" fmla="*/ 0 h 807"/>
                            <a:gd name="T2" fmla="*/ 117 w 954"/>
                            <a:gd name="T3" fmla="*/ 9 h 807"/>
                            <a:gd name="T4" fmla="*/ 219 w 954"/>
                            <a:gd name="T5" fmla="*/ 45 h 807"/>
                            <a:gd name="T6" fmla="*/ 297 w 954"/>
                            <a:gd name="T7" fmla="*/ 93 h 807"/>
                            <a:gd name="T8" fmla="*/ 393 w 954"/>
                            <a:gd name="T9" fmla="*/ 183 h 807"/>
                            <a:gd name="T10" fmla="*/ 354 w 954"/>
                            <a:gd name="T11" fmla="*/ 144 h 807"/>
                            <a:gd name="T12" fmla="*/ 438 w 954"/>
                            <a:gd name="T13" fmla="*/ 234 h 807"/>
                            <a:gd name="T14" fmla="*/ 495 w 954"/>
                            <a:gd name="T15" fmla="*/ 309 h 807"/>
                            <a:gd name="T16" fmla="*/ 543 w 954"/>
                            <a:gd name="T17" fmla="*/ 375 h 807"/>
                            <a:gd name="T18" fmla="*/ 609 w 954"/>
                            <a:gd name="T19" fmla="*/ 468 h 807"/>
                            <a:gd name="T20" fmla="*/ 663 w 954"/>
                            <a:gd name="T21" fmla="*/ 543 h 807"/>
                            <a:gd name="T22" fmla="*/ 717 w 954"/>
                            <a:gd name="T23" fmla="*/ 618 h 807"/>
                            <a:gd name="T24" fmla="*/ 771 w 954"/>
                            <a:gd name="T25" fmla="*/ 681 h 807"/>
                            <a:gd name="T26" fmla="*/ 819 w 954"/>
                            <a:gd name="T27" fmla="*/ 732 h 807"/>
                            <a:gd name="T28" fmla="*/ 879 w 954"/>
                            <a:gd name="T29" fmla="*/ 774 h 807"/>
                            <a:gd name="T30" fmla="*/ 954 w 954"/>
                            <a:gd name="T31" fmla="*/ 807 h 80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</a:cxnLst>
                          <a:rect l="0" t="0" r="r" b="b"/>
                          <a:pathLst>
                            <a:path w="954" h="807">
                              <a:moveTo>
                                <a:pt x="0" y="0"/>
                              </a:moveTo>
                              <a:cubicBezTo>
                                <a:pt x="19" y="1"/>
                                <a:pt x="81" y="2"/>
                                <a:pt x="117" y="9"/>
                              </a:cubicBezTo>
                              <a:cubicBezTo>
                                <a:pt x="153" y="16"/>
                                <a:pt x="189" y="31"/>
                                <a:pt x="219" y="45"/>
                              </a:cubicBezTo>
                              <a:cubicBezTo>
                                <a:pt x="249" y="59"/>
                                <a:pt x="268" y="70"/>
                                <a:pt x="297" y="93"/>
                              </a:cubicBezTo>
                              <a:cubicBezTo>
                                <a:pt x="326" y="116"/>
                                <a:pt x="384" y="175"/>
                                <a:pt x="393" y="183"/>
                              </a:cubicBezTo>
                              <a:cubicBezTo>
                                <a:pt x="402" y="191"/>
                                <a:pt x="347" y="136"/>
                                <a:pt x="354" y="144"/>
                              </a:cubicBezTo>
                              <a:cubicBezTo>
                                <a:pt x="361" y="152"/>
                                <a:pt x="414" y="207"/>
                                <a:pt x="438" y="234"/>
                              </a:cubicBezTo>
                              <a:cubicBezTo>
                                <a:pt x="462" y="261"/>
                                <a:pt x="478" y="286"/>
                                <a:pt x="495" y="309"/>
                              </a:cubicBezTo>
                              <a:cubicBezTo>
                                <a:pt x="512" y="332"/>
                                <a:pt x="524" y="349"/>
                                <a:pt x="543" y="375"/>
                              </a:cubicBezTo>
                              <a:cubicBezTo>
                                <a:pt x="562" y="401"/>
                                <a:pt x="589" y="440"/>
                                <a:pt x="609" y="468"/>
                              </a:cubicBezTo>
                              <a:cubicBezTo>
                                <a:pt x="629" y="496"/>
                                <a:pt x="645" y="518"/>
                                <a:pt x="663" y="543"/>
                              </a:cubicBezTo>
                              <a:cubicBezTo>
                                <a:pt x="681" y="568"/>
                                <a:pt x="699" y="595"/>
                                <a:pt x="717" y="618"/>
                              </a:cubicBezTo>
                              <a:cubicBezTo>
                                <a:pt x="735" y="641"/>
                                <a:pt x="754" y="662"/>
                                <a:pt x="771" y="681"/>
                              </a:cubicBezTo>
                              <a:cubicBezTo>
                                <a:pt x="788" y="700"/>
                                <a:pt x="801" y="717"/>
                                <a:pt x="819" y="732"/>
                              </a:cubicBezTo>
                              <a:cubicBezTo>
                                <a:pt x="837" y="747"/>
                                <a:pt x="856" y="761"/>
                                <a:pt x="879" y="774"/>
                              </a:cubicBezTo>
                              <a:cubicBezTo>
                                <a:pt x="902" y="787"/>
                                <a:pt x="939" y="800"/>
                                <a:pt x="954" y="807"/>
                              </a:cubicBezTo>
                            </a:path>
                          </a:pathLst>
                        </a:custGeom>
                        <a:grpFill/>
                        <a:ln w="12700" cap="flat" cmpd="sng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71" name="Line 65">
                          <a:extLst>
                            <a:ext uri="{FF2B5EF4-FFF2-40B4-BE49-F238E27FC236}">
                              <a16:creationId xmlns:a16="http://schemas.microsoft.com/office/drawing/2014/main" id="{C9962812-9E3F-6BD9-2B02-3F683EB4004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7623" y="7564"/>
                          <a:ext cx="275" cy="0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grpSp>
                      <p:nvGrpSpPr>
                        <p:cNvPr id="72" name="Group 66">
                          <a:extLst>
                            <a:ext uri="{FF2B5EF4-FFF2-40B4-BE49-F238E27FC236}">
                              <a16:creationId xmlns:a16="http://schemas.microsoft.com/office/drawing/2014/main" id="{86ACC401-EE1F-DAE8-B477-143AF6F9E61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324" y="7578"/>
                          <a:ext cx="870" cy="357"/>
                          <a:chOff x="4324" y="7578"/>
                          <a:chExt cx="870" cy="357"/>
                        </a:xfrm>
                        <a:grpFill/>
                      </p:grpSpPr>
                      <p:sp>
                        <p:nvSpPr>
                          <p:cNvPr id="73" name="Freeform 67">
                            <a:extLst>
                              <a:ext uri="{FF2B5EF4-FFF2-40B4-BE49-F238E27FC236}">
                                <a16:creationId xmlns:a16="http://schemas.microsoft.com/office/drawing/2014/main" id="{DB29C441-B95A-9FAB-4DD0-044A830CFAAD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12" y="7578"/>
                            <a:ext cx="382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74" name="Freeform 68">
                            <a:extLst>
                              <a:ext uri="{FF2B5EF4-FFF2-40B4-BE49-F238E27FC236}">
                                <a16:creationId xmlns:a16="http://schemas.microsoft.com/office/drawing/2014/main" id="{2C6249AA-AEBE-48AC-5B9F-7A05BE6A1AED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 flipH="1">
                            <a:off x="4324" y="7579"/>
                            <a:ext cx="215" cy="356"/>
                          </a:xfrm>
                          <a:custGeom>
                            <a:avLst/>
                            <a:gdLst>
                              <a:gd name="T0" fmla="*/ 0 w 954"/>
                              <a:gd name="T1" fmla="*/ 0 h 807"/>
                              <a:gd name="T2" fmla="*/ 117 w 954"/>
                              <a:gd name="T3" fmla="*/ 9 h 807"/>
                              <a:gd name="T4" fmla="*/ 219 w 954"/>
                              <a:gd name="T5" fmla="*/ 45 h 807"/>
                              <a:gd name="T6" fmla="*/ 297 w 954"/>
                              <a:gd name="T7" fmla="*/ 93 h 807"/>
                              <a:gd name="T8" fmla="*/ 393 w 954"/>
                              <a:gd name="T9" fmla="*/ 183 h 807"/>
                              <a:gd name="T10" fmla="*/ 354 w 954"/>
                              <a:gd name="T11" fmla="*/ 144 h 807"/>
                              <a:gd name="T12" fmla="*/ 438 w 954"/>
                              <a:gd name="T13" fmla="*/ 234 h 807"/>
                              <a:gd name="T14" fmla="*/ 495 w 954"/>
                              <a:gd name="T15" fmla="*/ 309 h 807"/>
                              <a:gd name="T16" fmla="*/ 543 w 954"/>
                              <a:gd name="T17" fmla="*/ 375 h 807"/>
                              <a:gd name="T18" fmla="*/ 609 w 954"/>
                              <a:gd name="T19" fmla="*/ 468 h 807"/>
                              <a:gd name="T20" fmla="*/ 663 w 954"/>
                              <a:gd name="T21" fmla="*/ 543 h 807"/>
                              <a:gd name="T22" fmla="*/ 717 w 954"/>
                              <a:gd name="T23" fmla="*/ 618 h 807"/>
                              <a:gd name="T24" fmla="*/ 771 w 954"/>
                              <a:gd name="T25" fmla="*/ 681 h 807"/>
                              <a:gd name="T26" fmla="*/ 819 w 954"/>
                              <a:gd name="T27" fmla="*/ 732 h 807"/>
                              <a:gd name="T28" fmla="*/ 879 w 954"/>
                              <a:gd name="T29" fmla="*/ 774 h 807"/>
                              <a:gd name="T30" fmla="*/ 954 w 954"/>
                              <a:gd name="T31" fmla="*/ 807 h 807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954" h="807">
                                <a:moveTo>
                                  <a:pt x="0" y="0"/>
                                </a:moveTo>
                                <a:cubicBezTo>
                                  <a:pt x="19" y="1"/>
                                  <a:pt x="81" y="2"/>
                                  <a:pt x="117" y="9"/>
                                </a:cubicBezTo>
                                <a:cubicBezTo>
                                  <a:pt x="153" y="16"/>
                                  <a:pt x="189" y="31"/>
                                  <a:pt x="219" y="45"/>
                                </a:cubicBezTo>
                                <a:cubicBezTo>
                                  <a:pt x="249" y="59"/>
                                  <a:pt x="268" y="70"/>
                                  <a:pt x="297" y="93"/>
                                </a:cubicBezTo>
                                <a:cubicBezTo>
                                  <a:pt x="326" y="116"/>
                                  <a:pt x="384" y="175"/>
                                  <a:pt x="393" y="183"/>
                                </a:cubicBezTo>
                                <a:cubicBezTo>
                                  <a:pt x="402" y="191"/>
                                  <a:pt x="347" y="136"/>
                                  <a:pt x="354" y="144"/>
                                </a:cubicBezTo>
                                <a:cubicBezTo>
                                  <a:pt x="361" y="152"/>
                                  <a:pt x="414" y="207"/>
                                  <a:pt x="438" y="234"/>
                                </a:cubicBezTo>
                                <a:cubicBezTo>
                                  <a:pt x="462" y="261"/>
                                  <a:pt x="478" y="286"/>
                                  <a:pt x="495" y="309"/>
                                </a:cubicBezTo>
                                <a:cubicBezTo>
                                  <a:pt x="512" y="332"/>
                                  <a:pt x="524" y="349"/>
                                  <a:pt x="543" y="375"/>
                                </a:cubicBezTo>
                                <a:cubicBezTo>
                                  <a:pt x="562" y="401"/>
                                  <a:pt x="589" y="440"/>
                                  <a:pt x="609" y="468"/>
                                </a:cubicBezTo>
                                <a:cubicBezTo>
                                  <a:pt x="629" y="496"/>
                                  <a:pt x="645" y="518"/>
                                  <a:pt x="663" y="543"/>
                                </a:cubicBezTo>
                                <a:cubicBezTo>
                                  <a:pt x="681" y="568"/>
                                  <a:pt x="699" y="595"/>
                                  <a:pt x="717" y="618"/>
                                </a:cubicBezTo>
                                <a:cubicBezTo>
                                  <a:pt x="735" y="641"/>
                                  <a:pt x="754" y="662"/>
                                  <a:pt x="771" y="681"/>
                                </a:cubicBezTo>
                                <a:cubicBezTo>
                                  <a:pt x="788" y="700"/>
                                  <a:pt x="801" y="717"/>
                                  <a:pt x="819" y="732"/>
                                </a:cubicBezTo>
                                <a:cubicBezTo>
                                  <a:pt x="837" y="747"/>
                                  <a:pt x="856" y="761"/>
                                  <a:pt x="879" y="774"/>
                                </a:cubicBezTo>
                                <a:cubicBezTo>
                                  <a:pt x="902" y="787"/>
                                  <a:pt x="939" y="800"/>
                                  <a:pt x="954" y="807"/>
                                </a:cubicBezTo>
                              </a:path>
                            </a:pathLst>
                          </a:custGeom>
                          <a:grpFill/>
                          <a:ln w="12700" cap="flat" cmpd="sng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75" name="Line 69">
                            <a:extLst>
                              <a:ext uri="{FF2B5EF4-FFF2-40B4-BE49-F238E27FC236}">
                                <a16:creationId xmlns:a16="http://schemas.microsoft.com/office/drawing/2014/main" id="{90E23B94-45C2-2526-6253-8CBB033056E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538" y="7579"/>
                            <a:ext cx="275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dash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40" name="Group 70">
                    <a:extLst>
                      <a:ext uri="{FF2B5EF4-FFF2-40B4-BE49-F238E27FC236}">
                        <a16:creationId xmlns:a16="http://schemas.microsoft.com/office/drawing/2014/main" id="{D9BD5DE4-0A06-0EC0-475F-6BDF3A5E253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260" y="7860"/>
                    <a:ext cx="490" cy="375"/>
                    <a:chOff x="7260" y="7860"/>
                    <a:chExt cx="490" cy="375"/>
                  </a:xfrm>
                  <a:grpFill/>
                </p:grpSpPr>
                <p:sp>
                  <p:nvSpPr>
                    <p:cNvPr id="60" name="Line 71">
                      <a:extLst>
                        <a:ext uri="{FF2B5EF4-FFF2-40B4-BE49-F238E27FC236}">
                          <a16:creationId xmlns:a16="http://schemas.microsoft.com/office/drawing/2014/main" id="{EDF91C79-6E6E-CD16-A5E3-970AB61F839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260" y="8028"/>
                      <a:ext cx="4" cy="207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61" name="Line 72">
                      <a:extLst>
                        <a:ext uri="{FF2B5EF4-FFF2-40B4-BE49-F238E27FC236}">
                          <a16:creationId xmlns:a16="http://schemas.microsoft.com/office/drawing/2014/main" id="{F6860004-2DF4-ED05-C91C-622A347BB4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750" y="7860"/>
                      <a:ext cx="0" cy="36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1" name="Group 73">
                    <a:extLst>
                      <a:ext uri="{FF2B5EF4-FFF2-40B4-BE49-F238E27FC236}">
                        <a16:creationId xmlns:a16="http://schemas.microsoft.com/office/drawing/2014/main" id="{9DEAB2B7-4095-0F4F-34AC-E3D6165B183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4380" y="7866"/>
                    <a:ext cx="490" cy="360"/>
                    <a:chOff x="7260" y="7860"/>
                    <a:chExt cx="490" cy="375"/>
                  </a:xfrm>
                  <a:grpFill/>
                </p:grpSpPr>
                <p:sp>
                  <p:nvSpPr>
                    <p:cNvPr id="58" name="Line 74">
                      <a:extLst>
                        <a:ext uri="{FF2B5EF4-FFF2-40B4-BE49-F238E27FC236}">
                          <a16:creationId xmlns:a16="http://schemas.microsoft.com/office/drawing/2014/main" id="{A6018550-17FA-DA91-5389-B88ED1F8F36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260" y="8028"/>
                      <a:ext cx="4" cy="207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9" name="Line 75">
                      <a:extLst>
                        <a:ext uri="{FF2B5EF4-FFF2-40B4-BE49-F238E27FC236}">
                          <a16:creationId xmlns:a16="http://schemas.microsoft.com/office/drawing/2014/main" id="{4625D403-F167-615D-3EC9-0D2622F2DA4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750" y="7860"/>
                      <a:ext cx="0" cy="36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2" name="Group 76">
                    <a:extLst>
                      <a:ext uri="{FF2B5EF4-FFF2-40B4-BE49-F238E27FC236}">
                        <a16:creationId xmlns:a16="http://schemas.microsoft.com/office/drawing/2014/main" id="{906B405E-C9FA-B213-A642-B972C33DCF4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3170" y="8961"/>
                    <a:ext cx="490" cy="375"/>
                    <a:chOff x="7260" y="7860"/>
                    <a:chExt cx="490" cy="375"/>
                  </a:xfrm>
                  <a:grpFill/>
                </p:grpSpPr>
                <p:sp>
                  <p:nvSpPr>
                    <p:cNvPr id="56" name="Line 77">
                      <a:extLst>
                        <a:ext uri="{FF2B5EF4-FFF2-40B4-BE49-F238E27FC236}">
                          <a16:creationId xmlns:a16="http://schemas.microsoft.com/office/drawing/2014/main" id="{E03C3403-C736-5584-23F6-259871730FB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260" y="8028"/>
                      <a:ext cx="4" cy="207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7" name="Line 78">
                      <a:extLst>
                        <a:ext uri="{FF2B5EF4-FFF2-40B4-BE49-F238E27FC236}">
                          <a16:creationId xmlns:a16="http://schemas.microsoft.com/office/drawing/2014/main" id="{D6793F82-1F00-1D0E-607D-4C1885F0CB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750" y="7860"/>
                      <a:ext cx="0" cy="36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3" name="Group 79">
                    <a:extLst>
                      <a:ext uri="{FF2B5EF4-FFF2-40B4-BE49-F238E27FC236}">
                        <a16:creationId xmlns:a16="http://schemas.microsoft.com/office/drawing/2014/main" id="{65CF7183-35CB-C8DF-452E-8024AF35DD9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440" y="10131"/>
                    <a:ext cx="490" cy="375"/>
                    <a:chOff x="7260" y="7860"/>
                    <a:chExt cx="490" cy="375"/>
                  </a:xfrm>
                  <a:grpFill/>
                </p:grpSpPr>
                <p:sp>
                  <p:nvSpPr>
                    <p:cNvPr id="54" name="Line 80">
                      <a:extLst>
                        <a:ext uri="{FF2B5EF4-FFF2-40B4-BE49-F238E27FC236}">
                          <a16:creationId xmlns:a16="http://schemas.microsoft.com/office/drawing/2014/main" id="{ED7F8542-EE93-0316-9E8E-EE8976B91E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260" y="8028"/>
                      <a:ext cx="4" cy="207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5" name="Line 81">
                      <a:extLst>
                        <a:ext uri="{FF2B5EF4-FFF2-40B4-BE49-F238E27FC236}">
                          <a16:creationId xmlns:a16="http://schemas.microsoft.com/office/drawing/2014/main" id="{1428B373-D0D8-5E68-18AA-85B439DA30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750" y="7860"/>
                      <a:ext cx="0" cy="36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4" name="Group 82">
                    <a:extLst>
                      <a:ext uri="{FF2B5EF4-FFF2-40B4-BE49-F238E27FC236}">
                        <a16:creationId xmlns:a16="http://schemas.microsoft.com/office/drawing/2014/main" id="{A59909FB-5C86-2483-7C41-8E8489D479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440" y="11307"/>
                    <a:ext cx="490" cy="375"/>
                    <a:chOff x="7260" y="7860"/>
                    <a:chExt cx="490" cy="375"/>
                  </a:xfrm>
                  <a:grpFill/>
                </p:grpSpPr>
                <p:sp>
                  <p:nvSpPr>
                    <p:cNvPr id="52" name="Line 83">
                      <a:extLst>
                        <a:ext uri="{FF2B5EF4-FFF2-40B4-BE49-F238E27FC236}">
                          <a16:creationId xmlns:a16="http://schemas.microsoft.com/office/drawing/2014/main" id="{FBF78C77-173C-555F-3011-E710F911D9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260" y="8028"/>
                      <a:ext cx="4" cy="207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3" name="Line 84">
                      <a:extLst>
                        <a:ext uri="{FF2B5EF4-FFF2-40B4-BE49-F238E27FC236}">
                          <a16:creationId xmlns:a16="http://schemas.microsoft.com/office/drawing/2014/main" id="{43C7485B-8299-3C40-AAD4-AB11CF39954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750" y="7860"/>
                      <a:ext cx="0" cy="36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5" name="Group 85">
                    <a:extLst>
                      <a:ext uri="{FF2B5EF4-FFF2-40B4-BE49-F238E27FC236}">
                        <a16:creationId xmlns:a16="http://schemas.microsoft.com/office/drawing/2014/main" id="{EFD13616-0233-9309-98DC-4FF5269EC9C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3180" y="11310"/>
                    <a:ext cx="490" cy="375"/>
                    <a:chOff x="7260" y="7860"/>
                    <a:chExt cx="490" cy="375"/>
                  </a:xfrm>
                  <a:grpFill/>
                </p:grpSpPr>
                <p:sp>
                  <p:nvSpPr>
                    <p:cNvPr id="50" name="Line 86">
                      <a:extLst>
                        <a:ext uri="{FF2B5EF4-FFF2-40B4-BE49-F238E27FC236}">
                          <a16:creationId xmlns:a16="http://schemas.microsoft.com/office/drawing/2014/main" id="{34F0B978-1728-1F05-F8D6-EF0012C2E4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260" y="8028"/>
                      <a:ext cx="4" cy="207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51" name="Line 87">
                      <a:extLst>
                        <a:ext uri="{FF2B5EF4-FFF2-40B4-BE49-F238E27FC236}">
                          <a16:creationId xmlns:a16="http://schemas.microsoft.com/office/drawing/2014/main" id="{3CC54800-17A7-3C9D-DFA5-317EE69A375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750" y="7860"/>
                      <a:ext cx="0" cy="360"/>
                    </a:xfrm>
                    <a:prstGeom prst="line">
                      <a:avLst/>
                    </a:prstGeom>
                    <a:grp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46" name="Group 88">
                    <a:extLst>
                      <a:ext uri="{FF2B5EF4-FFF2-40B4-BE49-F238E27FC236}">
                        <a16:creationId xmlns:a16="http://schemas.microsoft.com/office/drawing/2014/main" id="{888880BC-7732-E99F-BB30-0BB9580732C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326" y="11283"/>
                    <a:ext cx="1477" cy="374"/>
                    <a:chOff x="5326" y="11283"/>
                    <a:chExt cx="1477" cy="374"/>
                  </a:xfrm>
                  <a:grpFill/>
                </p:grpSpPr>
                <p:sp>
                  <p:nvSpPr>
                    <p:cNvPr id="47" name="Line 89">
                      <a:extLst>
                        <a:ext uri="{FF2B5EF4-FFF2-40B4-BE49-F238E27FC236}">
                          <a16:creationId xmlns:a16="http://schemas.microsoft.com/office/drawing/2014/main" id="{AC0A13D4-D98D-95F5-3C29-54103F64BAC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44" y="11283"/>
                      <a:ext cx="1048" cy="3"/>
                    </a:xfrm>
                    <a:prstGeom prst="line">
                      <a:avLst/>
                    </a:prstGeom>
                    <a:grpFill/>
                    <a:ln w="12700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8" name="Freeform 90">
                      <a:extLst>
                        <a:ext uri="{FF2B5EF4-FFF2-40B4-BE49-F238E27FC236}">
                          <a16:creationId xmlns:a16="http://schemas.microsoft.com/office/drawing/2014/main" id="{70291083-2BC3-CABD-6937-70400890AF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588" y="11286"/>
                      <a:ext cx="215" cy="371"/>
                    </a:xfrm>
                    <a:custGeom>
                      <a:avLst/>
                      <a:gdLst>
                        <a:gd name="T0" fmla="*/ 0 w 954"/>
                        <a:gd name="T1" fmla="*/ 0 h 807"/>
                        <a:gd name="T2" fmla="*/ 117 w 954"/>
                        <a:gd name="T3" fmla="*/ 9 h 807"/>
                        <a:gd name="T4" fmla="*/ 219 w 954"/>
                        <a:gd name="T5" fmla="*/ 45 h 807"/>
                        <a:gd name="T6" fmla="*/ 297 w 954"/>
                        <a:gd name="T7" fmla="*/ 93 h 807"/>
                        <a:gd name="T8" fmla="*/ 393 w 954"/>
                        <a:gd name="T9" fmla="*/ 183 h 807"/>
                        <a:gd name="T10" fmla="*/ 354 w 954"/>
                        <a:gd name="T11" fmla="*/ 144 h 807"/>
                        <a:gd name="T12" fmla="*/ 438 w 954"/>
                        <a:gd name="T13" fmla="*/ 234 h 807"/>
                        <a:gd name="T14" fmla="*/ 495 w 954"/>
                        <a:gd name="T15" fmla="*/ 309 h 807"/>
                        <a:gd name="T16" fmla="*/ 543 w 954"/>
                        <a:gd name="T17" fmla="*/ 375 h 807"/>
                        <a:gd name="T18" fmla="*/ 609 w 954"/>
                        <a:gd name="T19" fmla="*/ 468 h 807"/>
                        <a:gd name="T20" fmla="*/ 663 w 954"/>
                        <a:gd name="T21" fmla="*/ 543 h 807"/>
                        <a:gd name="T22" fmla="*/ 717 w 954"/>
                        <a:gd name="T23" fmla="*/ 618 h 807"/>
                        <a:gd name="T24" fmla="*/ 771 w 954"/>
                        <a:gd name="T25" fmla="*/ 681 h 807"/>
                        <a:gd name="T26" fmla="*/ 819 w 954"/>
                        <a:gd name="T27" fmla="*/ 732 h 807"/>
                        <a:gd name="T28" fmla="*/ 879 w 954"/>
                        <a:gd name="T29" fmla="*/ 774 h 807"/>
                        <a:gd name="T30" fmla="*/ 954 w 954"/>
                        <a:gd name="T31" fmla="*/ 807 h 8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954" h="807">
                          <a:moveTo>
                            <a:pt x="0" y="0"/>
                          </a:moveTo>
                          <a:cubicBezTo>
                            <a:pt x="19" y="1"/>
                            <a:pt x="81" y="2"/>
                            <a:pt x="117" y="9"/>
                          </a:cubicBezTo>
                          <a:cubicBezTo>
                            <a:pt x="153" y="16"/>
                            <a:pt x="189" y="31"/>
                            <a:pt x="219" y="45"/>
                          </a:cubicBezTo>
                          <a:cubicBezTo>
                            <a:pt x="249" y="59"/>
                            <a:pt x="268" y="70"/>
                            <a:pt x="297" y="93"/>
                          </a:cubicBezTo>
                          <a:cubicBezTo>
                            <a:pt x="326" y="116"/>
                            <a:pt x="384" y="175"/>
                            <a:pt x="393" y="183"/>
                          </a:cubicBezTo>
                          <a:cubicBezTo>
                            <a:pt x="402" y="191"/>
                            <a:pt x="347" y="136"/>
                            <a:pt x="354" y="144"/>
                          </a:cubicBezTo>
                          <a:cubicBezTo>
                            <a:pt x="361" y="152"/>
                            <a:pt x="414" y="207"/>
                            <a:pt x="438" y="234"/>
                          </a:cubicBezTo>
                          <a:cubicBezTo>
                            <a:pt x="462" y="261"/>
                            <a:pt x="478" y="286"/>
                            <a:pt x="495" y="309"/>
                          </a:cubicBezTo>
                          <a:cubicBezTo>
                            <a:pt x="512" y="332"/>
                            <a:pt x="524" y="349"/>
                            <a:pt x="543" y="375"/>
                          </a:cubicBezTo>
                          <a:cubicBezTo>
                            <a:pt x="562" y="401"/>
                            <a:pt x="589" y="440"/>
                            <a:pt x="609" y="468"/>
                          </a:cubicBezTo>
                          <a:cubicBezTo>
                            <a:pt x="629" y="496"/>
                            <a:pt x="645" y="518"/>
                            <a:pt x="663" y="543"/>
                          </a:cubicBezTo>
                          <a:cubicBezTo>
                            <a:pt x="681" y="568"/>
                            <a:pt x="699" y="595"/>
                            <a:pt x="717" y="618"/>
                          </a:cubicBezTo>
                          <a:cubicBezTo>
                            <a:pt x="735" y="641"/>
                            <a:pt x="754" y="662"/>
                            <a:pt x="771" y="681"/>
                          </a:cubicBezTo>
                          <a:cubicBezTo>
                            <a:pt x="788" y="700"/>
                            <a:pt x="801" y="717"/>
                            <a:pt x="819" y="732"/>
                          </a:cubicBezTo>
                          <a:cubicBezTo>
                            <a:pt x="837" y="747"/>
                            <a:pt x="856" y="761"/>
                            <a:pt x="879" y="774"/>
                          </a:cubicBezTo>
                          <a:cubicBezTo>
                            <a:pt x="902" y="787"/>
                            <a:pt x="939" y="800"/>
                            <a:pt x="954" y="807"/>
                          </a:cubicBezTo>
                        </a:path>
                      </a:pathLst>
                    </a:custGeom>
                    <a:grpFill/>
                    <a:ln w="12700" cap="rnd" cmpd="sng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49" name="Freeform 91">
                      <a:extLst>
                        <a:ext uri="{FF2B5EF4-FFF2-40B4-BE49-F238E27FC236}">
                          <a16:creationId xmlns:a16="http://schemas.microsoft.com/office/drawing/2014/main" id="{6200430F-6542-0C65-ED0A-C1C7630D18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5326" y="11286"/>
                      <a:ext cx="215" cy="371"/>
                    </a:xfrm>
                    <a:custGeom>
                      <a:avLst/>
                      <a:gdLst>
                        <a:gd name="T0" fmla="*/ 0 w 954"/>
                        <a:gd name="T1" fmla="*/ 0 h 807"/>
                        <a:gd name="T2" fmla="*/ 117 w 954"/>
                        <a:gd name="T3" fmla="*/ 9 h 807"/>
                        <a:gd name="T4" fmla="*/ 219 w 954"/>
                        <a:gd name="T5" fmla="*/ 45 h 807"/>
                        <a:gd name="T6" fmla="*/ 297 w 954"/>
                        <a:gd name="T7" fmla="*/ 93 h 807"/>
                        <a:gd name="T8" fmla="*/ 393 w 954"/>
                        <a:gd name="T9" fmla="*/ 183 h 807"/>
                        <a:gd name="T10" fmla="*/ 354 w 954"/>
                        <a:gd name="T11" fmla="*/ 144 h 807"/>
                        <a:gd name="T12" fmla="*/ 438 w 954"/>
                        <a:gd name="T13" fmla="*/ 234 h 807"/>
                        <a:gd name="T14" fmla="*/ 495 w 954"/>
                        <a:gd name="T15" fmla="*/ 309 h 807"/>
                        <a:gd name="T16" fmla="*/ 543 w 954"/>
                        <a:gd name="T17" fmla="*/ 375 h 807"/>
                        <a:gd name="T18" fmla="*/ 609 w 954"/>
                        <a:gd name="T19" fmla="*/ 468 h 807"/>
                        <a:gd name="T20" fmla="*/ 663 w 954"/>
                        <a:gd name="T21" fmla="*/ 543 h 807"/>
                        <a:gd name="T22" fmla="*/ 717 w 954"/>
                        <a:gd name="T23" fmla="*/ 618 h 807"/>
                        <a:gd name="T24" fmla="*/ 771 w 954"/>
                        <a:gd name="T25" fmla="*/ 681 h 807"/>
                        <a:gd name="T26" fmla="*/ 819 w 954"/>
                        <a:gd name="T27" fmla="*/ 732 h 807"/>
                        <a:gd name="T28" fmla="*/ 879 w 954"/>
                        <a:gd name="T29" fmla="*/ 774 h 807"/>
                        <a:gd name="T30" fmla="*/ 954 w 954"/>
                        <a:gd name="T31" fmla="*/ 807 h 8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954" h="807">
                          <a:moveTo>
                            <a:pt x="0" y="0"/>
                          </a:moveTo>
                          <a:cubicBezTo>
                            <a:pt x="19" y="1"/>
                            <a:pt x="81" y="2"/>
                            <a:pt x="117" y="9"/>
                          </a:cubicBezTo>
                          <a:cubicBezTo>
                            <a:pt x="153" y="16"/>
                            <a:pt x="189" y="31"/>
                            <a:pt x="219" y="45"/>
                          </a:cubicBezTo>
                          <a:cubicBezTo>
                            <a:pt x="249" y="59"/>
                            <a:pt x="268" y="70"/>
                            <a:pt x="297" y="93"/>
                          </a:cubicBezTo>
                          <a:cubicBezTo>
                            <a:pt x="326" y="116"/>
                            <a:pt x="384" y="175"/>
                            <a:pt x="393" y="183"/>
                          </a:cubicBezTo>
                          <a:cubicBezTo>
                            <a:pt x="402" y="191"/>
                            <a:pt x="347" y="136"/>
                            <a:pt x="354" y="144"/>
                          </a:cubicBezTo>
                          <a:cubicBezTo>
                            <a:pt x="361" y="152"/>
                            <a:pt x="414" y="207"/>
                            <a:pt x="438" y="234"/>
                          </a:cubicBezTo>
                          <a:cubicBezTo>
                            <a:pt x="462" y="261"/>
                            <a:pt x="478" y="286"/>
                            <a:pt x="495" y="309"/>
                          </a:cubicBezTo>
                          <a:cubicBezTo>
                            <a:pt x="512" y="332"/>
                            <a:pt x="524" y="349"/>
                            <a:pt x="543" y="375"/>
                          </a:cubicBezTo>
                          <a:cubicBezTo>
                            <a:pt x="562" y="401"/>
                            <a:pt x="589" y="440"/>
                            <a:pt x="609" y="468"/>
                          </a:cubicBezTo>
                          <a:cubicBezTo>
                            <a:pt x="629" y="496"/>
                            <a:pt x="645" y="518"/>
                            <a:pt x="663" y="543"/>
                          </a:cubicBezTo>
                          <a:cubicBezTo>
                            <a:pt x="681" y="568"/>
                            <a:pt x="699" y="595"/>
                            <a:pt x="717" y="618"/>
                          </a:cubicBezTo>
                          <a:cubicBezTo>
                            <a:pt x="735" y="641"/>
                            <a:pt x="754" y="662"/>
                            <a:pt x="771" y="681"/>
                          </a:cubicBezTo>
                          <a:cubicBezTo>
                            <a:pt x="788" y="700"/>
                            <a:pt x="801" y="717"/>
                            <a:pt x="819" y="732"/>
                          </a:cubicBezTo>
                          <a:cubicBezTo>
                            <a:pt x="837" y="747"/>
                            <a:pt x="856" y="761"/>
                            <a:pt x="879" y="774"/>
                          </a:cubicBezTo>
                          <a:cubicBezTo>
                            <a:pt x="902" y="787"/>
                            <a:pt x="939" y="800"/>
                            <a:pt x="954" y="807"/>
                          </a:cubicBezTo>
                        </a:path>
                      </a:pathLst>
                    </a:custGeom>
                    <a:grpFill/>
                    <a:ln w="12700" cap="rnd" cmpd="sng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19" name="Text Box 92">
                  <a:extLst>
                    <a:ext uri="{FF2B5EF4-FFF2-40B4-BE49-F238E27FC236}">
                      <a16:creationId xmlns:a16="http://schemas.microsoft.com/office/drawing/2014/main" id="{E8701E42-5793-B941-373D-A752817EA4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9" y="1197"/>
                  <a:ext cx="211" cy="27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20" name="Text Box 93">
                  <a:extLst>
                    <a:ext uri="{FF2B5EF4-FFF2-40B4-BE49-F238E27FC236}">
                      <a16:creationId xmlns:a16="http://schemas.microsoft.com/office/drawing/2014/main" id="{764B9411-F58B-5AE7-12C8-065F9069AB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6" y="1993"/>
                  <a:ext cx="210" cy="27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21" name="Text Box 94">
                  <a:extLst>
                    <a:ext uri="{FF2B5EF4-FFF2-40B4-BE49-F238E27FC236}">
                      <a16:creationId xmlns:a16="http://schemas.microsoft.com/office/drawing/2014/main" id="{0AF522E5-9404-2B69-408D-EB113D6F9B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7" y="2838"/>
                  <a:ext cx="210" cy="27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22" name="Text Box 95">
                  <a:extLst>
                    <a:ext uri="{FF2B5EF4-FFF2-40B4-BE49-F238E27FC236}">
                      <a16:creationId xmlns:a16="http://schemas.microsoft.com/office/drawing/2014/main" id="{27798A54-6AB0-AD88-AEED-E3DA29322F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6" y="3651"/>
                  <a:ext cx="210" cy="27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>
                      <a:latin typeface="Times New Roman" pitchFamily="18" charset="0"/>
                    </a:rPr>
                    <a:t>0</a:t>
                  </a:r>
                  <a:endParaRPr lang="en-US" altLang="zh-CN" sz="3200" b="1"/>
                </a:p>
              </p:txBody>
            </p:sp>
            <p:sp>
              <p:nvSpPr>
                <p:cNvPr id="23" name="Text Box 96">
                  <a:extLst>
                    <a:ext uri="{FF2B5EF4-FFF2-40B4-BE49-F238E27FC236}">
                      <a16:creationId xmlns:a16="http://schemas.microsoft.com/office/drawing/2014/main" id="{692AD8E3-4B06-A164-64ED-435A2B0937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54" y="3553"/>
                  <a:ext cx="210" cy="27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endParaRPr lang="en-US" altLang="zh-CN" sz="3200" b="1"/>
                </a:p>
              </p:txBody>
            </p:sp>
            <p:sp>
              <p:nvSpPr>
                <p:cNvPr id="24" name="Text Box 97">
                  <a:extLst>
                    <a:ext uri="{FF2B5EF4-FFF2-40B4-BE49-F238E27FC236}">
                      <a16:creationId xmlns:a16="http://schemas.microsoft.com/office/drawing/2014/main" id="{B35F60F8-433D-3073-DB6F-682C5DDC99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46" y="2728"/>
                  <a:ext cx="210" cy="27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endParaRPr lang="en-US" altLang="zh-CN" sz="3200" b="1"/>
                </a:p>
              </p:txBody>
            </p:sp>
            <p:sp>
              <p:nvSpPr>
                <p:cNvPr id="25" name="Text Box 98">
                  <a:extLst>
                    <a:ext uri="{FF2B5EF4-FFF2-40B4-BE49-F238E27FC236}">
                      <a16:creationId xmlns:a16="http://schemas.microsoft.com/office/drawing/2014/main" id="{99220BB0-8031-4987-2098-44C93F9BAA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54" y="1881"/>
                  <a:ext cx="210" cy="27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endParaRPr lang="en-US" altLang="zh-CN" sz="3200" b="1"/>
                </a:p>
              </p:txBody>
            </p:sp>
            <p:sp>
              <p:nvSpPr>
                <p:cNvPr id="26" name="Text Box 99">
                  <a:extLst>
                    <a:ext uri="{FF2B5EF4-FFF2-40B4-BE49-F238E27FC236}">
                      <a16:creationId xmlns:a16="http://schemas.microsoft.com/office/drawing/2014/main" id="{6D8D2E03-4595-545E-8DA9-3540517BD5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9" y="1199"/>
                  <a:ext cx="242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27" name="Text Box 100">
                  <a:extLst>
                    <a:ext uri="{FF2B5EF4-FFF2-40B4-BE49-F238E27FC236}">
                      <a16:creationId xmlns:a16="http://schemas.microsoft.com/office/drawing/2014/main" id="{5E72B242-8C8E-1D73-76CD-1BF4CE8DB9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59" y="1194"/>
                  <a:ext cx="289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-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28" name="Text Box 101">
                  <a:extLst>
                    <a:ext uri="{FF2B5EF4-FFF2-40B4-BE49-F238E27FC236}">
                      <a16:creationId xmlns:a16="http://schemas.microsoft.com/office/drawing/2014/main" id="{A21E0A7F-A803-162E-B4BE-4E6EE2E920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69" y="1199"/>
                  <a:ext cx="484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>
                      <a:latin typeface="Times New Roman" pitchFamily="18" charset="0"/>
                    </a:rPr>
                    <a:t>0</a:t>
                  </a:r>
                  <a:r>
                    <a:rPr lang="en-US" altLang="zh-CN" sz="1600" b="1">
                      <a:latin typeface="Times New Roman" pitchFamily="18" charset="0"/>
                    </a:rPr>
                    <a:t>+</a:t>
                  </a:r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>
                      <a:latin typeface="Times New Roman" pitchFamily="18" charset="0"/>
                    </a:rPr>
                    <a:t>m</a:t>
                  </a:r>
                  <a:endParaRPr lang="en-US" altLang="zh-CN" sz="3200" b="1"/>
                </a:p>
              </p:txBody>
            </p:sp>
            <p:sp>
              <p:nvSpPr>
                <p:cNvPr id="29" name="Text Box 103">
                  <a:extLst>
                    <a:ext uri="{FF2B5EF4-FFF2-40B4-BE49-F238E27FC236}">
                      <a16:creationId xmlns:a16="http://schemas.microsoft.com/office/drawing/2014/main" id="{C69D390F-71BE-030A-9711-674A0EC662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0" y="2000"/>
                  <a:ext cx="312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-2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30" name="Text Box 104">
                  <a:extLst>
                    <a:ext uri="{FF2B5EF4-FFF2-40B4-BE49-F238E27FC236}">
                      <a16:creationId xmlns:a16="http://schemas.microsoft.com/office/drawing/2014/main" id="{E29045AA-8733-DCC5-99D0-E291E922DE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83" y="2829"/>
                  <a:ext cx="313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2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31" name="Text Box 105">
                  <a:extLst>
                    <a:ext uri="{FF2B5EF4-FFF2-40B4-BE49-F238E27FC236}">
                      <a16:creationId xmlns:a16="http://schemas.microsoft.com/office/drawing/2014/main" id="{44996347-B07A-F0B5-CEDC-567F2D24C0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6" y="3687"/>
                  <a:ext cx="313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-2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32" name="Text Box 106">
                  <a:extLst>
                    <a:ext uri="{FF2B5EF4-FFF2-40B4-BE49-F238E27FC236}">
                      <a16:creationId xmlns:a16="http://schemas.microsoft.com/office/drawing/2014/main" id="{37D13CDB-A9AA-0661-07E1-271DE4F418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5" y="3678"/>
                  <a:ext cx="313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2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endParaRPr lang="en-US" altLang="zh-CN" sz="3200" b="1" dirty="0"/>
                </a:p>
              </p:txBody>
            </p:sp>
            <p:sp>
              <p:nvSpPr>
                <p:cNvPr id="33" name="Text Box 107">
                  <a:extLst>
                    <a:ext uri="{FF2B5EF4-FFF2-40B4-BE49-F238E27FC236}">
                      <a16:creationId xmlns:a16="http://schemas.microsoft.com/office/drawing/2014/main" id="{B3F87CB4-29FF-44BD-38EF-1888DFDD3D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94" y="3685"/>
                  <a:ext cx="242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 dirty="0" err="1">
                      <a:latin typeface="Times New Roman" pitchFamily="18" charset="0"/>
                    </a:rPr>
                    <a:t>f</a:t>
                  </a:r>
                  <a:r>
                    <a:rPr lang="en-US" altLang="zh-CN" sz="1600" b="1" i="1" baseline="-25000" dirty="0" err="1">
                      <a:latin typeface="Times New Roman" pitchFamily="18" charset="0"/>
                    </a:rPr>
                    <a:t>m</a:t>
                  </a:r>
                  <a:endParaRPr lang="en-US" altLang="zh-CN" sz="3200" b="1" dirty="0"/>
                </a:p>
              </p:txBody>
            </p:sp>
            <p:sp>
              <p:nvSpPr>
                <p:cNvPr id="34" name="Text Box 108">
                  <a:extLst>
                    <a:ext uri="{FF2B5EF4-FFF2-40B4-BE49-F238E27FC236}">
                      <a16:creationId xmlns:a16="http://schemas.microsoft.com/office/drawing/2014/main" id="{81D64414-BD2C-6876-3031-351ECBC10E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1" y="3685"/>
                  <a:ext cx="307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dirty="0">
                      <a:latin typeface="Times New Roman" pitchFamily="18" charset="0"/>
                    </a:rPr>
                    <a:t>-</a:t>
                  </a:r>
                  <a:r>
                    <a:rPr lang="en-US" altLang="zh-CN" sz="1600" b="1" i="1" dirty="0" err="1">
                      <a:latin typeface="Times New Roman" pitchFamily="18" charset="0"/>
                    </a:rPr>
                    <a:t>f</a:t>
                  </a:r>
                  <a:r>
                    <a:rPr lang="en-US" altLang="zh-CN" sz="1600" b="1" i="1" baseline="-25000" dirty="0" err="1">
                      <a:latin typeface="Times New Roman" pitchFamily="18" charset="0"/>
                    </a:rPr>
                    <a:t>m</a:t>
                  </a:r>
                  <a:endParaRPr lang="en-US" altLang="zh-CN" sz="3200" b="1" dirty="0"/>
                </a:p>
              </p:txBody>
            </p:sp>
            <p:sp>
              <p:nvSpPr>
                <p:cNvPr id="35" name="Text Box 109">
                  <a:extLst>
                    <a:ext uri="{FF2B5EF4-FFF2-40B4-BE49-F238E27FC236}">
                      <a16:creationId xmlns:a16="http://schemas.microsoft.com/office/drawing/2014/main" id="{4C694426-3A37-D4BE-CCF2-6CE1C6CF0D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9" y="1984"/>
                  <a:ext cx="241" cy="29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 dirty="0" err="1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 err="1">
                      <a:latin typeface="Times New Roman" pitchFamily="18" charset="0"/>
                    </a:rPr>
                    <a:t>m</a:t>
                  </a:r>
                  <a:endParaRPr lang="en-US" altLang="zh-CN" sz="3200" b="1" dirty="0"/>
                </a:p>
              </p:txBody>
            </p:sp>
            <p:sp>
              <p:nvSpPr>
                <p:cNvPr id="36" name="Text Box 110">
                  <a:extLst>
                    <a:ext uri="{FF2B5EF4-FFF2-40B4-BE49-F238E27FC236}">
                      <a16:creationId xmlns:a16="http://schemas.microsoft.com/office/drawing/2014/main" id="{056A9C50-6152-7251-E599-AE6F175C03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54" y="1089"/>
                  <a:ext cx="210" cy="27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endParaRPr lang="en-US" altLang="zh-CN" sz="3200" b="1"/>
                </a:p>
              </p:txBody>
            </p:sp>
            <p:sp>
              <p:nvSpPr>
                <p:cNvPr id="37" name="Text Box 111">
                  <a:extLst>
                    <a:ext uri="{FF2B5EF4-FFF2-40B4-BE49-F238E27FC236}">
                      <a16:creationId xmlns:a16="http://schemas.microsoft.com/office/drawing/2014/main" id="{A65364FD-5CA6-A896-E77F-B987AE5DB2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58" y="459"/>
                  <a:ext cx="381" cy="30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>
                      <a:latin typeface="Times New Roman" pitchFamily="18" charset="0"/>
                    </a:rPr>
                    <a:t>H</a:t>
                  </a:r>
                  <a:r>
                    <a:rPr lang="en-US" altLang="zh-CN" sz="1600" b="1">
                      <a:latin typeface="Times New Roman" pitchFamily="18" charset="0"/>
                    </a:rPr>
                    <a:t>(</a:t>
                  </a:r>
                  <a:r>
                    <a:rPr lang="en-US" altLang="zh-CN" sz="1600" b="1" i="1">
                      <a:latin typeface="Times New Roman" pitchFamily="18" charset="0"/>
                    </a:rPr>
                    <a:t>f</a:t>
                  </a:r>
                  <a:r>
                    <a:rPr lang="en-US" altLang="zh-CN" sz="1600" b="1">
                      <a:latin typeface="Times New Roman" pitchFamily="18" charset="0"/>
                    </a:rPr>
                    <a:t>)</a:t>
                  </a:r>
                  <a:endParaRPr lang="en-US" altLang="zh-CN" sz="3200" b="1"/>
                </a:p>
              </p:txBody>
            </p:sp>
            <p:sp>
              <p:nvSpPr>
                <p:cNvPr id="38" name="Text Box 113">
                  <a:extLst>
                    <a:ext uri="{FF2B5EF4-FFF2-40B4-BE49-F238E27FC236}">
                      <a16:creationId xmlns:a16="http://schemas.microsoft.com/office/drawing/2014/main" id="{8DE905ED-1A9C-62A2-8C70-D0B68E7831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83" y="2207"/>
                  <a:ext cx="687" cy="30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sz="1600" b="1" i="1" dirty="0">
                      <a:latin typeface="Times New Roman" pitchFamily="18" charset="0"/>
                    </a:rPr>
                    <a:t>H</a:t>
                  </a:r>
                  <a:r>
                    <a:rPr lang="en-US" altLang="zh-CN" sz="1600" b="1" dirty="0">
                      <a:latin typeface="Times New Roman" pitchFamily="18" charset="0"/>
                    </a:rPr>
                    <a:t>(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dirty="0">
                      <a:latin typeface="Times New Roman" pitchFamily="18" charset="0"/>
                    </a:rPr>
                    <a:t> - </a:t>
                  </a:r>
                  <a:r>
                    <a:rPr lang="en-US" altLang="zh-CN" sz="1600" b="1" i="1" dirty="0">
                      <a:latin typeface="Times New Roman" pitchFamily="18" charset="0"/>
                    </a:rPr>
                    <a:t>f</a:t>
                  </a:r>
                  <a:r>
                    <a:rPr lang="en-US" altLang="zh-CN" sz="1600" b="1" baseline="-25000" dirty="0">
                      <a:latin typeface="Times New Roman" pitchFamily="18" charset="0"/>
                    </a:rPr>
                    <a:t>0</a:t>
                  </a:r>
                  <a:r>
                    <a:rPr lang="en-US" altLang="zh-CN" sz="1600" b="1" dirty="0">
                      <a:latin typeface="Times New Roman" pitchFamily="18" charset="0"/>
                    </a:rPr>
                    <a:t>)</a:t>
                  </a:r>
                  <a:endParaRPr lang="en-US" altLang="zh-CN" sz="3200" b="1" dirty="0"/>
                </a:p>
              </p:txBody>
            </p:sp>
          </p:grpSp>
          <p:sp>
            <p:nvSpPr>
              <p:cNvPr id="16" name="Text Box 114">
                <a:extLst>
                  <a:ext uri="{FF2B5EF4-FFF2-40B4-BE49-F238E27FC236}">
                    <a16:creationId xmlns:a16="http://schemas.microsoft.com/office/drawing/2014/main" id="{12F68B32-7222-E553-137B-0D61EF4D2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7" y="3032"/>
                <a:ext cx="1229" cy="30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1600" b="1" i="1" dirty="0">
                    <a:latin typeface="Times New Roman" pitchFamily="18" charset="0"/>
                  </a:rPr>
                  <a:t>H(f + f</a:t>
                </a:r>
                <a:r>
                  <a:rPr lang="en-US" altLang="zh-CN" sz="1600" b="1" i="1" baseline="-25000" dirty="0">
                    <a:latin typeface="Times New Roman" pitchFamily="18" charset="0"/>
                  </a:rPr>
                  <a:t>0</a:t>
                </a:r>
                <a:r>
                  <a:rPr lang="en-US" altLang="zh-CN" sz="1600" b="1" i="1" dirty="0">
                    <a:latin typeface="Times New Roman" pitchFamily="18" charset="0"/>
                  </a:rPr>
                  <a:t>) + H(f – f</a:t>
                </a:r>
                <a:r>
                  <a:rPr lang="en-US" altLang="zh-CN" sz="1600" b="1" i="1" baseline="-25000" dirty="0">
                    <a:latin typeface="Times New Roman" pitchFamily="18" charset="0"/>
                  </a:rPr>
                  <a:t>0</a:t>
                </a:r>
                <a:r>
                  <a:rPr lang="en-US" altLang="zh-CN" sz="1600" b="1" dirty="0">
                    <a:latin typeface="Times New Roman" pitchFamily="18" charset="0"/>
                  </a:rPr>
                  <a:t>)</a:t>
                </a:r>
                <a:endParaRPr lang="en-US" altLang="zh-CN" sz="3200" b="1" dirty="0"/>
              </a:p>
            </p:txBody>
          </p:sp>
          <p:sp>
            <p:nvSpPr>
              <p:cNvPr id="17" name="Line 119">
                <a:extLst>
                  <a:ext uri="{FF2B5EF4-FFF2-40B4-BE49-F238E27FC236}">
                    <a16:creationId xmlns:a16="http://schemas.microsoft.com/office/drawing/2014/main" id="{14995953-F7F5-8D04-8BD3-8DCF4445E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8" y="3286"/>
                <a:ext cx="151" cy="14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2192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C9AD-E219-C146-D543-B55A923B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9AF705D-B6F1-47E8-DC19-A6BD849352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D020FB1-380D-F21B-1B0B-70AF3BED75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79E2E1-8753-234B-AB1C-E407F71DC94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E332E6-92F3-4694-A99E-E0FE028C9375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(VSB)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EC90EC-C502-73A0-8C9A-975900CD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596FDCA-92E8-D6D1-2419-8A0A39B79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cut-off characteristic of the filter is complementary symmetry with respect to the carrier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addition to the whole frequency spectrum of SSB signal, a part of the carrier frequency component and a small part of another sideband frequency spectrum are reserved in the frequency spectrum of VSB modulated signal.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filter in the modulator can be easily manufactured.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main disadvantage is that the occupied frequency band is a little wider than that of the SSB signal.</a:t>
                </a: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596FDCA-92E8-D6D1-2419-8A0A39B79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547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A297-E0E6-FF7E-FD9B-13D6123A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F2902512-0DEF-5B3C-C5D9-6A008F0F3E6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231323E-3F87-DDA3-68F5-9531E17C16B2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0AB4E4-2A3F-57AE-B63B-7D170B568236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6A321B-9B5C-64CF-BF11-546396E6AE32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CEE3E70-43B7-2014-6510-CF153F604C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CCAFE79-0B8E-05A7-C50B-E4301130F03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BE85DCAD-E268-6457-C490-6FA2E0524263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272531B-65C5-160C-9392-1083FCC56590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BC58FCA-AC26-6DC1-9CC1-85811C57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AB56E9-A8B6-C455-E50A-43174B0F35F6}"/>
              </a:ext>
            </a:extLst>
          </p:cNvPr>
          <p:cNvSpPr txBox="1"/>
          <p:nvPr/>
        </p:nvSpPr>
        <p:spPr>
          <a:xfrm>
            <a:off x="5270500" y="1720850"/>
            <a:ext cx="5334000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Amplitude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(AM)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Double-sideband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(DSB)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Single-sideband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(SSB)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Vestigial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Sideband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(VSB)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Angle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Modulation</a:t>
            </a:r>
          </a:p>
        </p:txBody>
      </p:sp>
    </p:spTree>
    <p:extLst>
      <p:ext uri="{BB962C8B-B14F-4D97-AF65-F5344CB8AC3E}">
        <p14:creationId xmlns:p14="http://schemas.microsoft.com/office/powerpoint/2010/main" val="1769673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ACDC-BD8B-EDA5-3AFA-1CAD2099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E740025-91A7-9079-179E-A863D8367D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975AA90C-F389-78FE-F8BE-1AE60D08FF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9E7F14-4BEB-F5AD-B9F2-8DD9EC1EF80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83B7A8-3E02-B4A8-F073-601A0928A0BD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Nonlinear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A2D9FFC-B88F-8A98-3486-94B66EA3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C2B9C18-3532-F53F-D591-43EA6AE50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Nonlinear modulation is also called </a:t>
                </a:r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angle modulation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enables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frequency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phase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carrier to vary with the modulating signal.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a carrier signal be expressed as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𝜑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where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𝜑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𝜑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instantaneous phase.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being modulated, the signal’s </a:t>
                </a:r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instantaneous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becomes a function of time, i.e. 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𝜑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Equivalently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𝜑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Angle modulation: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𝜑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varies with the modulating signal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C2B9C18-3532-F53F-D591-43EA6AE50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745" t="-414" r="-745" b="-18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162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29B7E-1BDB-020E-A07B-EC86D5E8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A18CFAD-B05F-1DF1-3275-1AE332F56A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061E563D-73DD-836B-62F0-231B544A45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458558-89CD-3B95-81A2-D842F0DF57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7D39EC-E6AA-AA23-3AB9-7F67B6191C53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Phase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(PM)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D72ED7-1BB1-487A-6FE4-05A2F891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A3EEE36-BA0A-6ADE-B3CE-D9C838364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Phase modulation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Phase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𝜑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linearly varies with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latin typeface="Cambria Math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𝜑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𝑚</m:t>
                      </m:r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constant. 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modulated signal can be expressed as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instantaneous frequency of the modulated signal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𝑚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instantaneous frequency in phase modulation varies with the derivative of the modulating signal.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A3EEE36-BA0A-6ADE-B3CE-D9C838364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814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D5ED8-2D86-01AC-5752-975CF6EA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0066945-2C15-1553-A1A5-750A85AADC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332C143-B473-D4BC-61A5-CB6FA5FA7F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384C92-73B7-7710-037A-5A2C560D291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022713-F2D5-B5E6-87BA-C8AB52F2E6A0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Frequency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(FM)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E45C0DB-B0FA-706C-3988-CBD5FC67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41DB021-EF09-4EBD-958F-15BC210EFB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Frequency modulation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Instantaneous frequency linearly varies with the modulating signal, i.e.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𝑚</m:t>
                      </m:r>
                      <m:r>
                        <a:rPr lang="en-US" altLang="zh-CN" sz="2400" i="1">
                          <a:latin typeface="Cambria Math"/>
                        </a:rPr>
                        <m:t>(</m:t>
                      </m:r>
                      <m:r>
                        <a:rPr lang="en-US" altLang="zh-CN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constant.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phase of the modulated signal is: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𝜑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US" altLang="zh-CN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modulated signal is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/>
                        </a:rPr>
                        <m:t>𝐴</m:t>
                      </m:r>
                      <m:func>
                        <m:func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</m:sSub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𝑑𝑡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41DB021-EF09-4EBD-958F-15BC210EF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121106"/>
              </a:xfrm>
              <a:blipFill>
                <a:blip r:embed="rId7"/>
                <a:stretch>
                  <a:fillRect l="-870" b="-30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98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26BA-4CA6-3FFB-9DFD-3960705E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D3E364F-BF4B-AEBD-5C7F-EA99CC6B53F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F580FDB5-3E82-8F1D-A540-FE726D7AF5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A8927B-773C-882A-7381-67BD57AC4EA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B48F46-BA22-E229-27CA-B506A80AF119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PM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FM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2AD9C6F-E2D9-176A-5C30-59309B81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29</a:t>
            </a:fld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2D3D9CA-EF2E-4120-E99D-1DCDA9DA5C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988544"/>
              </p:ext>
            </p:extLst>
          </p:nvPr>
        </p:nvGraphicFramePr>
        <p:xfrm>
          <a:off x="1308100" y="1539414"/>
          <a:ext cx="4104456" cy="4443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407920" imgH="2918460" progId="Visio.Drawing.4">
                  <p:embed/>
                </p:oleObj>
              </mc:Choice>
              <mc:Fallback>
                <p:oleObj name="VISIO" r:id="rId7" imgW="2407920" imgH="2918460" progId="Visio.Drawing.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1539414"/>
                        <a:ext cx="4104456" cy="44435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00DF7E2-FECA-158B-D272-87F8FB237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751743"/>
              </p:ext>
            </p:extLst>
          </p:nvPr>
        </p:nvGraphicFramePr>
        <p:xfrm>
          <a:off x="5340870" y="1498472"/>
          <a:ext cx="4032126" cy="4471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2369820" imgH="2918460" progId="Visio.Drawing.4">
                  <p:embed/>
                </p:oleObj>
              </mc:Choice>
              <mc:Fallback>
                <p:oleObj name="VISIO" r:id="rId9" imgW="2369820" imgH="2918460" progId="Visio.Drawing.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870" y="1498472"/>
                        <a:ext cx="4032126" cy="4471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6">
            <a:extLst>
              <a:ext uri="{FF2B5EF4-FFF2-40B4-BE49-F238E27FC236}">
                <a16:creationId xmlns:a16="http://schemas.microsoft.com/office/drawing/2014/main" id="{5C0A220C-AACD-52A1-839C-2AD1B54E8FA3}"/>
              </a:ext>
            </a:extLst>
          </p:cNvPr>
          <p:cNvSpPr txBox="1"/>
          <p:nvPr/>
        </p:nvSpPr>
        <p:spPr>
          <a:xfrm>
            <a:off x="2172196" y="607591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Frequency modulation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7F55A2B-C615-C9DB-6B17-434AF54E9DB7}"/>
              </a:ext>
            </a:extLst>
          </p:cNvPr>
          <p:cNvSpPr txBox="1"/>
          <p:nvPr/>
        </p:nvSpPr>
        <p:spPr>
          <a:xfrm>
            <a:off x="6348660" y="607591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Phase modulation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81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01C9-CB4C-24F0-D248-919B996E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826BA8D-3AB3-3D89-97E5-861C38BDB6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C866A11-C3C4-03A3-AD2A-051D53A2BD2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E0D9EC-9966-EF6B-B616-6833600BB19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83DF3A-AD84-76E6-3DD4-0D834974B1EC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B2E0D2-8F0D-3E57-2498-4DE452E3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30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1347883-4743-723B-852A-5EBAE37D3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12110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PM,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compared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methods?</a:t>
            </a:r>
          </a:p>
        </p:txBody>
      </p:sp>
    </p:spTree>
    <p:extLst>
      <p:ext uri="{BB962C8B-B14F-4D97-AF65-F5344CB8AC3E}">
        <p14:creationId xmlns:p14="http://schemas.microsoft.com/office/powerpoint/2010/main" val="408906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89E8-C1F5-A9DC-1D31-A0C9E17F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0FD123C-8C78-0C90-1A71-2B7456B501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BBB0435-0305-9F21-6155-D8F786AAE23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54B562-591E-D3BB-1FBA-6DC1D3709DE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5F64B0-582D-A1F0-8190-692177113770}"/>
              </a:ext>
            </a:extLst>
          </p:cNvPr>
          <p:cNvSpPr txBox="1"/>
          <p:nvPr/>
        </p:nvSpPr>
        <p:spPr>
          <a:xfrm>
            <a:off x="241300" y="268605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Summary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F82F09-C1B1-2CC2-03B3-7D3A57A3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31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7746304-760E-C93F-A4CD-20B6B035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12110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Analog modulation can be classified as linear modulation and nonlinear modulation. 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Frequency spectrum structure of a linearly modulated signal is the displacement of that of the modulating signal. 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 modulation includes AM, DSB, SSB, and VSB. 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Nonlinear modulation is also called angle modulation, including frequency modulation and phase modulation.  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Frequency spectrum structure of 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non-linearly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modulated signal is different from that of the modulating signal.</a:t>
            </a:r>
          </a:p>
        </p:txBody>
      </p:sp>
    </p:spTree>
    <p:extLst>
      <p:ext uri="{BB962C8B-B14F-4D97-AF65-F5344CB8AC3E}">
        <p14:creationId xmlns:p14="http://schemas.microsoft.com/office/powerpoint/2010/main" val="4272376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路网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b="47420"/>
          <a:stretch>
            <a:fillRect/>
          </a:stretch>
        </p:blipFill>
        <p:spPr>
          <a:xfrm>
            <a:off x="0" y="0"/>
            <a:ext cx="10749280" cy="760857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76835" y="0"/>
            <a:ext cx="10863580" cy="7662545"/>
          </a:xfrm>
          <a:prstGeom prst="rect">
            <a:avLst/>
          </a:prstGeom>
          <a:solidFill>
            <a:schemeClr val="accent5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/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2823210" y="2787650"/>
            <a:ext cx="5254625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</a:t>
            </a:r>
            <a:r>
              <a:rPr kumimoji="1"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You!</a:t>
            </a:r>
            <a:r>
              <a:rPr kumimoji="1"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d9af1c2-292d-4add-a98c-a17a49d2a9f7"/>
  <p:tag name="COMMONDATA" val="eyJoZGlkIjoiMTVjMTkzNjFhOTQ4NTQ4NjBkYWI0MGJlMzcwYjc0MDMifQ=="/>
  <p:tag name="FULLTEXTBEAUTIFY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14248</TotalTime>
  <Words>2342</Words>
  <Application>Microsoft Macintosh PowerPoint</Application>
  <PresentationFormat>自定义</PresentationFormat>
  <Paragraphs>421</Paragraphs>
  <Slides>32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网络协同制造技术资源服务平台研发与 应用示范</dc:title>
  <dc:creator/>
  <cp:lastModifiedBy>Chao Wang</cp:lastModifiedBy>
  <cp:revision>895</cp:revision>
  <dcterms:created xsi:type="dcterms:W3CDTF">2022-10-25T13:05:00Z</dcterms:created>
  <dcterms:modified xsi:type="dcterms:W3CDTF">2026-04-01T11:48:28Z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0A74D09E0E724F8FA59AA918B4966ED9</vt:lpwstr>
  </property>
  <property fmtid="{D5CDD505-2E9C-101B-9397-08002B2CF9AE}" pid="3" name="KSOProductBuildVer">
    <vt:lpwstr>2052-11.1.0.13703</vt:lpwstr>
  </property>
</Properties>
</file>