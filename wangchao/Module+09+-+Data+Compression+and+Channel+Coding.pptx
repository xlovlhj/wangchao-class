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4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5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6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7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8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11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12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3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4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5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16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17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18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540" r:id="rId2"/>
    <p:sldId id="1105" r:id="rId3"/>
    <p:sldId id="1107" r:id="rId4"/>
    <p:sldId id="1108" r:id="rId5"/>
    <p:sldId id="1109" r:id="rId6"/>
    <p:sldId id="1110" r:id="rId7"/>
    <p:sldId id="1111" r:id="rId8"/>
    <p:sldId id="1113" r:id="rId9"/>
    <p:sldId id="1112" r:id="rId10"/>
    <p:sldId id="1114" r:id="rId11"/>
    <p:sldId id="1080" r:id="rId12"/>
    <p:sldId id="1079" r:id="rId13"/>
    <p:sldId id="1083" r:id="rId14"/>
    <p:sldId id="1084" r:id="rId15"/>
    <p:sldId id="1115" r:id="rId16"/>
    <p:sldId id="1116" r:id="rId17"/>
    <p:sldId id="1117" r:id="rId18"/>
    <p:sldId id="1118" r:id="rId19"/>
    <p:sldId id="751" r:id="rId20"/>
  </p:sldIdLst>
  <p:sldSz cx="10693400" cy="7556500"/>
  <p:notesSz cx="10693400" cy="75565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94" userDrawn="1">
          <p15:clr>
            <a:srgbClr val="A4A3A4"/>
          </p15:clr>
        </p15:guide>
        <p15:guide id="2" pos="240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 Aster" initials="LA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597"/>
    <a:srgbClr val="FFAA02"/>
    <a:srgbClr val="FFFFFF"/>
    <a:srgbClr val="0088D5"/>
    <a:srgbClr val="E69F22"/>
    <a:srgbClr val="ECF3F5"/>
    <a:srgbClr val="E6EFFA"/>
    <a:srgbClr val="C0D3EA"/>
    <a:srgbClr val="E0E0E0"/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EDE92E7-8D68-40CC-9BB4-FEAE9A1AA901}" styleName="{5e54ee44-2122-4b89-9784-b75a85ec0aa5}">
    <a:wholeTbl>
      <a:tcTxStyle>
        <a:fontRef idx="none">
          <a:prstClr val="black"/>
        </a:fontRef>
      </a:tcTxStyle>
      <a:tcStyle>
        <a:tcBdr>
          <a:insideH>
            <a:ln w="12700" cmpd="sng">
              <a:solidFill>
                <a:srgbClr val="E9E9E9"/>
              </a:solidFill>
            </a:ln>
          </a:insideH>
          <a:insideV>
            <a:ln w="12700" cmpd="sng">
              <a:solidFill>
                <a:srgbClr val="E9E9E9"/>
              </a:solidFill>
            </a:ln>
          </a:insideV>
        </a:tcBdr>
        <a:fill>
          <a:solidFill>
            <a:srgbClr val="FFFFFF"/>
          </a:solidFill>
        </a:fill>
      </a:tcStyle>
    </a:wholeTbl>
    <a:lastRow>
      <a:tcTxStyle>
        <a:fontRef idx="none">
          <a:prstClr val="black"/>
        </a:fontRef>
      </a:tcTxStyle>
      <a:tcStyle>
        <a:tcBdr/>
        <a:fill>
          <a:solidFill>
            <a:srgbClr val="E9E9E9"/>
          </a:solidFill>
        </a:fill>
      </a:tcStyle>
    </a:lastRow>
    <a:firstRow>
      <a:tcTxStyle>
        <a:fontRef idx="none">
          <a:prstClr val="black"/>
        </a:fontRef>
      </a:tcTxStyle>
      <a:tcStyle>
        <a:tcBdr>
          <a:insideH>
            <a:ln w="12700" cmpd="sng">
              <a:solidFill>
                <a:srgbClr val="E9E9E9"/>
              </a:solidFill>
            </a:ln>
          </a:insideH>
          <a:insideV>
            <a:ln w="12700" cmpd="sng">
              <a:solidFill>
                <a:srgbClr val="E9E9E9"/>
              </a:solidFill>
            </a:ln>
          </a:insideV>
        </a:tcBdr>
        <a:fill>
          <a:solidFill>
            <a:srgbClr val="2E6CB5"/>
          </a:solidFill>
        </a:fill>
      </a:tcStyle>
    </a:firstRow>
  </a:tblStyle>
  <a:tblStyle styleId="{AA00FE40-A4A1-4E01-A4F3-C6AA1E8047A4}" styleName="{1c11e0ce-8795-4a8a-8479-611ce8434d9d}">
    <a:wholeTbl>
      <a:tcTxStyle>
        <a:fontRef idx="none">
          <a:prstClr val="black"/>
        </a:fontRef>
      </a:tcTxStyle>
      <a:tcStyle>
        <a:tcBdr>
          <a:bottom>
            <a:ln w="38100" cmpd="sng">
              <a:solidFill>
                <a:srgbClr val="2E6CB5"/>
              </a:solidFill>
            </a:ln>
          </a:bottom>
        </a:tcBdr>
        <a:fill>
          <a:solidFill>
            <a:srgbClr val="FFFFFF"/>
          </a:solidFill>
        </a:fill>
      </a:tcStyle>
    </a:wholeTbl>
    <a:band1H>
      <a:tcTxStyle>
        <a:fontRef idx="none">
          <a:prstClr val="black"/>
        </a:fontRef>
      </a:tcTxStyle>
      <a:tcStyle>
        <a:tcBdr>
          <a:insideV>
            <a:ln w="12700" cmpd="sng">
              <a:solidFill>
                <a:srgbClr val="FFFFFF"/>
              </a:solidFill>
            </a:ln>
          </a:insideV>
        </a:tcBdr>
        <a:fill>
          <a:solidFill>
            <a:srgbClr val="FFFFFF"/>
          </a:solidFill>
        </a:fill>
      </a:tcStyle>
    </a:band1H>
    <a:band2H>
      <a:tcTxStyle>
        <a:fontRef idx="none">
          <a:prstClr val="black"/>
        </a:fontRef>
      </a:tcTxStyle>
      <a:tcStyle>
        <a:tcBdr>
          <a:insideV>
            <a:ln w="12700" cmpd="sng">
              <a:solidFill>
                <a:srgbClr val="FFFFFF"/>
              </a:solidFill>
            </a:ln>
          </a:insideV>
        </a:tcBdr>
        <a:fill>
          <a:solidFill>
            <a:srgbClr val="F8F8F8"/>
          </a:solidFill>
        </a:fill>
      </a:tcStyle>
    </a:band2H>
    <a:firstRow>
      <a:tcTxStyle>
        <a:fontRef idx="none">
          <a:prstClr val="black"/>
        </a:fontRef>
      </a:tcTxStyle>
      <a:tcStyle>
        <a:tcBdr>
          <a:insideV>
            <a:ln w="12700" cmpd="sng">
              <a:solidFill>
                <a:srgbClr val="FFFFFF"/>
              </a:solidFill>
            </a:ln>
          </a:insideV>
        </a:tcBdr>
        <a:fill>
          <a:solidFill>
            <a:srgbClr val="2E6CB5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中度样式 3 - 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中度样式 3 - 强调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CAF9ED-07DC-4A11-8D7F-57B35C25682E}" styleName="中度样式 1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386"/>
    <p:restoredTop sz="92629" autoAdjust="0"/>
  </p:normalViewPr>
  <p:slideViewPr>
    <p:cSldViewPr showGuides="1">
      <p:cViewPr varScale="1">
        <p:scale>
          <a:sx n="130" d="100"/>
          <a:sy n="130" d="100"/>
        </p:scale>
        <p:origin x="2872" y="200"/>
      </p:cViewPr>
      <p:guideLst>
        <p:guide orient="horz" pos="2694"/>
        <p:guide pos="240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8D0C77-FFE7-40F1-B13E-A1B5417D8E5F}" type="datetimeFigureOut">
              <a:rPr lang="zh-CN" altLang="en-US" smtClean="0"/>
              <a:t>2026/6/8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541713" y="944563"/>
            <a:ext cx="3609975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069975" y="3636963"/>
            <a:ext cx="8553450" cy="2974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CADC0-474D-4492-802B-B8958C4DAA8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5A7E5-FB96-FE5E-0F6E-990D340C2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DD698FF-4190-7C1A-31BB-6077E612B7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4B36712-AB39-6CB6-D832-AAB17BA2B4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Baseband center point detection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497DDB-D4A6-E972-6B7A-8DD72512A5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60617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DED4D-9031-2138-DB4F-79C9FA366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4C19774-B970-A8CB-505E-C1768C0381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25F938B-6CC0-10A6-1344-063D08C7E7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4B3EE79-B85A-BF70-4D62-9AA435C4C6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0512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7019A-C47B-EBC4-D8B5-7DA7FB5143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3C2F36-1584-9475-0D0A-712B1CF6A3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CA833E1-DA92-2911-27FF-B4CE8B0D0A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CDD1B47-C681-501F-9DFF-2432601974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12973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74C97-8D82-EDE8-C425-E5E30124D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2F93926-C09F-E612-1311-F9DB8304A2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0F2C85-AAE6-CDB4-FC11-33F9D11452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07F6D9-3B4D-8173-6D4F-1AD4283FCC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93452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D9B57-403C-E345-FF65-9AB646C57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99ECAF3-6DD3-B9EC-4F00-673FAE5E3A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74FAD1E-F809-9405-6ACE-55274EAB17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C665D2-DD7D-EF29-6159-660B5BF979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27855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01FF1-271B-73DF-85E5-5E02C871D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02E64FB-FC25-A2F4-48A7-F3CDF77585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E644700-B9C5-65DD-9B94-E096DBC177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C4D1B7-5AEE-30CB-B812-083507C1F4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65202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F56BE-AE28-DE0A-1EF5-3F3361DDC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3787F96-2F59-A8C1-CA28-458E88E590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D33844-F59E-FC86-D00A-4B8403F6D4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20D73A-4F68-326F-28E0-145F4C3FA3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28980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1F7F8-6C2B-7BE4-B66A-11CCDB803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D6235D2-F81A-F3B1-3F87-EA2EBC4A3C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667771F-07E8-3D4B-0979-592E763709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ED0998-6300-236D-6851-2CB23C7E72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47715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D7409-12DC-2F34-F5E1-65BA5D4C8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D424139-6AAA-CFF9-738A-4129006CE1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9F711AD-F17B-5EB5-3A0A-21DC56C0A3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Baseband center point detection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D46EFF-EBF6-3007-7C2F-443B4366F5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30644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A62CD-9DEF-7BB7-C792-815C883B9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6212C47-6198-D4F7-AF30-A1A5DC956D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1EAC7EF-068A-AF98-D2F3-AA8AEBAA15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A1D648-7D35-BB12-2E3C-EADC2BB15E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19426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3DE89-69F6-2317-AAC0-8EF66C991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55A32B3-1A65-DDD7-6976-1DD142E66F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113C9F6-558D-6AB7-04CE-6BE6695CC4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9B05FA-0E99-F224-EAB7-EA22DF3F36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42939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53BDF-3762-B3E6-8E50-0AE0F01C8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A08F044-3138-CF20-31B2-6E510322C5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022BE52-B81C-65D6-7A39-74EA39DB2F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5B979E-8EA6-596B-8DEA-570853E5FF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0151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25E75-AAA2-2D0C-2598-AFC271E78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04D5E59-3A6B-F67E-CF09-C0F73D6A32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1F54011-17EE-0653-D295-3732998F7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F96B7C-7733-3BB9-C454-1DB51279D7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2657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7BD6B-002B-CDDC-27B6-E828F23A2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EE3E6FF-C991-C929-7DFB-4EE556CE03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56B4280-8A0F-2741-4618-62D67E8B65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1FFBC5-2ACA-6BFC-10D2-5B3AA49260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87734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28102-82C4-47A3-F935-9C4EB0962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0AC934E-4BF6-8150-3D98-F92B97EB9A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5717920-5973-7C77-D3AC-E9F95F4ECF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97EFB3-55FE-3DDC-4962-D1E3286EC1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49412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B8C54-BA6B-13F2-70A4-E32FD58FB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E9C5CA6-BEC5-6143-D1D5-E6ECF44435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A09318F-9A66-73DE-7860-24C79C4F41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7EE84B-E8DE-FFBE-CF41-2CCD2F9684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12123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5EF62-9184-FF56-9D9C-6A84C3F29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C9D71C1-D3D3-949A-2EDC-549406D88B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4934AA5-28BC-63FA-6C26-F34EC4FAF1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1685AC9-D8CA-A87A-EB5D-C511C0C31A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93918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6CADC0-474D-4492-802B-B8958C4DAA87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36675" y="1236678"/>
            <a:ext cx="8020050" cy="2630781"/>
          </a:xfrm>
        </p:spPr>
        <p:txBody>
          <a:bodyPr anchor="b"/>
          <a:lstStyle>
            <a:lvl1pPr algn="ctr">
              <a:defRPr sz="5265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36675" y="3968912"/>
            <a:ext cx="8020050" cy="1824404"/>
          </a:xfrm>
        </p:spPr>
        <p:txBody>
          <a:bodyPr/>
          <a:lstStyle>
            <a:lvl1pPr marL="0" indent="0" algn="ctr">
              <a:buNone/>
              <a:defRPr sz="2105"/>
            </a:lvl1pPr>
            <a:lvl2pPr marL="401320" indent="0" algn="ctr">
              <a:buNone/>
              <a:defRPr sz="1755"/>
            </a:lvl2pPr>
            <a:lvl3pPr marL="802005" indent="0" algn="ctr">
              <a:buNone/>
              <a:defRPr sz="1580"/>
            </a:lvl3pPr>
            <a:lvl4pPr marL="1203325" indent="0" algn="ctr">
              <a:buNone/>
              <a:defRPr sz="1405"/>
            </a:lvl4pPr>
            <a:lvl5pPr marL="1604010" indent="0" algn="ctr">
              <a:buNone/>
              <a:defRPr sz="1405"/>
            </a:lvl5pPr>
            <a:lvl6pPr marL="2005330" indent="0" algn="ctr">
              <a:buNone/>
              <a:defRPr sz="1405"/>
            </a:lvl6pPr>
            <a:lvl7pPr marL="2406015" indent="0" algn="ctr">
              <a:buNone/>
              <a:defRPr sz="1405"/>
            </a:lvl7pPr>
            <a:lvl8pPr marL="2807335" indent="0" algn="ctr">
              <a:buNone/>
              <a:defRPr sz="1405"/>
            </a:lvl8pPr>
            <a:lvl9pPr marL="3208020" indent="0" algn="ctr">
              <a:buNone/>
              <a:defRPr sz="1405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zh-CN" alt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4E58DFDD-5E64-BD46-8F17-43EE2B9457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2100" y="204656"/>
            <a:ext cx="3924300" cy="51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9602" y="1883878"/>
            <a:ext cx="9223058" cy="3143294"/>
          </a:xfrm>
        </p:spPr>
        <p:txBody>
          <a:bodyPr anchor="b"/>
          <a:lstStyle>
            <a:lvl1pPr>
              <a:defRPr sz="5265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9602" y="5056909"/>
            <a:ext cx="9223058" cy="1652984"/>
          </a:xfrm>
        </p:spPr>
        <p:txBody>
          <a:bodyPr/>
          <a:lstStyle>
            <a:lvl1pPr marL="0" indent="0">
              <a:buNone/>
              <a:defRPr sz="2105">
                <a:solidFill>
                  <a:schemeClr val="tx1">
                    <a:tint val="75000"/>
                  </a:schemeClr>
                </a:solidFill>
              </a:defRPr>
            </a:lvl1pPr>
            <a:lvl2pPr marL="401320" indent="0">
              <a:buNone/>
              <a:defRPr sz="1755">
                <a:solidFill>
                  <a:schemeClr val="tx1">
                    <a:tint val="75000"/>
                  </a:schemeClr>
                </a:solidFill>
              </a:defRPr>
            </a:lvl2pPr>
            <a:lvl3pPr marL="802005" indent="0">
              <a:buNone/>
              <a:defRPr sz="1580">
                <a:solidFill>
                  <a:schemeClr val="tx1">
                    <a:tint val="75000"/>
                  </a:schemeClr>
                </a:solidFill>
              </a:defRPr>
            </a:lvl3pPr>
            <a:lvl4pPr marL="1203325" indent="0">
              <a:buNone/>
              <a:defRPr sz="1405">
                <a:solidFill>
                  <a:schemeClr val="tx1">
                    <a:tint val="75000"/>
                  </a:schemeClr>
                </a:solidFill>
              </a:defRPr>
            </a:lvl4pPr>
            <a:lvl5pPr marL="1604010" indent="0">
              <a:buNone/>
              <a:defRPr sz="1405">
                <a:solidFill>
                  <a:schemeClr val="tx1">
                    <a:tint val="75000"/>
                  </a:schemeClr>
                </a:solidFill>
              </a:defRPr>
            </a:lvl5pPr>
            <a:lvl6pPr marL="2005330" indent="0">
              <a:buNone/>
              <a:defRPr sz="1405">
                <a:solidFill>
                  <a:schemeClr val="tx1">
                    <a:tint val="75000"/>
                  </a:schemeClr>
                </a:solidFill>
              </a:defRPr>
            </a:lvl6pPr>
            <a:lvl7pPr marL="2406015" indent="0">
              <a:buNone/>
              <a:defRPr sz="1405">
                <a:solidFill>
                  <a:schemeClr val="tx1">
                    <a:tint val="75000"/>
                  </a:schemeClr>
                </a:solidFill>
              </a:defRPr>
            </a:lvl7pPr>
            <a:lvl8pPr marL="2807335" indent="0">
              <a:buNone/>
              <a:defRPr sz="1405">
                <a:solidFill>
                  <a:schemeClr val="tx1">
                    <a:tint val="75000"/>
                  </a:schemeClr>
                </a:solidFill>
              </a:defRPr>
            </a:lvl8pPr>
            <a:lvl9pPr marL="3208020" indent="0">
              <a:buNone/>
              <a:defRPr sz="140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35171" y="2011568"/>
            <a:ext cx="4544695" cy="4794530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413534" y="2011568"/>
            <a:ext cx="4544695" cy="4794530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564" y="402314"/>
            <a:ext cx="9223058" cy="1460574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6565" y="1852393"/>
            <a:ext cx="4523809" cy="907829"/>
          </a:xfrm>
        </p:spPr>
        <p:txBody>
          <a:bodyPr anchor="b"/>
          <a:lstStyle>
            <a:lvl1pPr marL="0" indent="0">
              <a:buNone/>
              <a:defRPr sz="2105" b="1"/>
            </a:lvl1pPr>
            <a:lvl2pPr marL="401320" indent="0">
              <a:buNone/>
              <a:defRPr sz="1755" b="1"/>
            </a:lvl2pPr>
            <a:lvl3pPr marL="802005" indent="0">
              <a:buNone/>
              <a:defRPr sz="1580" b="1"/>
            </a:lvl3pPr>
            <a:lvl4pPr marL="1203325" indent="0">
              <a:buNone/>
              <a:defRPr sz="1405" b="1"/>
            </a:lvl4pPr>
            <a:lvl5pPr marL="1604010" indent="0">
              <a:buNone/>
              <a:defRPr sz="1405" b="1"/>
            </a:lvl5pPr>
            <a:lvl6pPr marL="2005330" indent="0">
              <a:buNone/>
              <a:defRPr sz="1405" b="1"/>
            </a:lvl6pPr>
            <a:lvl7pPr marL="2406015" indent="0">
              <a:buNone/>
              <a:defRPr sz="1405" b="1"/>
            </a:lvl7pPr>
            <a:lvl8pPr marL="2807335" indent="0">
              <a:buNone/>
              <a:defRPr sz="1405" b="1"/>
            </a:lvl8pPr>
            <a:lvl9pPr marL="3208020" indent="0">
              <a:buNone/>
              <a:defRPr sz="1405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6565" y="2760222"/>
            <a:ext cx="4523809" cy="4059870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413534" y="1852393"/>
            <a:ext cx="4546088" cy="907829"/>
          </a:xfrm>
        </p:spPr>
        <p:txBody>
          <a:bodyPr anchor="b"/>
          <a:lstStyle>
            <a:lvl1pPr marL="0" indent="0">
              <a:buNone/>
              <a:defRPr sz="2105" b="1"/>
            </a:lvl1pPr>
            <a:lvl2pPr marL="401320" indent="0">
              <a:buNone/>
              <a:defRPr sz="1755" b="1"/>
            </a:lvl2pPr>
            <a:lvl3pPr marL="802005" indent="0">
              <a:buNone/>
              <a:defRPr sz="1580" b="1"/>
            </a:lvl3pPr>
            <a:lvl4pPr marL="1203325" indent="0">
              <a:buNone/>
              <a:defRPr sz="1405" b="1"/>
            </a:lvl4pPr>
            <a:lvl5pPr marL="1604010" indent="0">
              <a:buNone/>
              <a:defRPr sz="1405" b="1"/>
            </a:lvl5pPr>
            <a:lvl6pPr marL="2005330" indent="0">
              <a:buNone/>
              <a:defRPr sz="1405" b="1"/>
            </a:lvl6pPr>
            <a:lvl7pPr marL="2406015" indent="0">
              <a:buNone/>
              <a:defRPr sz="1405" b="1"/>
            </a:lvl7pPr>
            <a:lvl8pPr marL="2807335" indent="0">
              <a:buNone/>
              <a:defRPr sz="1405" b="1"/>
            </a:lvl8pPr>
            <a:lvl9pPr marL="3208020" indent="0">
              <a:buNone/>
              <a:defRPr sz="1405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413534" y="2760222"/>
            <a:ext cx="4546088" cy="4059870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6/8/26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6/8/26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6/8/26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564" y="503767"/>
            <a:ext cx="3448900" cy="1763183"/>
          </a:xfrm>
        </p:spPr>
        <p:txBody>
          <a:bodyPr anchor="b"/>
          <a:lstStyle>
            <a:lvl1pPr>
              <a:defRPr sz="2805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46088" y="1087996"/>
            <a:ext cx="5413534" cy="5370013"/>
          </a:xfrm>
        </p:spPr>
        <p:txBody>
          <a:bodyPr/>
          <a:lstStyle>
            <a:lvl1pPr>
              <a:defRPr sz="2805"/>
            </a:lvl1pPr>
            <a:lvl2pPr>
              <a:defRPr sz="2455"/>
            </a:lvl2pPr>
            <a:lvl3pPr>
              <a:defRPr sz="2105"/>
            </a:lvl3pPr>
            <a:lvl4pPr>
              <a:defRPr sz="1755"/>
            </a:lvl4pPr>
            <a:lvl5pPr>
              <a:defRPr sz="1755"/>
            </a:lvl5pPr>
            <a:lvl6pPr>
              <a:defRPr sz="1755"/>
            </a:lvl6pPr>
            <a:lvl7pPr>
              <a:defRPr sz="1755"/>
            </a:lvl7pPr>
            <a:lvl8pPr>
              <a:defRPr sz="1755"/>
            </a:lvl8pPr>
            <a:lvl9pPr>
              <a:defRPr sz="1755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6564" y="2266950"/>
            <a:ext cx="3448900" cy="4199805"/>
          </a:xfrm>
        </p:spPr>
        <p:txBody>
          <a:bodyPr/>
          <a:lstStyle>
            <a:lvl1pPr marL="0" indent="0">
              <a:buNone/>
              <a:defRPr sz="1405"/>
            </a:lvl1pPr>
            <a:lvl2pPr marL="401320" indent="0">
              <a:buNone/>
              <a:defRPr sz="1230"/>
            </a:lvl2pPr>
            <a:lvl3pPr marL="802005" indent="0">
              <a:buNone/>
              <a:defRPr sz="1055"/>
            </a:lvl3pPr>
            <a:lvl4pPr marL="1203325" indent="0">
              <a:buNone/>
              <a:defRPr sz="875"/>
            </a:lvl4pPr>
            <a:lvl5pPr marL="1604010" indent="0">
              <a:buNone/>
              <a:defRPr sz="875"/>
            </a:lvl5pPr>
            <a:lvl6pPr marL="2005330" indent="0">
              <a:buNone/>
              <a:defRPr sz="875"/>
            </a:lvl6pPr>
            <a:lvl7pPr marL="2406015" indent="0">
              <a:buNone/>
              <a:defRPr sz="875"/>
            </a:lvl7pPr>
            <a:lvl8pPr marL="2807335" indent="0">
              <a:buNone/>
              <a:defRPr sz="875"/>
            </a:lvl8pPr>
            <a:lvl9pPr marL="3208020" indent="0">
              <a:buNone/>
              <a:defRPr sz="875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564" y="503767"/>
            <a:ext cx="3448900" cy="1763183"/>
          </a:xfrm>
        </p:spPr>
        <p:txBody>
          <a:bodyPr anchor="b"/>
          <a:lstStyle>
            <a:lvl1pPr>
              <a:defRPr sz="2805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46088" y="1087996"/>
            <a:ext cx="5413534" cy="5370013"/>
          </a:xfrm>
        </p:spPr>
        <p:txBody>
          <a:bodyPr/>
          <a:lstStyle>
            <a:lvl1pPr marL="0" indent="0">
              <a:buNone/>
              <a:defRPr sz="2805"/>
            </a:lvl1pPr>
            <a:lvl2pPr marL="401320" indent="0">
              <a:buNone/>
              <a:defRPr sz="2455"/>
            </a:lvl2pPr>
            <a:lvl3pPr marL="802005" indent="0">
              <a:buNone/>
              <a:defRPr sz="2105"/>
            </a:lvl3pPr>
            <a:lvl4pPr marL="1203325" indent="0">
              <a:buNone/>
              <a:defRPr sz="1755"/>
            </a:lvl4pPr>
            <a:lvl5pPr marL="1604010" indent="0">
              <a:buNone/>
              <a:defRPr sz="1755"/>
            </a:lvl5pPr>
            <a:lvl6pPr marL="2005330" indent="0">
              <a:buNone/>
              <a:defRPr sz="1755"/>
            </a:lvl6pPr>
            <a:lvl7pPr marL="2406015" indent="0">
              <a:buNone/>
              <a:defRPr sz="1755"/>
            </a:lvl7pPr>
            <a:lvl8pPr marL="2807335" indent="0">
              <a:buNone/>
              <a:defRPr sz="1755"/>
            </a:lvl8pPr>
            <a:lvl9pPr marL="3208020" indent="0">
              <a:buNone/>
              <a:defRPr sz="1755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6564" y="2266950"/>
            <a:ext cx="3448900" cy="4199805"/>
          </a:xfrm>
        </p:spPr>
        <p:txBody>
          <a:bodyPr/>
          <a:lstStyle>
            <a:lvl1pPr marL="0" indent="0">
              <a:buNone/>
              <a:defRPr sz="1405"/>
            </a:lvl1pPr>
            <a:lvl2pPr marL="401320" indent="0">
              <a:buNone/>
              <a:defRPr sz="1230"/>
            </a:lvl2pPr>
            <a:lvl3pPr marL="802005" indent="0">
              <a:buNone/>
              <a:defRPr sz="1055"/>
            </a:lvl3pPr>
            <a:lvl4pPr marL="1203325" indent="0">
              <a:buNone/>
              <a:defRPr sz="875"/>
            </a:lvl4pPr>
            <a:lvl5pPr marL="1604010" indent="0">
              <a:buNone/>
              <a:defRPr sz="875"/>
            </a:lvl5pPr>
            <a:lvl6pPr marL="2005330" indent="0">
              <a:buNone/>
              <a:defRPr sz="875"/>
            </a:lvl6pPr>
            <a:lvl7pPr marL="2406015" indent="0">
              <a:buNone/>
              <a:defRPr sz="875"/>
            </a:lvl7pPr>
            <a:lvl8pPr marL="2807335" indent="0">
              <a:buNone/>
              <a:defRPr sz="875"/>
            </a:lvl8pPr>
            <a:lvl9pPr marL="3208020" indent="0">
              <a:buNone/>
              <a:defRPr sz="875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652465" y="402314"/>
            <a:ext cx="2305764" cy="6403784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35171" y="402314"/>
            <a:ext cx="6783626" cy="6403784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‹#›</a:t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35171" y="402314"/>
            <a:ext cx="9223058" cy="1460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5171" y="2011568"/>
            <a:ext cx="9223058" cy="4794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35171" y="7003756"/>
            <a:ext cx="2406015" cy="402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42189" y="7003756"/>
            <a:ext cx="3609023" cy="402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552214" y="7003756"/>
            <a:ext cx="2406015" cy="402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802005" rtl="0" eaLnBrk="1" latinLnBrk="0" hangingPunct="1">
        <a:lnSpc>
          <a:spcPct val="90000"/>
        </a:lnSpc>
        <a:spcBef>
          <a:spcPct val="0"/>
        </a:spcBef>
        <a:buNone/>
        <a:defRPr sz="3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0660" indent="-200660" algn="l" defTabSz="802005" rtl="0" eaLnBrk="1" latinLnBrk="0" hangingPunct="1">
        <a:lnSpc>
          <a:spcPct val="90000"/>
        </a:lnSpc>
        <a:spcBef>
          <a:spcPts val="875"/>
        </a:spcBef>
        <a:buFont typeface="Arial" panose="020B0604020202020204" pitchFamily="34" charset="0"/>
        <a:buChar char="•"/>
        <a:defRPr sz="2455" kern="1200">
          <a:solidFill>
            <a:schemeClr val="tx1"/>
          </a:solidFill>
          <a:latin typeface="+mn-lt"/>
          <a:ea typeface="+mn-ea"/>
          <a:cs typeface="+mn-cs"/>
        </a:defRPr>
      </a:lvl1pPr>
      <a:lvl2pPr marL="601345" indent="-200660" algn="l" defTabSz="802005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2pPr>
      <a:lvl3pPr marL="1002665" indent="-200660" algn="l" defTabSz="802005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755" kern="1200">
          <a:solidFill>
            <a:schemeClr val="tx1"/>
          </a:solidFill>
          <a:latin typeface="+mn-lt"/>
          <a:ea typeface="+mn-ea"/>
          <a:cs typeface="+mn-cs"/>
        </a:defRPr>
      </a:lvl3pPr>
      <a:lvl4pPr marL="1403350" indent="-200660" algn="l" defTabSz="802005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580" kern="1200">
          <a:solidFill>
            <a:schemeClr val="tx1"/>
          </a:solidFill>
          <a:latin typeface="+mn-lt"/>
          <a:ea typeface="+mn-ea"/>
          <a:cs typeface="+mn-cs"/>
        </a:defRPr>
      </a:lvl4pPr>
      <a:lvl5pPr marL="1804670" indent="-200660" algn="l" defTabSz="802005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580" kern="1200">
          <a:solidFill>
            <a:schemeClr val="tx1"/>
          </a:solidFill>
          <a:latin typeface="+mn-lt"/>
          <a:ea typeface="+mn-ea"/>
          <a:cs typeface="+mn-cs"/>
        </a:defRPr>
      </a:lvl5pPr>
      <a:lvl6pPr marL="2205355" indent="-200660" algn="l" defTabSz="802005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580" kern="1200">
          <a:solidFill>
            <a:schemeClr val="tx1"/>
          </a:solidFill>
          <a:latin typeface="+mn-lt"/>
          <a:ea typeface="+mn-ea"/>
          <a:cs typeface="+mn-cs"/>
        </a:defRPr>
      </a:lvl6pPr>
      <a:lvl7pPr marL="2606675" indent="-200660" algn="l" defTabSz="802005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580" kern="1200">
          <a:solidFill>
            <a:schemeClr val="tx1"/>
          </a:solidFill>
          <a:latin typeface="+mn-lt"/>
          <a:ea typeface="+mn-ea"/>
          <a:cs typeface="+mn-cs"/>
        </a:defRPr>
      </a:lvl7pPr>
      <a:lvl8pPr marL="3007360" indent="-200660" algn="l" defTabSz="802005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580" kern="1200">
          <a:solidFill>
            <a:schemeClr val="tx1"/>
          </a:solidFill>
          <a:latin typeface="+mn-lt"/>
          <a:ea typeface="+mn-ea"/>
          <a:cs typeface="+mn-cs"/>
        </a:defRPr>
      </a:lvl8pPr>
      <a:lvl9pPr marL="3408680" indent="-200660" algn="l" defTabSz="802005" rtl="0" eaLnBrk="1" latinLnBrk="0" hangingPunct="1">
        <a:lnSpc>
          <a:spcPct val="90000"/>
        </a:lnSpc>
        <a:spcBef>
          <a:spcPts val="440"/>
        </a:spcBef>
        <a:buFont typeface="Arial" panose="020B0604020202020204" pitchFamily="34" charset="0"/>
        <a:buChar char="•"/>
        <a:defRPr sz="15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02005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1pPr>
      <a:lvl2pPr marL="401320" algn="l" defTabSz="802005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2pPr>
      <a:lvl3pPr marL="802005" algn="l" defTabSz="802005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3pPr>
      <a:lvl4pPr marL="1203325" algn="l" defTabSz="802005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4pPr>
      <a:lvl5pPr marL="1604010" algn="l" defTabSz="802005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5pPr>
      <a:lvl6pPr marL="2005330" algn="l" defTabSz="802005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6pPr>
      <a:lvl7pPr marL="2406015" algn="l" defTabSz="802005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7pPr>
      <a:lvl8pPr marL="2807335" algn="l" defTabSz="802005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8pPr>
      <a:lvl9pPr marL="3208020" algn="l" defTabSz="802005" rtl="0" eaLnBrk="1" latinLnBrk="0" hangingPunct="1">
        <a:defRPr sz="15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2.jpe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7" Type="http://schemas.openxmlformats.org/officeDocument/2006/relationships/image" Target="../media/image5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2.xml"/><Relationship Id="rId7" Type="http://schemas.openxmlformats.org/officeDocument/2006/relationships/image" Target="../media/image6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7" Type="http://schemas.openxmlformats.org/officeDocument/2006/relationships/image" Target="../media/image7.png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tags" Target="../tags/tag18.xml"/><Relationship Id="rId7" Type="http://schemas.openxmlformats.org/officeDocument/2006/relationships/image" Target="../media/image8.png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image" Target="../media/image10.pn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7" Type="http://schemas.openxmlformats.org/officeDocument/2006/relationships/image" Target="../media/image11.pn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tags" Target="../tags/tag30.xml"/><Relationship Id="rId7" Type="http://schemas.openxmlformats.org/officeDocument/2006/relationships/image" Target="../media/image12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tags" Target="../tags/tag33.xml"/><Relationship Id="rId7" Type="http://schemas.openxmlformats.org/officeDocument/2006/relationships/image" Target="../media/image14.pn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tags" Target="../tags/tag36.xml"/><Relationship Id="rId7" Type="http://schemas.openxmlformats.org/officeDocument/2006/relationships/image" Target="../media/image17.png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tags" Target="../tags/tag39.xml"/><Relationship Id="rId7" Type="http://schemas.openxmlformats.org/officeDocument/2006/relationships/image" Target="../media/image19.png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7" Type="http://schemas.openxmlformats.org/officeDocument/2006/relationships/image" Target="../media/image20.png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tags" Target="../tags/tag45.xml"/><Relationship Id="rId7" Type="http://schemas.openxmlformats.org/officeDocument/2006/relationships/image" Target="../media/image21.png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tags" Target="../tags/tag48.xml"/><Relationship Id="rId7" Type="http://schemas.openxmlformats.org/officeDocument/2006/relationships/image" Target="../media/image23.png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image" Target="../media/image4.png"/><Relationship Id="rId5" Type="http://schemas.openxmlformats.org/officeDocument/2006/relationships/image" Target="../media/image3.jpeg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">
            <a:extLst>
              <a:ext uri="{FF2B5EF4-FFF2-40B4-BE49-F238E27FC236}">
                <a16:creationId xmlns:a16="http://schemas.microsoft.com/office/drawing/2014/main" id="{14BD418A-9858-A843-92C9-8A399CC555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87850"/>
            <a:ext cx="10677400" cy="316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矩形 7"/>
          <p:cNvSpPr/>
          <p:nvPr/>
        </p:nvSpPr>
        <p:spPr>
          <a:xfrm>
            <a:off x="-11000" y="4387850"/>
            <a:ext cx="10688400" cy="3168000"/>
          </a:xfrm>
          <a:prstGeom prst="rect">
            <a:avLst/>
          </a:prstGeom>
          <a:solidFill>
            <a:schemeClr val="accent1">
              <a:lumMod val="60000"/>
              <a:lumOff val="40000"/>
              <a:alpha val="3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"/>
            </p:custDataLst>
          </p:nvPr>
        </p:nvSpPr>
        <p:spPr>
          <a:xfrm>
            <a:off x="317500" y="1720850"/>
            <a:ext cx="9982200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5400" b="1" dirty="0">
                <a:solidFill>
                  <a:srgbClr val="2F55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（信息与）通信技术（基础）</a:t>
            </a:r>
            <a:endParaRPr kumimoji="1" lang="en-US" altLang="zh-CN" sz="5400" b="1" dirty="0">
              <a:solidFill>
                <a:srgbClr val="2F55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9: Data</a:t>
            </a:r>
            <a:r>
              <a:rPr lang="zh-CN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Compression</a:t>
            </a:r>
            <a:r>
              <a:rPr lang="zh-CN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zh-CN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Channel</a:t>
            </a:r>
            <a:r>
              <a:rPr lang="zh-CN" alt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Coding</a:t>
            </a:r>
            <a:endParaRPr lang="en-GB" altLang="zh-CN" sz="3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3207578" y="4692650"/>
            <a:ext cx="4272722" cy="2160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3375" marR="5080" indent="-321310" algn="ctr">
              <a:lnSpc>
                <a:spcPct val="127000"/>
              </a:lnSpc>
              <a:spcBef>
                <a:spcPts val="95"/>
              </a:spcBef>
            </a:pPr>
            <a:r>
              <a:rPr lang="zh-CN" altLang="en-US" sz="2800" b="1" spc="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王超</a:t>
            </a:r>
          </a:p>
          <a:p>
            <a:pPr marL="333375" marR="5080" indent="-321310" algn="ctr">
              <a:lnSpc>
                <a:spcPct val="127000"/>
              </a:lnSpc>
              <a:spcBef>
                <a:spcPts val="95"/>
              </a:spcBef>
            </a:pPr>
            <a:endParaRPr lang="zh-CN" altLang="en-US" b="1" spc="2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33375" marR="5080" indent="-321310" algn="ctr">
              <a:lnSpc>
                <a:spcPct val="150000"/>
              </a:lnSpc>
              <a:spcBef>
                <a:spcPts val="95"/>
              </a:spcBef>
            </a:pPr>
            <a:r>
              <a:rPr lang="zh-CN" altLang="en-US" b="1" spc="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电子与信息工程学院 </a:t>
            </a:r>
            <a:r>
              <a:rPr lang="en-US" altLang="zh-CN" b="1" spc="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b="1" spc="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信息与通信工程系</a:t>
            </a:r>
          </a:p>
          <a:p>
            <a:pPr marL="333375" marR="5080" indent="-321310" algn="ctr">
              <a:lnSpc>
                <a:spcPct val="150000"/>
              </a:lnSpc>
              <a:spcBef>
                <a:spcPts val="95"/>
              </a:spcBef>
            </a:pPr>
            <a:r>
              <a:rPr lang="zh-CN" altLang="en-US" b="1" spc="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教授</a:t>
            </a:r>
            <a:r>
              <a:rPr lang="en-US" altLang="zh-CN" b="1" spc="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 spc="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博士生导师</a:t>
            </a:r>
          </a:p>
          <a:p>
            <a:pPr marL="333375" marR="5080" indent="-321310" algn="ctr">
              <a:lnSpc>
                <a:spcPct val="150000"/>
              </a:lnSpc>
              <a:spcBef>
                <a:spcPts val="95"/>
              </a:spcBef>
            </a:pPr>
            <a:r>
              <a:rPr lang="es-419" altLang="zh-CN" b="1" spc="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Email: chaowang@tongji.edu.cn</a:t>
            </a:r>
            <a:endParaRPr lang="zh-CN" altLang="en-US" sz="1600" b="1" spc="2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</a:t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0075F-827B-87A8-8673-3868A44C7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路网">
            <a:extLst>
              <a:ext uri="{FF2B5EF4-FFF2-40B4-BE49-F238E27FC236}">
                <a16:creationId xmlns:a16="http://schemas.microsoft.com/office/drawing/2014/main" id="{351C4B29-3848-C10C-D9BE-433D97F385AC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040000" cy="75565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FBD5D2E5-C02C-1843-28DD-01653D49E0DF}"/>
              </a:ext>
            </a:extLst>
          </p:cNvPr>
          <p:cNvSpPr>
            <a:spLocks/>
          </p:cNvSpPr>
          <p:nvPr/>
        </p:nvSpPr>
        <p:spPr>
          <a:xfrm>
            <a:off x="0" y="0"/>
            <a:ext cx="5040000" cy="7556500"/>
          </a:xfrm>
          <a:prstGeom prst="rect">
            <a:avLst/>
          </a:prstGeom>
          <a:solidFill>
            <a:srgbClr val="7FB7DF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EB78247-0888-EC6F-9335-AB038463E579}"/>
              </a:ext>
            </a:extLst>
          </p:cNvPr>
          <p:cNvSpPr txBox="1"/>
          <p:nvPr/>
        </p:nvSpPr>
        <p:spPr>
          <a:xfrm>
            <a:off x="1433830" y="3092450"/>
            <a:ext cx="1843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CAF35A8-7F9C-0D2A-2080-20E8F9F2372D}"/>
              </a:ext>
            </a:extLst>
          </p:cNvPr>
          <p:cNvSpPr txBox="1"/>
          <p:nvPr/>
        </p:nvSpPr>
        <p:spPr>
          <a:xfrm>
            <a:off x="1384300" y="3327981"/>
            <a:ext cx="252016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A0C60AA2-03F8-6B9A-1389-30596329D38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6982308D-4D7B-FE10-128B-D9F26CC93B4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016586">
            <a:off x="-1658791" y="5429809"/>
            <a:ext cx="3360712" cy="3360720"/>
          </a:xfrm>
          <a:prstGeom prst="rect">
            <a:avLst/>
          </a:prstGeom>
        </p:spPr>
      </p:pic>
      <p:sp>
        <p:nvSpPr>
          <p:cNvPr id="31" name="椭圆 30">
            <a:extLst>
              <a:ext uri="{FF2B5EF4-FFF2-40B4-BE49-F238E27FC236}">
                <a16:creationId xmlns:a16="http://schemas.microsoft.com/office/drawing/2014/main" id="{A073DE2C-2037-97B3-07F0-228BC4AC3279}"/>
              </a:ext>
            </a:extLst>
          </p:cNvPr>
          <p:cNvSpPr/>
          <p:nvPr/>
        </p:nvSpPr>
        <p:spPr>
          <a:xfrm>
            <a:off x="705330" y="5453840"/>
            <a:ext cx="945670" cy="945670"/>
          </a:xfrm>
          <a:prstGeom prst="ellipse">
            <a:avLst/>
          </a:prstGeom>
          <a:solidFill>
            <a:schemeClr val="bg1">
              <a:alpha val="2605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316142E1-9DE4-1E2F-CC48-3187B3B4AFD5}"/>
              </a:ext>
            </a:extLst>
          </p:cNvPr>
          <p:cNvSpPr/>
          <p:nvPr/>
        </p:nvSpPr>
        <p:spPr>
          <a:xfrm>
            <a:off x="9415675" y="6656365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9AF8E71-3F13-E76C-2F4F-75A11B253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2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FBAA1EE-4515-ED93-E2E8-512AACF7B721}"/>
              </a:ext>
            </a:extLst>
          </p:cNvPr>
          <p:cNvSpPr txBox="1"/>
          <p:nvPr/>
        </p:nvSpPr>
        <p:spPr>
          <a:xfrm>
            <a:off x="5270500" y="1720850"/>
            <a:ext cx="5334000" cy="1356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Compression</a:t>
            </a:r>
            <a:r>
              <a:rPr kumimoji="1"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with</a:t>
            </a:r>
            <a:r>
              <a:rPr kumimoji="1"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Huffman</a:t>
            </a:r>
            <a:r>
              <a:rPr kumimoji="1"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Code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Error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Correction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with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Hamming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3577684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D4F9A-5ECB-1E98-34D8-88F5E90EC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656124F1-97B4-5246-D065-E2275718718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0856F7F8-D037-F7CC-C604-D7A55941AA4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EC91AC8-9FF3-C03F-2B33-C2A2BE4F884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B6D10B0-281F-8FBA-73B6-BE8447D06A01}"/>
              </a:ext>
            </a:extLst>
          </p:cNvPr>
          <p:cNvSpPr txBox="1"/>
          <p:nvPr/>
        </p:nvSpPr>
        <p:spPr>
          <a:xfrm>
            <a:off x="241300" y="268605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Data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Compression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210355A-05EB-E5E5-5416-7BD8FA9BA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3</a:t>
            </a:fld>
            <a:endParaRPr lang="zh-CN" altLang="en-US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99C3F6F1-5311-DC27-6B07-B7FE9AA86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300" y="882650"/>
            <a:ext cx="10210800" cy="6400800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Data compression is the process of encoding information using fewer bits than the original representation.</a:t>
            </a:r>
          </a:p>
          <a:p>
            <a:pPr>
              <a:lnSpc>
                <a:spcPct val="13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It is a reduction in the number of bits needed to represent data.</a:t>
            </a:r>
          </a:p>
          <a:p>
            <a:pPr>
              <a:lnSpc>
                <a:spcPct val="130000"/>
              </a:lnSpc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It can save storage capacity, speed up file transfer, and decrease costs for storage hardware and network bandwidth.</a:t>
            </a:r>
          </a:p>
          <a:p>
            <a:pPr>
              <a:lnSpc>
                <a:spcPct val="130000"/>
              </a:lnSpc>
            </a:pPr>
            <a:r>
              <a:rPr lang="zh-CN" altLang="zh-CN" sz="2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Lossy compression</a:t>
            </a:r>
            <a:r>
              <a:rPr lang="zh-CN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 is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type of data compression where some amount of the original information is permanently discarded in order to significantly reduce the file size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(e.g.,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JPEG,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MPEG,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MP3).</a:t>
            </a:r>
          </a:p>
          <a:p>
            <a:pPr>
              <a:lnSpc>
                <a:spcPct val="130000"/>
              </a:lnSpc>
            </a:pPr>
            <a:r>
              <a:rPr lang="zh-CN" altLang="zh-CN" sz="24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Lossless compression</a:t>
            </a:r>
            <a:r>
              <a:rPr lang="zh-CN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 is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zh-CN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type</a:t>
            </a:r>
            <a:r>
              <a:rPr lang="zh-CN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of data compression that allows the exact original data to be perfectly reconstructed from the compressed data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(e.g.,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PNG,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FLAC,</a:t>
            </a:r>
            <a:r>
              <a:rPr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ZIP)</a:t>
            </a:r>
            <a:r>
              <a:rPr lang="zh-CN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827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C10D9-DC9D-E9D3-9930-E6EFD38B3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7183E75A-CB5E-86D4-5D10-9B444EB41B5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AFDCAAE3-6EB9-C7D3-64F4-42C3F60D5A2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E044CBB-39C5-DB25-E189-240928ED037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FE96FED-6801-89A4-1D85-23EE1E7A94D0}"/>
              </a:ext>
            </a:extLst>
          </p:cNvPr>
          <p:cNvSpPr txBox="1"/>
          <p:nvPr/>
        </p:nvSpPr>
        <p:spPr>
          <a:xfrm>
            <a:off x="241300" y="268605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Symbol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Codes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DBAEEC9-3930-979B-663D-2849335E7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4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24666254-7D3F-4C28-C570-3EB034E97A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idea of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loss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compression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is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that we can achieve compression, on average, by assigning shorter encodings to the more probable outcomes and longer encodings to the less probable.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 (binary) symbol code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ℂ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for a random variable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 a mapping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𝒜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={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,⋯,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𝐼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to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where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denotes the set of all strings of finite length composed of elements from the set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0,1</m:t>
                        </m:r>
                      </m:e>
                    </m:d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i.e.,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+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={0,1,00,01,10,11,000,001,⋯}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c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denote the codeword corresponding to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𝑙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to denote its length,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𝑙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𝑙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 symbol code for the random variable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𝒜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={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𝑐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𝒫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={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den>
                    </m:f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4</m:t>
                        </m:r>
                      </m:den>
                    </m:f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8</m:t>
                        </m:r>
                      </m:den>
                    </m:f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8</m:t>
                        </m:r>
                      </m:den>
                    </m:f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can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ℂ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i="0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c</m:t>
                    </m:r>
                    <m:d>
                      <m:d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</m:d>
                    <m:r>
                      <a:rPr lang="en-US" altLang="zh-CN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=1000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sz="2400" b="0" i="0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c</m:t>
                    </m:r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=0100,</m:t>
                    </m:r>
                    <m:r>
                      <a:rPr lang="zh-CN" altLang="en-US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c</m:t>
                    </m:r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=0010,</m:t>
                    </m:r>
                    <m:r>
                      <a:rPr lang="zh-CN" altLang="en-US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c</m:t>
                    </m:r>
                    <m:d>
                      <m:d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=0001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Then,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can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encode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s-419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“</a:t>
                </a:r>
                <a14:m>
                  <m:oMath xmlns:m="http://schemas.openxmlformats.org/officeDocument/2006/math">
                    <m:r>
                      <a:rPr lang="es-419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𝑎𝑐𝑑𝑏𝑎𝑐</m:t>
                    </m:r>
                  </m:oMath>
                </a14:m>
                <a:r>
                  <a:rPr lang="es-419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” as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100000100001010010000010.</a:t>
                </a: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24666254-7D3F-4C28-C570-3EB034E97A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  <a:blipFill>
                <a:blip r:embed="rId7"/>
                <a:stretch>
                  <a:fillRect l="-870" t="-198" r="-12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3773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3B50F-E1A2-83EE-498C-58E2FAB0A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0D57A2D3-6EA7-230B-111C-B89571A4CDD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CC6C447C-E726-A0BE-DD75-0CBEA5ECA54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F8B5EDF-1737-8D1D-B143-05F8D699C06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511F98C-78A8-1000-EFCF-FFDFAF2C1DCE}"/>
              </a:ext>
            </a:extLst>
          </p:cNvPr>
          <p:cNvSpPr txBox="1"/>
          <p:nvPr/>
        </p:nvSpPr>
        <p:spPr>
          <a:xfrm>
            <a:off x="241300" y="26860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Requirements for a Useful Symbol Code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9822BF3-9503-2C55-6D18-7C1F43CD7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5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D18C4265-D3A0-C90C-4C0F-F669B614E5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Any encoded string must have a unique decoding.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Example: Which of the following codes is uniquely </a:t>
                </a:r>
                <a:r>
                  <a:rPr lang="en-US" altLang="zh-CN" sz="2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decodeable</a:t>
                </a: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?</a:t>
                </a:r>
              </a:p>
              <a:p>
                <a:pPr lvl="2">
                  <a:lnSpc>
                    <a:spcPct val="13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ℂ</m:t>
                        </m:r>
                      </m:e>
                      <m: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c</m:t>
                    </m:r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</m:d>
                    <m:r>
                      <a:rPr lang="en-US" altLang="zh-CN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=00,</m:t>
                    </m:r>
                    <m:r>
                      <m:rPr>
                        <m:sty m:val="p"/>
                      </m:rPr>
                      <a:rPr lang="en-US" altLang="zh-CN" sz="2000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c</m:t>
                    </m:r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e>
                    </m:d>
                    <m:r>
                      <a:rPr lang="en-US" altLang="zh-CN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=01,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000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c</m:t>
                    </m:r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</m:t>
                        </m:r>
                      </m:e>
                    </m:d>
                    <m:r>
                      <a:rPr lang="en-US" altLang="zh-CN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0,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000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c</m:t>
                    </m:r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</m:e>
                    </m:d>
                    <m:r>
                      <a:rPr lang="en-US" altLang="zh-CN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11</m:t>
                    </m:r>
                  </m:oMath>
                </a14:m>
                <a:endPara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2">
                  <a:lnSpc>
                    <a:spcPct val="13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ℂ</m:t>
                        </m:r>
                      </m:e>
                      <m: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c</m:t>
                    </m:r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</m:d>
                    <m:r>
                      <a:rPr lang="en-US" altLang="zh-CN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=0,</m:t>
                    </m:r>
                    <m:r>
                      <m:rPr>
                        <m:sty m:val="p"/>
                      </m:rPr>
                      <a:rPr lang="en-US" altLang="zh-CN" sz="2000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c</m:t>
                    </m:r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e>
                    </m:d>
                    <m:r>
                      <a:rPr lang="en-US" altLang="zh-CN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=1,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000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c</m:t>
                    </m:r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</m:t>
                        </m:r>
                      </m:e>
                    </m:d>
                    <m:r>
                      <a:rPr lang="en-US" altLang="zh-CN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0,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000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c</m:t>
                    </m:r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</m:e>
                    </m:d>
                    <m:r>
                      <a:rPr lang="en-US" altLang="zh-CN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=11</m:t>
                    </m:r>
                  </m:oMath>
                </a14:m>
                <a:endPara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2">
                  <a:lnSpc>
                    <a:spcPct val="130000"/>
                  </a:lnSpc>
                </a:pP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code must be easy to decode.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 symbol code is easiest to decode if it is possible to identify the end of a codeword as soon as it arrives, which means that no codeword can be a prefix of another codeword.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Example: Which of the following codes is a prefix code?</a:t>
                </a:r>
              </a:p>
              <a:p>
                <a:pPr lvl="2">
                  <a:lnSpc>
                    <a:spcPct val="13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ℂ</m:t>
                        </m:r>
                      </m:e>
                      <m: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c</m:t>
                    </m:r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</m:d>
                    <m:r>
                      <a:rPr lang="en-US" altLang="zh-CN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=0,</m:t>
                    </m:r>
                    <m:r>
                      <m:rPr>
                        <m:sty m:val="p"/>
                      </m:rPr>
                      <a:rPr lang="en-US" altLang="zh-CN" sz="2000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c</m:t>
                    </m:r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e>
                    </m:d>
                    <m:r>
                      <a:rPr lang="en-US" altLang="zh-CN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000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c</m:t>
                    </m:r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</m:t>
                        </m:r>
                      </m:e>
                    </m:d>
                    <m:r>
                      <a:rPr lang="en-US" altLang="zh-CN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0,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000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c</m:t>
                    </m:r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</m:e>
                    </m:d>
                    <m:r>
                      <a:rPr lang="en-US" altLang="zh-CN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</m:oMath>
                </a14:m>
                <a:endPara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lvl="2">
                  <a:lnSpc>
                    <a:spcPct val="13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ℂ</m:t>
                        </m:r>
                      </m:e>
                      <m: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lang="zh-CN" altLang="en-US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c</m:t>
                    </m:r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</m:d>
                    <m:r>
                      <a:rPr lang="en-US" altLang="zh-CN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=0,</m:t>
                    </m:r>
                    <m:r>
                      <m:rPr>
                        <m:sty m:val="p"/>
                      </m:rPr>
                      <a:rPr lang="en-US" altLang="zh-CN" sz="2000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c</m:t>
                    </m:r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e>
                    </m:d>
                    <m:r>
                      <a:rPr lang="en-US" altLang="zh-CN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1,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000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c</m:t>
                    </m:r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𝑐</m:t>
                        </m:r>
                      </m:e>
                    </m:d>
                    <m:r>
                      <a:rPr lang="en-US" altLang="zh-CN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=0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11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zh-CN" altLang="en-US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000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c</m:t>
                    </m:r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altLang="zh-CN" sz="20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</m:e>
                    </m:d>
                    <m:r>
                      <a:rPr lang="en-US" altLang="zh-CN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</m:t>
                    </m:r>
                    <m:r>
                      <a:rPr lang="en-US" altLang="zh-CN" sz="20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  <m:r>
                      <a:rPr lang="en-US" altLang="zh-CN" sz="20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1</m:t>
                    </m:r>
                  </m:oMath>
                </a14:m>
                <a:endParaRPr lang="en-US" altLang="zh-CN" sz="2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D18C4265-D3A0-C90C-4C0F-F669B614E5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  <a:blipFill>
                <a:blip r:embed="rId7"/>
                <a:stretch>
                  <a:fillRect l="-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8537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DD9AD-5DDD-8A7F-6890-D2111838D6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317B97C7-CE81-8803-CEBC-F253F0267DD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42C67797-2543-289D-3807-CB001035953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FBEB4E9-8A09-D3AE-3E4C-52FA058F0E1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A764B6E-2457-C523-1F7E-E7F1BA28DD7E}"/>
              </a:ext>
            </a:extLst>
          </p:cNvPr>
          <p:cNvSpPr txBox="1"/>
          <p:nvPr/>
        </p:nvSpPr>
        <p:spPr>
          <a:xfrm>
            <a:off x="241300" y="26860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Requirements for a Useful Symbol Code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5526D47-9CBF-131B-6D9E-67541FF18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6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B8239DEA-9C9A-A3FD-17B7-F744EBC675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code should achieve as much compression as possible.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expected length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𝐿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ℂ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 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of a symbol code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ℂ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for random variable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is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ℂ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, 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zh-CN" sz="2400" b="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𝒜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𝑋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ℙ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𝑙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𝑖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𝒜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|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CN" sz="24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</m:oMath>
                  </m:oMathPara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Source coding theorem for symbol codes. 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For a random variable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there exists a prefix code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ℂ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with expected length satisfying </a:t>
                </a:r>
              </a:p>
              <a:p>
                <a:pPr marL="400685" lvl="1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𝐻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𝑋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)≤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𝐿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Arial" panose="020B0604020202020204" pitchFamily="34" charset="0"/>
                        </a:rPr>
                        <m:t>ℂ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𝑋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)&lt;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𝐻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𝑋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)+1</m:t>
                      </m:r>
                    </m:oMath>
                  </m:oMathPara>
                </a14:m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B8239DEA-9C9A-A3FD-17B7-F744EBC675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  <a:blipFill>
                <a:blip r:embed="rId7"/>
                <a:stretch>
                  <a:fillRect l="-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1240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8CFC4-ABE5-9AE8-560F-84939DB48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F46B99DB-DB0D-76CC-228B-FAB13F2540A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4F9AAA5F-0FAD-DF3D-5BA9-9D989A76618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7AB4712-4D10-D57E-14BE-280C008241F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C94A6A0-6AF9-4125-4F30-B290FD5A1040}"/>
              </a:ext>
            </a:extLst>
          </p:cNvPr>
          <p:cNvSpPr txBox="1"/>
          <p:nvPr/>
        </p:nvSpPr>
        <p:spPr>
          <a:xfrm>
            <a:off x="241300" y="26860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Huffman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Coding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Algorithm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0BE7BED-B023-FDED-752A-692615C3E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7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B971687A-7064-E696-A1FB-5F8AF5B73F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Build a binary tree from leaves.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Take the two least probable symbols in the alphabet. These two symbols will be given the longest codewords, which will have equal length, and differ only in the last digit.</a:t>
                </a:r>
              </a:p>
              <a:p>
                <a:pPr lvl="1">
                  <a:lnSpc>
                    <a:spcPct val="130000"/>
                  </a:lnSpc>
                </a:pPr>
                <a:r>
                  <a:rPr lang="en-US" altLang="zh-CN" sz="2000" dirty="0">
                    <a:latin typeface="Arial" panose="020B0604020202020204" pitchFamily="34" charset="0"/>
                    <a:cs typeface="Arial" panose="020B0604020202020204" pitchFamily="34" charset="0"/>
                  </a:rPr>
                  <a:t>Combine these two symbols into a single symbol, and repeat.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Consider a random variable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𝒜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={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𝑎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𝑐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𝑑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𝑒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𝒫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={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0.25,0.25,0.2,0.15,0.15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 Construct the Huffman codewords and calculate the entropy and expected length of code (Answer: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𝐻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2.2855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bits,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𝐿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= 2.30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bits)</a:t>
                </a:r>
              </a:p>
              <a:p>
                <a:pPr>
                  <a:lnSpc>
                    <a:spcPct val="130000"/>
                  </a:lnSpc>
                </a:pP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B971687A-7064-E696-A1FB-5F8AF5B73F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  <a:blipFill>
                <a:blip r:embed="rId7"/>
                <a:stretch>
                  <a:fillRect l="-870" r="-14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A3362D7B-E083-6646-B4C1-2B9C1FBAA57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300" y="5237626"/>
            <a:ext cx="7772400" cy="2043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812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D04A4-8101-3F61-2737-FA95F3AB3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5C38575C-D896-F885-CC49-BFFB25D2AB3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3DB0DBD7-71CF-94C4-AF6C-62237B159B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AB23E34-6035-1F9A-03C6-DBC710F1A9C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95DA9B8-983D-032B-D344-C578B27E2B8B}"/>
              </a:ext>
            </a:extLst>
          </p:cNvPr>
          <p:cNvSpPr txBox="1"/>
          <p:nvPr/>
        </p:nvSpPr>
        <p:spPr>
          <a:xfrm>
            <a:off x="241300" y="26860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Pros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and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Cons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of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Huffman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Code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6F01539-A89C-2739-A034-B24826539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8</a:t>
            </a:fld>
            <a:endParaRPr lang="zh-CN" altLang="en-US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8859AA2D-8DB1-EB9B-5685-B1E112384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300" y="882650"/>
            <a:ext cx="10210800" cy="6400800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Advantages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There is no better symbol code for a source than the Huffman code: The Huffman algorithm produces an optimal symbol code for a random variable. 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30000"/>
              </a:lnSpc>
            </a:pP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Disadvantages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Huffman codes do not handle changing source probabilities.</a:t>
            </a:r>
            <a:endParaRPr lang="en-US" altLang="zh-CN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zh-CN" sz="24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 Huffman code incurs an overhead of between 0 and 1 bits per symbol. </a:t>
            </a:r>
          </a:p>
          <a:p>
            <a:pPr>
              <a:lnSpc>
                <a:spcPct val="130000"/>
              </a:lnSpc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486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E651B-E0A7-8F38-4CBD-988694F95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B7FB23C3-4B27-A105-D3DE-7FCCFA3CE23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B8ACBC52-C502-D6EB-4E0C-2B790ECD5B9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4B045AD-758F-547D-75C6-C0B7CF51625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672C6A2-AFA0-9574-A6C2-B49E48360339}"/>
              </a:ext>
            </a:extLst>
          </p:cNvPr>
          <p:cNvSpPr txBox="1"/>
          <p:nvPr/>
        </p:nvSpPr>
        <p:spPr>
          <a:xfrm>
            <a:off x="241300" y="26860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Exercise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AB3EDA0-C7A7-D1F0-B152-32B7E86EF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9</a:t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EC9890F8-3319-1C82-0932-F5433BFFF7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Change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your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selfie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to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picture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with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16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grey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levels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per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pixel.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Implement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Huffman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coding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algorithm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to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compress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picture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(make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sure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that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you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can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recover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your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picture).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Compare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sizes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of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compressed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file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and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that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without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compression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(each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pixel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being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represented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by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4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binary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digits).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Flip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binary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digits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of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compressed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file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with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probability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zh-CN" sz="2400" i="1" dirty="0">
                        <a:latin typeface="Cambria Math" panose="02040503050406030204" pitchFamily="18" charset="0"/>
                      </a:rPr>
                      <m:t>=0.01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Is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it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possible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to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recover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your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selfie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then?</a:t>
                </a:r>
              </a:p>
              <a:p>
                <a:pPr>
                  <a:lnSpc>
                    <a:spcPct val="130000"/>
                  </a:lnSpc>
                </a:pP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Can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you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clearly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explain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compression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method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that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you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find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interesting?</a:t>
                </a:r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:endParaRPr lang="en-US" altLang="zh-C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EC9890F8-3319-1C82-0932-F5433BFFF7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  <a:blipFill>
                <a:blip r:embed="rId7"/>
                <a:stretch>
                  <a:fillRect l="-870" r="-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8793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612B1-B0B1-6E11-AF65-B673747A0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路网">
            <a:extLst>
              <a:ext uri="{FF2B5EF4-FFF2-40B4-BE49-F238E27FC236}">
                <a16:creationId xmlns:a16="http://schemas.microsoft.com/office/drawing/2014/main" id="{B3E58139-B902-C3AC-4881-90C52E1D789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040000" cy="75565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A844E602-E15C-2E2B-E585-B71014F28381}"/>
              </a:ext>
            </a:extLst>
          </p:cNvPr>
          <p:cNvSpPr>
            <a:spLocks/>
          </p:cNvSpPr>
          <p:nvPr/>
        </p:nvSpPr>
        <p:spPr>
          <a:xfrm>
            <a:off x="0" y="0"/>
            <a:ext cx="5040000" cy="7556500"/>
          </a:xfrm>
          <a:prstGeom prst="rect">
            <a:avLst/>
          </a:prstGeom>
          <a:solidFill>
            <a:srgbClr val="7FB7DF">
              <a:alpha val="4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74532D9-D64A-E491-CFF2-BA8CDE0CDA79}"/>
              </a:ext>
            </a:extLst>
          </p:cNvPr>
          <p:cNvSpPr txBox="1"/>
          <p:nvPr/>
        </p:nvSpPr>
        <p:spPr>
          <a:xfrm>
            <a:off x="1433830" y="3092450"/>
            <a:ext cx="18434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7C8A62E-1070-529F-81BB-099AB074EACF}"/>
              </a:ext>
            </a:extLst>
          </p:cNvPr>
          <p:cNvSpPr txBox="1"/>
          <p:nvPr/>
        </p:nvSpPr>
        <p:spPr>
          <a:xfrm>
            <a:off x="1384300" y="3327981"/>
            <a:ext cx="2520168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6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9E8B6EE2-AF14-FEFA-1BF9-156B4574D99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3F0FE8B9-A40F-6647-E8B6-93E4273DD28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016586">
            <a:off x="-1658791" y="5429809"/>
            <a:ext cx="3360712" cy="3360720"/>
          </a:xfrm>
          <a:prstGeom prst="rect">
            <a:avLst/>
          </a:prstGeom>
        </p:spPr>
      </p:pic>
      <p:sp>
        <p:nvSpPr>
          <p:cNvPr id="31" name="椭圆 30">
            <a:extLst>
              <a:ext uri="{FF2B5EF4-FFF2-40B4-BE49-F238E27FC236}">
                <a16:creationId xmlns:a16="http://schemas.microsoft.com/office/drawing/2014/main" id="{85A6057E-9F27-55AD-1310-9568F4AB33D0}"/>
              </a:ext>
            </a:extLst>
          </p:cNvPr>
          <p:cNvSpPr/>
          <p:nvPr/>
        </p:nvSpPr>
        <p:spPr>
          <a:xfrm>
            <a:off x="705330" y="5453840"/>
            <a:ext cx="945670" cy="945670"/>
          </a:xfrm>
          <a:prstGeom prst="ellipse">
            <a:avLst/>
          </a:prstGeom>
          <a:solidFill>
            <a:schemeClr val="bg1">
              <a:alpha val="2605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D993E05D-FF3A-06E7-EC0A-3AC84834F96E}"/>
              </a:ext>
            </a:extLst>
          </p:cNvPr>
          <p:cNvSpPr/>
          <p:nvPr/>
        </p:nvSpPr>
        <p:spPr>
          <a:xfrm>
            <a:off x="9415675" y="6656365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A669AA1-FDFA-9DCE-1928-06702B22E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10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8F76A68-1B55-E4C9-7FE6-9ED475A674D7}"/>
              </a:ext>
            </a:extLst>
          </p:cNvPr>
          <p:cNvSpPr txBox="1"/>
          <p:nvPr/>
        </p:nvSpPr>
        <p:spPr>
          <a:xfrm>
            <a:off x="5270500" y="1720850"/>
            <a:ext cx="5334000" cy="1356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Compression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with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Huffman</a:t>
            </a:r>
            <a:r>
              <a:rPr kumimoji="1" lang="zh-CN" altLang="en-US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Code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kumimoji="1"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Error</a:t>
            </a:r>
            <a:r>
              <a:rPr kumimoji="1"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Correction</a:t>
            </a:r>
            <a:r>
              <a:rPr kumimoji="1"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with</a:t>
            </a:r>
            <a:r>
              <a:rPr kumimoji="1"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Hamming</a:t>
            </a:r>
            <a:r>
              <a:rPr kumimoji="1"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b="1" dirty="0">
                <a:solidFill>
                  <a:srgbClr val="FF0000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823956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8E877-D731-A028-1854-5A6AA671C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43A98B84-56E1-1C8C-D938-C8AD582E90E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3536837F-00F0-E64B-FD33-6BA9AACE0BF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3C51B66-6190-8B91-7CCC-6951F887E70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5C3334C-905F-9971-715A-A4528C582FF4}"/>
              </a:ext>
            </a:extLst>
          </p:cNvPr>
          <p:cNvSpPr txBox="1"/>
          <p:nvPr/>
        </p:nvSpPr>
        <p:spPr>
          <a:xfrm>
            <a:off x="241300" y="268605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Channel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Coding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48FE47B-FB11-737C-5C46-5F864A6C1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11</a:t>
            </a:fld>
            <a:endParaRPr lang="zh-CN" altLang="en-US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DF296B97-8AAC-A994-1D1C-119C8E2558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300" y="882650"/>
            <a:ext cx="10210800" cy="6400800"/>
          </a:xfrm>
        </p:spPr>
        <p:txBody>
          <a:bodyPr>
            <a:normAutofit/>
          </a:bodyPr>
          <a:lstStyle/>
          <a:p>
            <a:endParaRPr lang="en-US" altLang="zh-CN" sz="2400" dirty="0">
              <a:latin typeface="Arial" panose="020B0604020202020204" pitchFamily="34" charset="0"/>
              <a:ea typeface="Microsoft YaHei" panose="020B0503020204020204" pitchFamily="34" charset="-122"/>
              <a:cs typeface="Arial" panose="020B0604020202020204" pitchFamily="34" charset="0"/>
            </a:endParaRPr>
          </a:p>
          <a:p>
            <a:r>
              <a:rPr lang="zh-CN" altLang="zh-CN" sz="24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Real channels are always noisy. </a:t>
            </a:r>
          </a:p>
          <a:p>
            <a:pPr>
              <a:lnSpc>
                <a:spcPct val="130000"/>
              </a:lnSpc>
            </a:pPr>
            <a:r>
              <a:rPr lang="zh-CN" altLang="zh-CN" sz="2400" dirty="0"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rPr>
              <a:t>Channel coding allows a noisy channel to behave like a noiseless channel, by adding redundancy designed to make the noisy received signal decodeable. </a:t>
            </a:r>
          </a:p>
          <a:p>
            <a:pPr>
              <a:lnSpc>
                <a:spcPct val="130000"/>
              </a:lnSpc>
            </a:pPr>
            <a:endParaRPr lang="en-US" altLang="zh-C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219B28E-DE81-50CD-3596-38AE44E53B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8673" y="3462601"/>
            <a:ext cx="5596053" cy="3744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6174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89DB4-BAD8-6D4C-12DB-A44EE8BC5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5D5187FE-0C85-D38E-CB90-784C2A9168C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42023C8A-1292-F665-5379-5CC82D508E1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984E2FF-F992-3B33-21D2-373315A782D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88AF00F-521B-2CC2-E6BB-C2C1F5D81325}"/>
                  </a:ext>
                </a:extLst>
              </p:cNvPr>
              <p:cNvSpPr txBox="1"/>
              <p:nvPr/>
            </p:nvSpPr>
            <p:spPr>
              <a:xfrm>
                <a:off x="241300" y="268605"/>
                <a:ext cx="5791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2400" b="1" dirty="0">
                    <a:solidFill>
                      <a:srgbClr val="0070C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Linear</a:t>
                </a:r>
                <a:r>
                  <a:rPr kumimoji="1" lang="zh-CN" altLang="en-US" sz="2400" b="1" dirty="0">
                    <a:solidFill>
                      <a:srgbClr val="0070C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4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(</m:t>
                    </m:r>
                    <m:r>
                      <a:rPr kumimoji="1" lang="en-US" altLang="zh-CN" sz="24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𝑁</m:t>
                    </m:r>
                    <m:r>
                      <a:rPr kumimoji="1" lang="en-US" altLang="zh-CN" sz="24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,</m:t>
                    </m:r>
                    <m:r>
                      <a:rPr kumimoji="1" lang="en-US" altLang="zh-CN" sz="24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𝐾</m:t>
                    </m:r>
                    <m:r>
                      <a:rPr kumimoji="1" lang="en-US" altLang="zh-CN" sz="2400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)</m:t>
                    </m:r>
                    <m:r>
                      <a:rPr kumimoji="1" lang="zh-CN" altLang="en-US" sz="24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kumimoji="1" lang="en-US" altLang="zh-CN" sz="2400" b="1" dirty="0">
                    <a:solidFill>
                      <a:srgbClr val="0070C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Block</a:t>
                </a:r>
                <a:r>
                  <a:rPr kumimoji="1" lang="zh-CN" altLang="en-US" sz="2400" b="1" dirty="0">
                    <a:solidFill>
                      <a:srgbClr val="0070C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 </a:t>
                </a:r>
                <a:r>
                  <a:rPr kumimoji="1" lang="en-US" altLang="zh-CN" sz="2400" b="1" dirty="0">
                    <a:solidFill>
                      <a:srgbClr val="0070C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Code</a:t>
                </a:r>
                <a:endParaRPr kumimoji="1" lang="zh-CN" altLang="en-US" sz="2400" b="1" dirty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88AF00F-521B-2CC2-E6BB-C2C1F5D813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300" y="268605"/>
                <a:ext cx="5791200" cy="461665"/>
              </a:xfrm>
              <a:prstGeom prst="rect">
                <a:avLst/>
              </a:prstGeom>
              <a:blipFill>
                <a:blip r:embed="rId7"/>
                <a:stretch>
                  <a:fillRect l="-1751" t="-10811" b="-270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E53450A-5876-A624-BB4F-7D9EA73EA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12</a:t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4E698D19-44AB-0E41-E34C-593DD2C641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An </a:t>
                </a:r>
                <a14:m>
                  <m:oMath xmlns:m="http://schemas.openxmlformats.org/officeDocument/2006/math">
                    <m:r>
                      <a:rPr lang="zh-CN" altLang="zh-CN" sz="24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(</m:t>
                    </m:r>
                    <m:r>
                      <a:rPr lang="zh-CN" altLang="zh-CN" sz="24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𝑁</m:t>
                    </m:r>
                    <m:r>
                      <a:rPr lang="zh-CN" altLang="zh-CN" sz="24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,</m:t>
                    </m:r>
                    <m:r>
                      <a:rPr lang="zh-CN" altLang="zh-CN" sz="24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𝐾</m:t>
                    </m:r>
                    <m:r>
                      <a:rPr lang="zh-CN" altLang="zh-CN" sz="24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block code is a rule for converting a sequence of source bits </a:t>
                </a:r>
                <a14:m>
                  <m:oMath xmlns:m="http://schemas.openxmlformats.org/officeDocument/2006/math">
                    <m:r>
                      <a:rPr lang="zh-CN" altLang="zh-CN" sz="2400" b="1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𝒔</m:t>
                    </m:r>
                  </m:oMath>
                </a14:m>
                <a:r>
                  <a:rPr lang="zh-CN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of length </a:t>
                </a:r>
                <a14:m>
                  <m:oMath xmlns:m="http://schemas.openxmlformats.org/officeDocument/2006/math">
                    <m:r>
                      <a:rPr lang="zh-CN" altLang="zh-CN" sz="24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𝐾</m:t>
                    </m:r>
                  </m:oMath>
                </a14:m>
                <a:r>
                  <a:rPr lang="zh-CN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into a transmitted sequence </a:t>
                </a:r>
                <a14:m>
                  <m:oMath xmlns:m="http://schemas.openxmlformats.org/officeDocument/2006/math">
                    <m:r>
                      <a:rPr lang="zh-CN" altLang="zh-CN" sz="2400" b="1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𝒕</m:t>
                    </m:r>
                  </m:oMath>
                </a14:m>
                <a:r>
                  <a:rPr lang="zh-CN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of length </a:t>
                </a:r>
                <a14:m>
                  <m:oMath xmlns:m="http://schemas.openxmlformats.org/officeDocument/2006/math">
                    <m:r>
                      <a:rPr lang="zh-CN" altLang="zh-CN" sz="24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𝑁</m:t>
                    </m:r>
                  </m:oMath>
                </a14:m>
                <a:r>
                  <a:rPr lang="zh-CN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bits. </a:t>
                </a:r>
                <a:endParaRPr lang="en-US" altLang="zh-CN" sz="2400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Having </a:t>
                </a:r>
                <a14:m>
                  <m:oMath xmlns:m="http://schemas.openxmlformats.org/officeDocument/2006/math">
                    <m:r>
                      <a:rPr lang="zh-CN" altLang="zh-CN" sz="24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𝑁</m:t>
                    </m:r>
                    <m:r>
                      <a:rPr lang="zh-CN" altLang="zh-CN" sz="24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&gt;</m:t>
                    </m:r>
                    <m:r>
                      <a:rPr lang="zh-CN" altLang="zh-CN" sz="24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𝐾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</a:t>
                </a:r>
                <a:r>
                  <a:rPr lang="zh-CN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means that redundancy is added.</a:t>
                </a:r>
                <a:endParaRPr lang="en-US" altLang="zh-CN" sz="2400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In a linear block code, the extra </a:t>
                </a:r>
                <a14:m>
                  <m:oMath xmlns:m="http://schemas.openxmlformats.org/officeDocument/2006/math">
                    <m:r>
                      <a:rPr lang="zh-CN" altLang="zh-CN" sz="24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(</m:t>
                    </m:r>
                    <m:r>
                      <a:rPr lang="zh-CN" altLang="zh-CN" sz="24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𝑁</m:t>
                    </m:r>
                    <m:r>
                      <a:rPr lang="zh-CN" altLang="zh-CN" sz="24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−</m:t>
                    </m:r>
                    <m:r>
                      <a:rPr lang="zh-CN" altLang="zh-CN" sz="24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𝐾</m:t>
                    </m:r>
                    <m:r>
                      <a:rPr lang="zh-CN" altLang="zh-CN" sz="24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bits, called </a:t>
                </a:r>
                <a:r>
                  <a:rPr lang="zh-CN" altLang="zh-CN" sz="2400" dirty="0">
                    <a:solidFill>
                      <a:schemeClr val="accent1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parity-check bits</a:t>
                </a:r>
                <a:r>
                  <a:rPr lang="zh-CN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, are linear functions of the original </a:t>
                </a:r>
                <a14:m>
                  <m:oMath xmlns:m="http://schemas.openxmlformats.org/officeDocument/2006/math">
                    <m:r>
                      <a:rPr lang="zh-CN" altLang="zh-CN" sz="24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𝐾</m:t>
                    </m:r>
                  </m:oMath>
                </a14:m>
                <a:r>
                  <a:rPr lang="zh-CN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bits. </a:t>
                </a:r>
                <a:endParaRPr lang="en-US" altLang="zh-CN" sz="2400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The</a:t>
                </a:r>
                <a:r>
                  <a:rPr lang="zh-CN" altLang="en-US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R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repetition</a:t>
                </a:r>
                <a:r>
                  <a:rPr lang="zh-CN" altLang="en-US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code</a:t>
                </a:r>
                <a:r>
                  <a:rPr lang="zh-CN" altLang="en-US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is</a:t>
                </a:r>
                <a:r>
                  <a:rPr lang="zh-CN" altLang="en-US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a</a:t>
                </a:r>
                <a:r>
                  <a:rPr lang="zh-CN" altLang="en-US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(3,1)</m:t>
                    </m:r>
                    <m:r>
                      <a:rPr lang="zh-CN" altLang="en-US" sz="24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 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block</a:t>
                </a:r>
                <a:r>
                  <a:rPr lang="zh-CN" altLang="en-US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code.</a:t>
                </a:r>
                <a:r>
                  <a:rPr lang="zh-CN" altLang="en-US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</a:t>
                </a:r>
                <a:endParaRPr lang="en-US" altLang="zh-CN" sz="2400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The</a:t>
                </a:r>
                <a:r>
                  <a:rPr lang="zh-CN" altLang="en-US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zh-CN" sz="2400" i="1" dirty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(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4</m:t>
                    </m:r>
                    <m:r>
                      <a:rPr lang="zh-CN" altLang="zh-CN" sz="2400" i="1" dirty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,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3</m:t>
                    </m:r>
                    <m:r>
                      <a:rPr lang="zh-CN" altLang="zh-CN" sz="2400" i="1" dirty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even</a:t>
                </a:r>
                <a:r>
                  <a:rPr lang="zh-CN" altLang="en-US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parity</a:t>
                </a:r>
                <a:r>
                  <a:rPr lang="zh-CN" altLang="en-US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check</a:t>
                </a:r>
                <a:r>
                  <a:rPr lang="zh-CN" altLang="en-US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code</a:t>
                </a:r>
                <a:r>
                  <a:rPr lang="zh-CN" altLang="en-US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has</a:t>
                </a:r>
                <a:r>
                  <a:rPr lang="zh-CN" altLang="en-US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encoding</a:t>
                </a:r>
                <a:r>
                  <a:rPr lang="zh-CN" altLang="en-US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rule</a:t>
                </a:r>
                <a:r>
                  <a:rPr lang="zh-CN" altLang="en-US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as</a:t>
                </a:r>
                <a:r>
                  <a:rPr lang="zh-CN" altLang="en-US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000→0000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,</a:t>
                </a:r>
                <a:r>
                  <a:rPr lang="zh-CN" altLang="en-US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0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0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1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→0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011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,</a:t>
                </a:r>
                <a:r>
                  <a:rPr lang="zh-CN" altLang="en-US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0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0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1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0→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01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0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1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,</a:t>
                </a:r>
                <a:r>
                  <a:rPr lang="zh-CN" altLang="en-US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0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0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1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1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0110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,</a:t>
                </a:r>
                <a:r>
                  <a:rPr lang="zh-CN" altLang="en-US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1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00→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1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00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1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,</a:t>
                </a:r>
                <a:r>
                  <a:rPr lang="zh-CN" altLang="en-US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1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0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1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1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01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0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,</a:t>
                </a:r>
                <a:r>
                  <a:rPr lang="zh-CN" altLang="en-US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1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1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0→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1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1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0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0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,</a:t>
                </a:r>
                <a:r>
                  <a:rPr lang="zh-CN" altLang="en-US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1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11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1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11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1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,</a:t>
                </a:r>
                <a:r>
                  <a:rPr lang="zh-CN" altLang="en-US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and</a:t>
                </a:r>
                <a:r>
                  <a:rPr lang="zh-CN" altLang="en-US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can</a:t>
                </a:r>
                <a:r>
                  <a:rPr lang="zh-CN" altLang="en-US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detect</a:t>
                </a:r>
                <a:r>
                  <a:rPr lang="zh-CN" altLang="en-US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a</a:t>
                </a:r>
                <a:r>
                  <a:rPr lang="zh-CN" altLang="en-US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single</a:t>
                </a:r>
                <a:r>
                  <a:rPr lang="zh-CN" altLang="en-US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error.</a:t>
                </a:r>
                <a:r>
                  <a:rPr lang="zh-CN" altLang="en-US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 </a:t>
                </a:r>
                <a:endParaRPr lang="en-US" altLang="zh-CN" sz="2400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4E698D19-44AB-0E41-E34C-593DD2C641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  <a:blipFill>
                <a:blip r:embed="rId8"/>
                <a:stretch>
                  <a:fillRect l="-870" r="-1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14272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FB6DB-7EC3-7681-86FF-89399106F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111E7381-9783-DD18-6569-19F72759EBC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42972B0F-9382-7948-6D05-BD7B5DB03B2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7D273D0-194E-A456-6C4E-6F273FE83D2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10FF541-3B58-1E25-4A5D-31224475588C}"/>
                  </a:ext>
                </a:extLst>
              </p:cNvPr>
              <p:cNvSpPr txBox="1"/>
              <p:nvPr/>
            </p:nvSpPr>
            <p:spPr>
              <a:xfrm>
                <a:off x="241300" y="268605"/>
                <a:ext cx="57912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400" b="1" dirty="0" smtClean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(</m:t>
                    </m:r>
                    <m:r>
                      <a:rPr kumimoji="1" lang="en-US" altLang="zh-CN" sz="2400" b="1" i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𝟕</m:t>
                    </m:r>
                    <m:r>
                      <a:rPr kumimoji="1" lang="en-US" altLang="zh-CN" sz="2400" b="1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,</m:t>
                    </m:r>
                    <m:r>
                      <a:rPr kumimoji="1" lang="en-US" altLang="zh-CN" sz="2400" b="1" i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𝟒</m:t>
                    </m:r>
                    <m:r>
                      <a:rPr kumimoji="1" lang="en-US" altLang="zh-CN" sz="2400" b="1" dirty="0">
                        <a:solidFill>
                          <a:srgbClr val="0070C0"/>
                        </a:solidFill>
                        <a:latin typeface="Arial" panose="020B0604020202020204" pitchFamily="34" charset="0"/>
                        <a:ea typeface="微软雅黑" panose="020B0503020204020204" pitchFamily="34" charset="-122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kumimoji="1" lang="zh-CN" altLang="en-US" sz="2400" b="1" dirty="0">
                    <a:solidFill>
                      <a:srgbClr val="0070C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 </a:t>
                </a:r>
                <a:r>
                  <a:rPr kumimoji="1" lang="en-US" altLang="zh-CN" sz="2400" b="1" dirty="0">
                    <a:solidFill>
                      <a:srgbClr val="0070C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Hamming</a:t>
                </a:r>
                <a:r>
                  <a:rPr kumimoji="1" lang="zh-CN" altLang="en-US" sz="2400" b="1" dirty="0">
                    <a:solidFill>
                      <a:srgbClr val="0070C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 </a:t>
                </a:r>
                <a:r>
                  <a:rPr kumimoji="1" lang="en-US" altLang="zh-CN" sz="2400" b="1" dirty="0">
                    <a:solidFill>
                      <a:srgbClr val="0070C0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Code</a:t>
                </a:r>
                <a:endParaRPr kumimoji="1" lang="zh-CN" altLang="en-US" sz="2400" b="1" dirty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10FF541-3B58-1E25-4A5D-312244755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300" y="268605"/>
                <a:ext cx="5791200" cy="461665"/>
              </a:xfrm>
              <a:prstGeom prst="rect">
                <a:avLst/>
              </a:prstGeom>
              <a:blipFill>
                <a:blip r:embed="rId7"/>
                <a:stretch>
                  <a:fillRect l="-1094" t="-10811" b="-270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8F6FD65-F5AB-2C19-55D5-1CAD49847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13</a:t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76CFDAC3-DE1F-D1DE-D794-AB50C2F824F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zh-CN" altLang="zh-CN" sz="24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(7, 4)</m:t>
                    </m:r>
                  </m:oMath>
                </a14:m>
                <a:r>
                  <a:rPr lang="zh-CN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Hamming code transmits </a:t>
                </a:r>
                <a14:m>
                  <m:oMath xmlns:m="http://schemas.openxmlformats.org/officeDocument/2006/math">
                    <m:r>
                      <a:rPr lang="zh-CN" altLang="zh-CN" sz="24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𝑁</m:t>
                    </m:r>
                    <m:r>
                      <a:rPr lang="zh-CN" altLang="zh-CN" sz="24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=7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</a:t>
                </a:r>
                <a:r>
                  <a:rPr lang="zh-CN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bits for every </a:t>
                </a:r>
                <a14:m>
                  <m:oMath xmlns:m="http://schemas.openxmlformats.org/officeDocument/2006/math">
                    <m:r>
                      <a:rPr lang="zh-CN" altLang="zh-CN" sz="24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𝐾</m:t>
                    </m:r>
                    <m:r>
                      <a:rPr lang="zh-CN" altLang="zh-CN" sz="24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=4</m:t>
                    </m:r>
                  </m:oMath>
                </a14:m>
                <a:r>
                  <a:rPr lang="zh-CN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source bits. </a:t>
                </a:r>
                <a:endParaRPr lang="en-US" altLang="zh-CN" sz="2400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The first four transmitted bits,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CN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, are set equal to the four source bits,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𝑠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CN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. </a:t>
                </a:r>
                <a:endParaRPr lang="en-US" altLang="zh-CN" sz="2400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Arrange the seven transmitted bits in three intersecting circles. </a:t>
                </a:r>
                <a:endParaRPr lang="en-US" altLang="zh-CN" sz="2400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The parity-check bits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6</m:t>
                        </m:r>
                      </m:sub>
                    </m:sSub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7</m:t>
                        </m:r>
                      </m:sub>
                    </m:sSub>
                  </m:oMath>
                </a14:m>
                <a:r>
                  <a:rPr lang="zh-CN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are set so that the parity within each circle is even. (E.g., </a:t>
                </a:r>
                <a14:m>
                  <m:oMath xmlns:m="http://schemas.openxmlformats.org/officeDocument/2006/math">
                    <m:r>
                      <a:rPr lang="zh-CN" altLang="zh-CN" sz="24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1000→1000101</m:t>
                    </m:r>
                  </m:oMath>
                </a14:m>
                <a:r>
                  <a:rPr lang="zh-CN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) </a:t>
                </a:r>
                <a:endParaRPr lang="en-US" altLang="zh-CN" sz="2400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Any pair of codewords differ in at least three bits. </a:t>
                </a:r>
                <a:endParaRPr lang="zh-CN" altLang="zh-CN" sz="2400" dirty="0">
                  <a:effectLst/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76CFDAC3-DE1F-D1DE-D794-AB50C2F824F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  <a:blipFill>
                <a:blip r:embed="rId8"/>
                <a:stretch>
                  <a:fillRect l="-870" r="-7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0F055197-2D84-9EFA-3391-D0F0EC08B3E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5896" y="5264870"/>
            <a:ext cx="5081608" cy="2147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084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6B8D6-C48D-956E-D98F-48052CCB2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F8B3477F-D552-911C-5EFC-39CF51F8FD1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AB0BDAFA-FACB-47BB-CD5C-BBD11391AF0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156C2CA-647A-42F8-B675-BF6B7D82D65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01938ED-286A-91B9-B4EB-71CE74BC97E2}"/>
              </a:ext>
            </a:extLst>
          </p:cNvPr>
          <p:cNvSpPr txBox="1"/>
          <p:nvPr/>
        </p:nvSpPr>
        <p:spPr>
          <a:xfrm>
            <a:off x="241300" y="268605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Syndrome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Decoding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53A1BF0-455A-9311-AC79-282F5F322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14</a:t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9C109AC3-770B-2409-356D-3B46E913A9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5334000" cy="64008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The decoding task is to find the smallest set of flipped bits that can account for these violations of the parity rules. </a:t>
                </a:r>
              </a:p>
              <a:p>
                <a:pPr>
                  <a:lnSpc>
                    <a:spcPct val="130000"/>
                  </a:lnSpc>
                </a:pPr>
                <a:r>
                  <a:rPr lang="zh-CN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The pattern of violations of the parity checks is called the syndrome, and can be written as a binary vector, e.g., the syndrome</a:t>
                </a:r>
                <a:r>
                  <a:rPr lang="en-US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.</a:t>
                </a:r>
                <a:endParaRPr lang="zh-CN" altLang="zh-CN" sz="2400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zh-CN" altLang="zh-CN" sz="24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𝑧</m:t>
                    </m:r>
                    <m:r>
                      <a:rPr lang="zh-CN" altLang="zh-CN" sz="24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=(1, 1, 0)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</a:t>
                </a:r>
                <a:r>
                  <a:rPr lang="zh-CN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says the first two circles are </a:t>
                </a:r>
                <a:r>
                  <a:rPr lang="en-US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“</a:t>
                </a:r>
                <a:r>
                  <a:rPr lang="zh-CN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unhappy</a:t>
                </a:r>
                <a:r>
                  <a:rPr lang="en-US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”</a:t>
                </a:r>
                <a:r>
                  <a:rPr lang="zh-CN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and the third circle is </a:t>
                </a:r>
                <a:r>
                  <a:rPr lang="en-US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“</a:t>
                </a:r>
                <a:r>
                  <a:rPr lang="zh-CN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happy</a:t>
                </a:r>
                <a:r>
                  <a:rPr lang="en-US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.”</a:t>
                </a:r>
                <a:r>
                  <a:rPr lang="zh-CN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</a:t>
                </a:r>
              </a:p>
              <a:p>
                <a:pPr>
                  <a:lnSpc>
                    <a:spcPct val="130000"/>
                  </a:lnSpc>
                </a:pPr>
                <a:endPara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9C109AC3-770B-2409-356D-3B46E913A9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5334000" cy="6400800"/>
              </a:xfrm>
              <a:blipFill>
                <a:blip r:embed="rId7"/>
                <a:stretch>
                  <a:fillRect l="-1663" r="-28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AF63ED5D-59BE-3BB2-0AD5-6DC274E85E1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9651" y="1600675"/>
            <a:ext cx="4875902" cy="4353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052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F5783-6584-7C7E-753B-CA68DD6B2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B98CC916-483A-FD34-C5E9-48A761868FA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6CBCB0D6-F389-9B85-0956-58094F55E2F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E29A5CE-CBDC-6224-D9A6-8A4F28CF170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CDD7CD7-9BC5-2B7B-1867-590A4ED4FEE4}"/>
              </a:ext>
            </a:extLst>
          </p:cNvPr>
          <p:cNvSpPr txBox="1"/>
          <p:nvPr/>
        </p:nvSpPr>
        <p:spPr>
          <a:xfrm>
            <a:off x="241300" y="268605"/>
            <a:ext cx="579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Syndrome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Decoding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BB74BF2-EEFE-FCCE-38F5-7040C5DC1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15</a:t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DEC58004-F3E7-8EFF-BC82-6E02255D6C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5334000" cy="6400800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If we find a unique bit that lies inside all the </a:t>
                </a:r>
                <a:r>
                  <a:rPr lang="en-US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“</a:t>
                </a:r>
                <a:r>
                  <a:rPr lang="zh-CN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unhappy</a:t>
                </a:r>
                <a:r>
                  <a:rPr lang="en-US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”</a:t>
                </a:r>
                <a:r>
                  <a:rPr lang="zh-CN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circles and outside all the </a:t>
                </a:r>
                <a:r>
                  <a:rPr lang="en-US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“</a:t>
                </a:r>
                <a:r>
                  <a:rPr lang="zh-CN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happy</a:t>
                </a:r>
                <a:r>
                  <a:rPr lang="en-US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”</a:t>
                </a:r>
                <a:r>
                  <a:rPr lang="zh-CN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circles, the flipping of that bit would account for the observed syndrome.</a:t>
                </a:r>
                <a:endParaRPr lang="en-US" altLang="zh-CN" sz="2400" dirty="0"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zh-CN" altLang="zh-CN" sz="2400" i="1" dirty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Arial" panose="020B0604020202020204" pitchFamily="34" charset="0"/>
                      </a:rPr>
                      <m:t>(7, 4)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</a:t>
                </a:r>
                <a:r>
                  <a:rPr lang="zh-CN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Hamming code can recover one-bit error. </a:t>
                </a:r>
              </a:p>
              <a:p>
                <a:pPr>
                  <a:lnSpc>
                    <a:spcPct val="130000"/>
                  </a:lnSpc>
                </a:pPr>
                <a:r>
                  <a:rPr lang="zh-CN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What happens if the noise</a:t>
                </a:r>
                <a:br>
                  <a:rPr lang="zh-CN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</a:br>
                <a:r>
                  <a:rPr lang="zh-CN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actually flips more than one</a:t>
                </a:r>
                <a:br>
                  <a:rPr lang="zh-CN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</a:br>
                <a:r>
                  <a:rPr lang="zh-CN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bit,</a:t>
                </a:r>
                <a:r>
                  <a:rPr lang="zh-CN" altLang="en-US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</a:t>
                </a:r>
                <a:r>
                  <a:rPr lang="zh-CN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say</a:t>
                </a:r>
                <a:r>
                  <a:rPr lang="zh-CN" altLang="en-US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zh-CN" altLang="zh-CN" sz="240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Arial" panose="020B0604020202020204" pitchFamily="34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Arial" panose="020B0604020202020204" pitchFamily="34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</a:t>
                </a:r>
                <a:r>
                  <a:rPr lang="zh-CN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and</a:t>
                </a:r>
                <a:r>
                  <a:rPr lang="zh-CN" altLang="en-US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zh-CN" altLang="zh-CN" sz="2400" i="1" dirty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Arial" panose="020B0604020202020204" pitchFamily="34" charset="0"/>
                          </a:rPr>
                          <m:t>𝑟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Arial" panose="020B0604020202020204" pitchFamily="34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lang="zh-CN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? </a:t>
                </a:r>
              </a:p>
              <a:p>
                <a:pPr>
                  <a:lnSpc>
                    <a:spcPct val="130000"/>
                  </a:lnSpc>
                </a:pPr>
                <a:r>
                  <a:rPr lang="zh-CN" altLang="zh-CN" sz="2400" dirty="0"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</a:rPr>
                  <a:t>Any two-bit error pattern will lead to a decoded seven-bit vector that contains three errors.  </a:t>
                </a:r>
              </a:p>
              <a:p>
                <a:pPr>
                  <a:lnSpc>
                    <a:spcPct val="130000"/>
                  </a:lnSpc>
                </a:pPr>
                <a:endParaRPr lang="en-US" altLang="zh-CN" sz="24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DEC58004-F3E7-8EFF-BC82-6E02255D6C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5334000" cy="6400800"/>
              </a:xfrm>
              <a:blipFill>
                <a:blip r:embed="rId7"/>
                <a:stretch>
                  <a:fillRect l="-1663" t="-198" r="-23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046BED69-1E0E-8939-196B-B95FFD673A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9651" y="1600675"/>
            <a:ext cx="4875902" cy="4353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4966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53EBC-B355-7638-4611-22DF29551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561D1B58-5B96-E023-ADD8-7B18E439556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48BEDDBF-2C62-5259-05F8-FC5EB10EBFC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FB22F72-C7A5-2905-D6C8-D413874D659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47C224F-B996-D250-ACFE-BDCC74CA2E13}"/>
              </a:ext>
            </a:extLst>
          </p:cNvPr>
          <p:cNvSpPr txBox="1"/>
          <p:nvPr/>
        </p:nvSpPr>
        <p:spPr>
          <a:xfrm>
            <a:off x="241300" y="26860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Exercise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9008239-2591-E8BE-F78D-65C691DAA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16</a:t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F3025A0F-D5D2-1624-0107-399CC2DDF1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Change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your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selfie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to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picture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with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16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grey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levels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per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pixel.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Implement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Huffman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coding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algorithm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to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compress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picture.</a:t>
                </a:r>
              </a:p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Flip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binary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digits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of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compressed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file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with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probabilities</a:t>
                </a:r>
                <a14:m>
                  <m:oMath xmlns:m="http://schemas.openxmlformats.org/officeDocument/2006/math">
                    <m:r>
                      <a:rPr lang="zh-CN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zh-CN" sz="2400" i="1" dirty="0"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zh-CN" sz="2400" i="1" dirty="0">
                        <a:latin typeface="Cambria Math" panose="02040503050406030204" pitchFamily="18" charset="0"/>
                      </a:rPr>
                      <m:t>=0.01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zh-CN" sz="2400" i="1" dirty="0">
                        <a:latin typeface="Cambria Math" panose="02040503050406030204" pitchFamily="18" charset="0"/>
                      </a:rPr>
                      <m:t>=0.0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zh-CN" altLang="zh-CN" sz="2400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and</a:t>
                </a:r>
                <a14:m>
                  <m:oMath xmlns:m="http://schemas.openxmlformats.org/officeDocument/2006/math">
                    <m:r>
                      <a:rPr lang="zh-CN" altLang="zh-CN" sz="24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zh-CN" altLang="zh-CN" sz="2400" i="1" dirty="0">
                        <a:latin typeface="Cambria Math" panose="02040503050406030204" pitchFamily="18" charset="0"/>
                      </a:rPr>
                      <m:t>=0.0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00</m:t>
                    </m:r>
                    <m:r>
                      <a:rPr lang="zh-CN" altLang="zh-CN" sz="2400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Is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it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possible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to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recover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your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selfie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then?</a:t>
                </a:r>
              </a:p>
            </p:txBody>
          </p:sp>
        </mc:Choice>
        <mc:Fallback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F3025A0F-D5D2-1624-0107-399CC2DDF1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  <a:blipFill>
                <a:blip r:embed="rId7"/>
                <a:stretch>
                  <a:fillRect l="-870" r="-6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84377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B78A2-B6D3-CBB8-B33C-B0974A728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F00892B3-FFD7-CFEC-D558-C32E9522BF7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313BF01C-89E6-4BD2-0554-8282C3105CA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EEF4D0-A87E-C11B-67BA-CAE5542DD38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D2F9363-9891-0C83-F429-DA7140FC05FD}"/>
              </a:ext>
            </a:extLst>
          </p:cNvPr>
          <p:cNvSpPr txBox="1"/>
          <p:nvPr/>
        </p:nvSpPr>
        <p:spPr>
          <a:xfrm>
            <a:off x="241300" y="26860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Transmission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Rate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vs.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Error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Probability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EEE4FBC-91F3-06F0-D0C7-809D86FF9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17</a:t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6175BCAC-A605-9CCD-81B9-3D1F9CB6C2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Before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Shannon,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i</a:t>
                </a:r>
                <a:r>
                  <a:rPr lang="zh-CN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 was believed that the boundary between achievable and non-achievable points in the </a:t>
                </a:r>
                <a14:m>
                  <m:oMath xmlns:m="http://schemas.openxmlformats.org/officeDocument/2006/math">
                    <m:r>
                      <a:rPr lang="zh-CN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r>
                      <a:rPr lang="zh-CN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𝑅</m:t>
                    </m:r>
                    <m:r>
                      <a:rPr lang="zh-CN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zh-CN" altLang="zh-CN" sz="240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sub>
                    </m:sSub>
                    <m:r>
                      <a:rPr lang="zh-CN" altLang="zh-CN" sz="240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)</m:t>
                    </m:r>
                  </m:oMath>
                </a14:m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zh-CN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plane was a curve passing through the origin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zh-CN" altLang="zh-CN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𝑅</m:t>
                        </m:r>
                        <m:r>
                          <a:rPr lang="zh-CN" altLang="zh-CN" sz="2400" i="1" dirty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zh-CN" altLang="zh-CN" sz="24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𝑏</m:t>
                            </m:r>
                          </m:sub>
                        </m:sSub>
                      </m:e>
                    </m:d>
                    <m:r>
                      <a:rPr lang="en-US" altLang="zh-CN" sz="2400" b="0" i="0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=(0,0)</m:t>
                    </m:r>
                  </m:oMath>
                </a14:m>
                <a:r>
                  <a:rPr lang="zh-CN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 </a:t>
                </a:r>
                <a:endParaRPr lang="zh-CN" altLang="zh-CN" sz="2400" dirty="0"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6175BCAC-A605-9CCD-81B9-3D1F9CB6C2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  <a:blipFill>
                <a:blip r:embed="rId7"/>
                <a:stretch>
                  <a:fillRect l="-8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E6449813-3134-1D6D-16F4-2F1BEFAECFE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500" y="2976154"/>
            <a:ext cx="7772400" cy="3875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1674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338D4-BFB9-785A-71AF-109C87C00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D90202D8-D2C7-847E-90AA-2DB3C890D18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sp>
        <p:nvSpPr>
          <p:cNvPr id="9" name="椭圆 8">
            <a:extLst>
              <a:ext uri="{FF2B5EF4-FFF2-40B4-BE49-F238E27FC236}">
                <a16:creationId xmlns:a16="http://schemas.microsoft.com/office/drawing/2014/main" id="{165AE89E-1201-442A-CD4D-4E701967A73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9379686" y="6539710"/>
            <a:ext cx="1604513" cy="160451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436E705-EF5A-B6E1-3409-2BADBF8FE23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5110" y="273050"/>
            <a:ext cx="2057400" cy="460375"/>
          </a:xfrm>
          <a:prstGeom prst="rect">
            <a:avLst/>
          </a:prstGeom>
          <a:gradFill>
            <a:gsLst>
              <a:gs pos="0">
                <a:srgbClr val="BADAEB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txBody>
          <a:bodyPr wrap="square" rtlCol="0">
            <a:spAutoFit/>
            <a:scene3d>
              <a:camera prst="obliqueTopLeft"/>
              <a:lightRig rig="threePt" dir="t"/>
            </a:scene3d>
          </a:bodyPr>
          <a:lstStyle/>
          <a:p>
            <a:endParaRPr kumimoji="1" lang="zh-CN" altLang="en-US" sz="2400" b="1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C3EDACA-9212-6BAE-9708-CC7B2661315E}"/>
              </a:ext>
            </a:extLst>
          </p:cNvPr>
          <p:cNvSpPr txBox="1"/>
          <p:nvPr/>
        </p:nvSpPr>
        <p:spPr>
          <a:xfrm>
            <a:off x="241300" y="268605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Transmission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Rate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vs.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Error</a:t>
            </a:r>
            <a:r>
              <a:rPr kumimoji="1" lang="zh-CN" altLang="en-US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1" lang="en-US" altLang="zh-CN" sz="24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Probability</a:t>
            </a:r>
            <a:endParaRPr kumimoji="1" lang="zh-CN" altLang="en-US" sz="24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C82E888-A4F2-19C9-9E58-361FADB54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18</a:t>
            </a:fld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2D7CC0BE-E689-1BB4-AD37-DAC2364598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Shannon proved that the boundary meets the </a:t>
                </a:r>
                <a14:m>
                  <m:oMath xmlns:m="http://schemas.openxmlformats.org/officeDocument/2006/math">
                    <m:r>
                      <a:rPr lang="zh-CN" altLang="zh-CN" sz="24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axis at a non-zero value </a:t>
                </a:r>
                <a14:m>
                  <m:oMath xmlns:m="http://schemas.openxmlformats.org/officeDocument/2006/math">
                    <m:r>
                      <a:rPr lang="zh-CN" altLang="zh-CN" sz="24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zh-CN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zh-CN" altLang="zh-CN" sz="24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  <a:endParaRPr lang="en-US" altLang="zh-CN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zh-CN" altLang="zh-CN" sz="24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24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is</a:t>
                </a:r>
                <a:r>
                  <a:rPr lang="zh-CN" altLang="en-US" sz="24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called</a:t>
                </a:r>
                <a:r>
                  <a:rPr lang="zh-CN" altLang="en-US" sz="24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zh-CN" altLang="en-US" sz="24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solidFill>
                      <a:schemeClr val="accent1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capacity</a:t>
                </a:r>
                <a:r>
                  <a:rPr lang="zh-CN" altLang="en-US" sz="24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of</a:t>
                </a:r>
                <a:r>
                  <a:rPr lang="zh-CN" altLang="en-US" sz="24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zh-CN" altLang="en-US" sz="24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channel,</a:t>
                </a:r>
                <a:r>
                  <a:rPr lang="zh-CN" altLang="en-US" sz="24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where</a:t>
                </a:r>
                <a:r>
                  <a:rPr lang="zh-CN" altLang="en-US" sz="24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with</a:t>
                </a:r>
                <a:r>
                  <a:rPr lang="en-US" altLang="zh-CN" sz="2400" dirty="0"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lang="zh-CN" altLang="en-US" sz="24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and</a:t>
                </a:r>
                <a:r>
                  <a:rPr lang="zh-CN" altLang="en-US" sz="24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𝑌</m:t>
                    </m:r>
                  </m:oMath>
                </a14:m>
                <a:r>
                  <a:rPr lang="zh-CN" altLang="en-US" sz="24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being</a:t>
                </a:r>
                <a:r>
                  <a:rPr lang="zh-CN" altLang="en-US" sz="24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zh-CN" altLang="en-US" sz="24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input</a:t>
                </a:r>
                <a:r>
                  <a:rPr lang="zh-CN" altLang="en-US" sz="24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and</a:t>
                </a:r>
                <a:r>
                  <a:rPr lang="zh-CN" altLang="en-US" sz="24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output</a:t>
                </a:r>
                <a:r>
                  <a:rPr lang="zh-CN" altLang="en-US" sz="24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of</a:t>
                </a:r>
                <a:r>
                  <a:rPr lang="zh-CN" altLang="en-US" sz="24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zh-CN" altLang="en-US" sz="24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channel</a:t>
                </a:r>
                <a:r>
                  <a:rPr lang="zh-CN" altLang="en-US" sz="24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respectively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lang="zh-CN" altLang="en-US" sz="2400" dirty="0"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endParaRPr lang="en-US" altLang="zh-CN" sz="2400" dirty="0"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𝐶</m:t>
                      </m:r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400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400" b="0" i="1" smtClean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b="0" i="0" smtClean="0">
                                  <a:solidFill>
                                    <a:srgbClr val="FF0000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max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𝒫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𝑋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𝐼</m:t>
                          </m:r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𝑋</m:t>
                          </m:r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;</m:t>
                          </m:r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𝑌</m:t>
                          </m:r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zh-CN" altLang="zh-CN" sz="2400" dirty="0"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2D7CC0BE-E689-1BB4-AD37-DAC2364598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882650"/>
                <a:ext cx="10210800" cy="6400800"/>
              </a:xfrm>
              <a:blipFill>
                <a:blip r:embed="rId7"/>
                <a:stretch>
                  <a:fillRect l="-870" r="-7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>
            <a:extLst>
              <a:ext uri="{FF2B5EF4-FFF2-40B4-BE49-F238E27FC236}">
                <a16:creationId xmlns:a16="http://schemas.microsoft.com/office/drawing/2014/main" id="{96147C0D-E443-3800-2597-35D05EE327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700" y="3864136"/>
            <a:ext cx="6858000" cy="3419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6169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路网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rcRect b="47420"/>
          <a:stretch>
            <a:fillRect/>
          </a:stretch>
        </p:blipFill>
        <p:spPr>
          <a:xfrm>
            <a:off x="0" y="0"/>
            <a:ext cx="10749280" cy="760857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-76835" y="0"/>
            <a:ext cx="10863580" cy="7662545"/>
          </a:xfrm>
          <a:prstGeom prst="rect">
            <a:avLst/>
          </a:prstGeom>
          <a:solidFill>
            <a:schemeClr val="accent5">
              <a:lumMod val="40000"/>
              <a:lumOff val="60000"/>
              <a:alpha val="8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515830">
            <a:off x="8669751" y="5829775"/>
            <a:ext cx="3024382" cy="3024382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016586">
            <a:off x="-1658791" y="5429809"/>
            <a:ext cx="3360712" cy="3360720"/>
          </a:xfrm>
          <a:prstGeom prst="rect">
            <a:avLst/>
          </a:prstGeom>
        </p:spPr>
      </p:pic>
      <p:sp>
        <p:nvSpPr>
          <p:cNvPr id="31" name="椭圆 30"/>
          <p:cNvSpPr/>
          <p:nvPr/>
        </p:nvSpPr>
        <p:spPr>
          <a:xfrm>
            <a:off x="705330" y="5453840"/>
            <a:ext cx="945670" cy="945670"/>
          </a:xfrm>
          <a:prstGeom prst="ellipse">
            <a:avLst/>
          </a:prstGeom>
          <a:solidFill>
            <a:schemeClr val="bg1">
              <a:alpha val="2605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椭圆 31"/>
          <p:cNvSpPr/>
          <p:nvPr/>
        </p:nvSpPr>
        <p:spPr>
          <a:xfrm>
            <a:off x="9415675" y="6656365"/>
            <a:ext cx="1604513" cy="1604513"/>
          </a:xfrm>
          <a:prstGeom prst="ellipse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框 13"/>
          <p:cNvSpPr txBox="1"/>
          <p:nvPr>
            <p:custDataLst>
              <p:tags r:id="rId2"/>
            </p:custDataLst>
          </p:nvPr>
        </p:nvSpPr>
        <p:spPr>
          <a:xfrm>
            <a:off x="2823210" y="2787650"/>
            <a:ext cx="5254625" cy="101473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6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Thank</a:t>
            </a:r>
            <a:r>
              <a:rPr kumimoji="1" lang="zh-CN" altLang="en-US" sz="6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6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You!</a:t>
            </a:r>
            <a:r>
              <a:rPr kumimoji="1" lang="zh-CN" altLang="en-US" sz="6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  <a:t>19</a:t>
            </a:fld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1d9af1c2-292d-4add-a98c-a17a49d2a9f7"/>
  <p:tag name="COMMONDATA" val="eyJoZGlkIjoiMTVjMTkzNjFhOTQ4NTQ4NjBkYWI0MGJlMzcwYjc0MDMifQ=="/>
  <p:tag name="FULLTEXTBEAUTIFYED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21633</TotalTime>
  <Words>1528</Words>
  <Application>Microsoft Macintosh PowerPoint</Application>
  <PresentationFormat>自定义</PresentationFormat>
  <Paragraphs>141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等线</vt:lpstr>
      <vt:lpstr>等线 Light</vt:lpstr>
      <vt:lpstr>微软雅黑</vt:lpstr>
      <vt:lpstr>微软雅黑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网络协同制造技术资源服务平台研发与 应用示范</dc:title>
  <dc:creator/>
  <cp:lastModifiedBy>Chao Wang</cp:lastModifiedBy>
  <cp:revision>919</cp:revision>
  <dcterms:created xsi:type="dcterms:W3CDTF">2022-10-25T13:05:00Z</dcterms:created>
  <dcterms:modified xsi:type="dcterms:W3CDTF">2026-06-08T16:45:50Z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0A74D09E0E724F8FA59AA918B4966ED9</vt:lpwstr>
  </property>
  <property fmtid="{D5CDD505-2E9C-101B-9397-08002B2CF9AE}" pid="3" name="KSOProductBuildVer">
    <vt:lpwstr>2052-11.1.0.13703</vt:lpwstr>
  </property>
</Properties>
</file>