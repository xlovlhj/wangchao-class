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7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8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9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0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1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2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3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4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17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20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21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22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23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24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25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26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27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28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29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540" r:id="rId2"/>
    <p:sldId id="1105" r:id="rId3"/>
    <p:sldId id="1032" r:id="rId4"/>
    <p:sldId id="1081" r:id="rId5"/>
    <p:sldId id="1082" r:id="rId6"/>
    <p:sldId id="1104" r:id="rId7"/>
    <p:sldId id="1080" r:id="rId8"/>
    <p:sldId id="1079" r:id="rId9"/>
    <p:sldId id="1083" r:id="rId10"/>
    <p:sldId id="1084" r:id="rId11"/>
    <p:sldId id="1085" r:id="rId12"/>
    <p:sldId id="1086" r:id="rId13"/>
    <p:sldId id="1087" r:id="rId14"/>
    <p:sldId id="1088" r:id="rId15"/>
    <p:sldId id="1089" r:id="rId16"/>
    <p:sldId id="1103" r:id="rId17"/>
    <p:sldId id="1092" r:id="rId18"/>
    <p:sldId id="1093" r:id="rId19"/>
    <p:sldId id="1094" r:id="rId20"/>
    <p:sldId id="1095" r:id="rId21"/>
    <p:sldId id="1096" r:id="rId22"/>
    <p:sldId id="1098" r:id="rId23"/>
    <p:sldId id="1097" r:id="rId24"/>
    <p:sldId id="1099" r:id="rId25"/>
    <p:sldId id="1100" r:id="rId26"/>
    <p:sldId id="1101" r:id="rId27"/>
    <p:sldId id="1102" r:id="rId28"/>
    <p:sldId id="1106" r:id="rId29"/>
    <p:sldId id="1049" r:id="rId30"/>
    <p:sldId id="751" r:id="rId31"/>
  </p:sldIdLst>
  <p:sldSz cx="10693400" cy="7556500"/>
  <p:notesSz cx="10693400" cy="75565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94" userDrawn="1">
          <p15:clr>
            <a:srgbClr val="A4A3A4"/>
          </p15:clr>
        </p15:guide>
        <p15:guide id="2" pos="240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 Aster" initials="LA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  <a:srgbClr val="FFAA02"/>
    <a:srgbClr val="FFFFFF"/>
    <a:srgbClr val="0088D5"/>
    <a:srgbClr val="E69F22"/>
    <a:srgbClr val="ECF3F5"/>
    <a:srgbClr val="E6EFFA"/>
    <a:srgbClr val="C0D3EA"/>
    <a:srgbClr val="E0E0E0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EDE92E7-8D68-40CC-9BB4-FEAE9A1AA901}" styleName="{5e54ee44-2122-4b89-9784-b75a85ec0aa5}">
    <a:wholeTbl>
      <a:tcTxStyle>
        <a:fontRef idx="none">
          <a:prstClr val="black"/>
        </a:fontRef>
      </a:tcTxStyle>
      <a:tcStyle>
        <a:tcBdr>
          <a:insideH>
            <a:ln w="12700" cmpd="sng">
              <a:solidFill>
                <a:srgbClr val="E9E9E9"/>
              </a:solidFill>
            </a:ln>
          </a:insideH>
          <a:insideV>
            <a:ln w="12700" cmpd="sng">
              <a:solidFill>
                <a:srgbClr val="E9E9E9"/>
              </a:solidFill>
            </a:ln>
          </a:insideV>
        </a:tcBdr>
        <a:fill>
          <a:solidFill>
            <a:srgbClr val="FFFFFF"/>
          </a:solidFill>
        </a:fill>
      </a:tcStyle>
    </a:wholeTbl>
    <a:lastRow>
      <a:tcTxStyle>
        <a:fontRef idx="none">
          <a:prstClr val="black"/>
        </a:fontRef>
      </a:tcTxStyle>
      <a:tcStyle>
        <a:tcBdr/>
        <a:fill>
          <a:solidFill>
            <a:srgbClr val="E9E9E9"/>
          </a:solidFill>
        </a:fill>
      </a:tcStyle>
    </a:lastRow>
    <a:firstRow>
      <a:tcTxStyle>
        <a:fontRef idx="none">
          <a:prstClr val="black"/>
        </a:fontRef>
      </a:tcTxStyle>
      <a:tcStyle>
        <a:tcBdr>
          <a:insideH>
            <a:ln w="12700" cmpd="sng">
              <a:solidFill>
                <a:srgbClr val="E9E9E9"/>
              </a:solidFill>
            </a:ln>
          </a:insideH>
          <a:insideV>
            <a:ln w="12700" cmpd="sng">
              <a:solidFill>
                <a:srgbClr val="E9E9E9"/>
              </a:solidFill>
            </a:ln>
          </a:insideV>
        </a:tcBdr>
        <a:fill>
          <a:solidFill>
            <a:srgbClr val="2E6CB5"/>
          </a:solidFill>
        </a:fill>
      </a:tcStyle>
    </a:firstRow>
  </a:tblStyle>
  <a:tblStyle styleId="{AA00FE40-A4A1-4E01-A4F3-C6AA1E8047A4}" styleName="{1c11e0ce-8795-4a8a-8479-611ce8434d9d}">
    <a:wholeTbl>
      <a:tcTxStyle>
        <a:fontRef idx="none">
          <a:prstClr val="black"/>
        </a:fontRef>
      </a:tcTxStyle>
      <a:tcStyle>
        <a:tcBdr>
          <a:bottom>
            <a:ln w="38100" cmpd="sng">
              <a:solidFill>
                <a:srgbClr val="2E6CB5"/>
              </a:solidFill>
            </a:ln>
          </a:bottom>
        </a:tcBdr>
        <a:fill>
          <a:solidFill>
            <a:srgbClr val="FFFFFF"/>
          </a:solidFill>
        </a:fill>
      </a:tcStyle>
    </a:wholeTbl>
    <a:band1H>
      <a:tcTxStyle>
        <a:fontRef idx="none">
          <a:prstClr val="black"/>
        </a:fontRef>
      </a:tcTxStyle>
      <a:tcStyle>
        <a:tcBdr>
          <a:insideV>
            <a:ln w="12700" cmpd="sng">
              <a:solidFill>
                <a:srgbClr val="FFFFFF"/>
              </a:solidFill>
            </a:ln>
          </a:insideV>
        </a:tcBdr>
        <a:fill>
          <a:solidFill>
            <a:srgbClr val="FFFFFF"/>
          </a:solidFill>
        </a:fill>
      </a:tcStyle>
    </a:band1H>
    <a:band2H>
      <a:tcTxStyle>
        <a:fontRef idx="none">
          <a:prstClr val="black"/>
        </a:fontRef>
      </a:tcTxStyle>
      <a:tcStyle>
        <a:tcBdr>
          <a:insideV>
            <a:ln w="12700" cmpd="sng">
              <a:solidFill>
                <a:srgbClr val="FFFFFF"/>
              </a:solidFill>
            </a:ln>
          </a:insideV>
        </a:tcBdr>
        <a:fill>
          <a:solidFill>
            <a:srgbClr val="F8F8F8"/>
          </a:solidFill>
        </a:fill>
      </a:tcStyle>
    </a:band2H>
    <a:firstRow>
      <a:tcTxStyle>
        <a:fontRef idx="none">
          <a:prstClr val="black"/>
        </a:fontRef>
      </a:tcTxStyle>
      <a:tcStyle>
        <a:tcBdr>
          <a:insideV>
            <a:ln w="12700" cmpd="sng">
              <a:solidFill>
                <a:srgbClr val="FFFFFF"/>
              </a:solidFill>
            </a:ln>
          </a:insideV>
        </a:tcBdr>
        <a:fill>
          <a:solidFill>
            <a:srgbClr val="2E6CB5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386"/>
    <p:restoredTop sz="92629" autoAdjust="0"/>
  </p:normalViewPr>
  <p:slideViewPr>
    <p:cSldViewPr showGuides="1">
      <p:cViewPr varScale="1">
        <p:scale>
          <a:sx n="134" d="100"/>
          <a:sy n="134" d="100"/>
        </p:scale>
        <p:origin x="2832" y="200"/>
      </p:cViewPr>
      <p:guideLst>
        <p:guide orient="horz" pos="2694"/>
        <p:guide pos="240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D0C77-FFE7-40F1-B13E-A1B5417D8E5F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CADC0-474D-4492-802B-B8958C4DAA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5A7E5-FB96-FE5E-0F6E-990D340C2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D698FF-4190-7C1A-31BB-6077E612B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B36712-AB39-6CB6-D832-AAB17BA2B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Baseband center point detection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497DDB-D4A6-E972-6B7A-8DD72512A5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061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70EE8-2866-4B24-5A07-201A4DE31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33BBD88-4353-EFBE-7B2C-10A2FCB05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38DC13-BC74-731E-4FBA-7D50FCE49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1C66F5-B56B-6DAF-A9CD-CB93D26EE3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127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E54B0-66DE-5BFE-78C9-A30AC7F9F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2FBEF97-A076-FF6B-9221-47D193B50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DBEDE1-5470-1E41-7971-FC729F211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97CF3A-6734-4568-03CE-906F6811B3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9107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20B5D-71DC-7700-7412-AD036CB41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7FD32E-4E03-65CB-E95D-6F97C2A9A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25C04DE-CBD9-985B-4989-63CBFE1D17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7F400D-6907-FFB6-21AD-835BEC7061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7308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1B42D-8B0E-D878-5C08-EC8FF73D8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2D9EC96-E4A2-A7C6-3EB6-937A142D98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73117A-98B7-6BBA-75E7-ADAD79F6F5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Baseband center point detection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E6C31C-07A5-2A5F-6003-EAC9DF036A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67716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A62CD-9DEF-7BB7-C792-815C883B9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212C47-6198-D4F7-AF30-A1A5DC956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1EAC7EF-068A-AF98-D2F3-AA8AEBAA1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A1D648-7D35-BB12-2E3C-EADC2BB15E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19426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3DE89-69F6-2317-AAC0-8EF66C991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5A32B3-1A65-DDD7-6976-1DD142E66F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13C9F6-558D-6AB7-04CE-6BE6695CC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9B05FA-0E99-F224-EAB7-EA22DF3F36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2939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53BDF-3762-B3E6-8E50-0AE0F01C8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08F044-3138-CF20-31B2-6E510322C5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22BE52-B81C-65D6-7A39-74EA39DB2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5B979E-8EA6-596B-8DEA-570853E5FF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151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25E75-AAA2-2D0C-2598-AFC271E78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4D5E59-3A6B-F67E-CF09-C0F73D6A3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F54011-17EE-0653-D295-3732998F7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F96B7C-7733-3BB9-C454-1DB51279D7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2657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02ED3-53D4-C15E-5B15-65F6CF40C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7828A2A-BD25-E149-372B-AA910E445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A56AD9-844E-D24A-20AE-2D02F0C53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7B1463-C1B6-FF75-1571-053DD71521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7195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85B64-8F59-7F98-63F0-0A386D471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FE60A4-49F6-59B7-F47B-0B1ED4881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FE857E-868A-BB9A-A16C-3807C3751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D2F1BF-C408-B54F-76B3-EB88EE9E7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9216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F8178-8F07-EFC9-1C8F-AECBC9B84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C778A9-6F05-325B-5BB7-EC9FE30A43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2A569E-3D84-EA09-6FCB-AB8B1D504C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69B35B-6FCE-AED4-7102-80DD00A709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4612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D3105-377B-991C-D3CF-DD00578A0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65ADA8-0F57-D104-0F15-D43C9EB0D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AA4CBD-23E1-4C88-FA36-47F752A86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0344A1-F29B-AC33-1F60-0E38C48F2A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0253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757DE-F838-4E16-399E-AE20B9AE7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01EFD1F-07FB-BE74-32C0-22811023E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1ECD96-375B-7488-63E6-E1B5AE12A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49CFF6-D998-182B-F190-724A45896C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5276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C9D67-9ECB-437A-5A87-27A1A959C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4FE9F9A-7C73-4FED-9469-FB0D3D69C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2E8C9C-9837-0CAC-28F9-D17243956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Baseband center point detection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E228FE-9264-4FEF-F62C-22435B103A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9254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F5565-02A4-7B5D-D845-6C013AFF4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991509-D678-8331-8DE3-B61D431AB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372734-B360-BFF9-71E9-B0E617EC83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21D20A-6A32-6D67-F83F-51C56B250C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7713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DAD87-2CB5-FE37-A398-83BC0DB60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CB5EEB-729E-0FFB-D3DA-5F98C71025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83E886-99D2-C899-206D-E80B3997D5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B90C42-7ECB-BAFA-6CB9-36F500416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6305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9102B-47C4-0008-6821-34B2792F5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8B98A6-C351-7D05-3C0B-89B9C3F325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FA5F63-BB3B-9499-7C55-D47F33F15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Baseband center point detection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5FE581-1910-2F01-747E-D1350088A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3880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B69D7-6AA2-55E6-1D77-71DEC6927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126ED6F-D1AA-CA9C-5CBD-7AA01FBB9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8AE9650-36DB-52AC-0FC0-A88875240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297810-DF34-8A0F-EEA2-58F2D1FE2A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016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65C74-4286-03A0-B186-7A217D998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F58AF2-B2CB-D153-3D8D-8C0816023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E8A7A5-363F-B9DB-65DA-541811B5C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136E98-818C-2D6D-8AE3-3DBEE6926E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7187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08A8B-B55E-9897-D330-1142E878C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F42AB1-274D-769C-8B32-F32B985076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29A30C-5DE3-7FD4-50A6-F68689D32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67BDEF-42C6-415A-29FD-6F345B583B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7617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F6D1A-8AFA-10C4-EE1E-889B4A783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CF98FBD-15BE-CB07-D09C-401DC999D7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D332CA-5001-11B9-BA36-6787DF5DD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9116C8-C74D-89B4-1CC5-2EAC93D792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1762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DBF8B-7A7A-9046-2D64-72B19AE79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74DC68-19ED-826E-367F-29233F1B86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C9F81E-DED3-1D3B-99D7-EC9068E46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21B964-2150-BB75-399C-66221FAAE1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9600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010EA-28EA-4217-0153-FA94A8547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F0B5A6A-AD13-B335-CF45-764DDCE95F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B819A4D-B588-1474-139F-7071660CA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915D85-7C64-BFFF-CBAC-77C7EC267D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3268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F86E8-68DB-2971-AD93-3D4C29910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2B130B-8CEC-15FD-091D-71A09257CC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0E447A2-9EB8-0453-97AB-1F6A17CEE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5C2C08-B9C8-7B1D-013C-CFE53C65E3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5292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CBF5D-C72F-CADA-503C-02EA36BFA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9B0466-B160-121E-1E12-3FDCD0F67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4CC20A-DCE2-5AFD-5087-BF5526CC2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C2262A-3430-AA12-3061-60153B1838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4322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C8838-45EA-EFAD-AAA8-EB06A2ECD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067143-B5EF-001D-5D3D-F6EF6B6CD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9EAD0D-F190-349D-8140-60D9CDC9D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5559B1-44F6-086E-2451-F29209D7AC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2975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42888-C012-F604-9911-8672B6957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52167C-A226-3177-BB6A-A66033528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3CBFBE-2508-7E34-C47E-1FDD8B0FD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41FFA9-DB55-100E-427A-AFF9A5304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6419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6675" y="1236678"/>
            <a:ext cx="8020050" cy="2630781"/>
          </a:xfrm>
        </p:spPr>
        <p:txBody>
          <a:bodyPr anchor="b"/>
          <a:lstStyle>
            <a:lvl1pPr algn="ctr">
              <a:defRPr sz="5265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36675" y="3968912"/>
            <a:ext cx="8020050" cy="1824404"/>
          </a:xfrm>
        </p:spPr>
        <p:txBody>
          <a:bodyPr/>
          <a:lstStyle>
            <a:lvl1pPr marL="0" indent="0" algn="ctr">
              <a:buNone/>
              <a:defRPr sz="2105"/>
            </a:lvl1pPr>
            <a:lvl2pPr marL="401320" indent="0" algn="ctr">
              <a:buNone/>
              <a:defRPr sz="1755"/>
            </a:lvl2pPr>
            <a:lvl3pPr marL="802005" indent="0" algn="ctr">
              <a:buNone/>
              <a:defRPr sz="1580"/>
            </a:lvl3pPr>
            <a:lvl4pPr marL="1203325" indent="0" algn="ctr">
              <a:buNone/>
              <a:defRPr sz="1405"/>
            </a:lvl4pPr>
            <a:lvl5pPr marL="1604010" indent="0" algn="ctr">
              <a:buNone/>
              <a:defRPr sz="1405"/>
            </a:lvl5pPr>
            <a:lvl6pPr marL="2005330" indent="0" algn="ctr">
              <a:buNone/>
              <a:defRPr sz="1405"/>
            </a:lvl6pPr>
            <a:lvl7pPr marL="2406015" indent="0" algn="ctr">
              <a:buNone/>
              <a:defRPr sz="1405"/>
            </a:lvl7pPr>
            <a:lvl8pPr marL="2807335" indent="0" algn="ctr">
              <a:buNone/>
              <a:defRPr sz="1405"/>
            </a:lvl8pPr>
            <a:lvl9pPr marL="3208020" indent="0" algn="ctr">
              <a:buNone/>
              <a:defRPr sz="1405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E58DFDD-5E64-BD46-8F17-43EE2B9457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100" y="204656"/>
            <a:ext cx="3924300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9602" y="1883878"/>
            <a:ext cx="9223058" cy="3143294"/>
          </a:xfrm>
        </p:spPr>
        <p:txBody>
          <a:bodyPr anchor="b"/>
          <a:lstStyle>
            <a:lvl1pPr>
              <a:defRPr sz="5265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9602" y="5056909"/>
            <a:ext cx="9223058" cy="1652984"/>
          </a:xfrm>
        </p:spPr>
        <p:txBody>
          <a:bodyPr/>
          <a:lstStyle>
            <a:lvl1pPr marL="0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1pPr>
            <a:lvl2pPr marL="401320" indent="0">
              <a:buNone/>
              <a:defRPr sz="1755">
                <a:solidFill>
                  <a:schemeClr val="tx1">
                    <a:tint val="75000"/>
                  </a:schemeClr>
                </a:solidFill>
              </a:defRPr>
            </a:lvl2pPr>
            <a:lvl3pPr marL="802005" indent="0">
              <a:buNone/>
              <a:defRPr sz="1580">
                <a:solidFill>
                  <a:schemeClr val="tx1">
                    <a:tint val="75000"/>
                  </a:schemeClr>
                </a:solidFill>
              </a:defRPr>
            </a:lvl3pPr>
            <a:lvl4pPr marL="1203325" indent="0">
              <a:buNone/>
              <a:defRPr sz="1405">
                <a:solidFill>
                  <a:schemeClr val="tx1">
                    <a:tint val="75000"/>
                  </a:schemeClr>
                </a:solidFill>
              </a:defRPr>
            </a:lvl4pPr>
            <a:lvl5pPr marL="1604010" indent="0">
              <a:buNone/>
              <a:defRPr sz="1405">
                <a:solidFill>
                  <a:schemeClr val="tx1">
                    <a:tint val="75000"/>
                  </a:schemeClr>
                </a:solidFill>
              </a:defRPr>
            </a:lvl5pPr>
            <a:lvl6pPr marL="2005330" indent="0">
              <a:buNone/>
              <a:defRPr sz="1405">
                <a:solidFill>
                  <a:schemeClr val="tx1">
                    <a:tint val="75000"/>
                  </a:schemeClr>
                </a:solidFill>
              </a:defRPr>
            </a:lvl6pPr>
            <a:lvl7pPr marL="2406015" indent="0">
              <a:buNone/>
              <a:defRPr sz="1405">
                <a:solidFill>
                  <a:schemeClr val="tx1">
                    <a:tint val="75000"/>
                  </a:schemeClr>
                </a:solidFill>
              </a:defRPr>
            </a:lvl7pPr>
            <a:lvl8pPr marL="2807335" indent="0">
              <a:buNone/>
              <a:defRPr sz="1405">
                <a:solidFill>
                  <a:schemeClr val="tx1">
                    <a:tint val="75000"/>
                  </a:schemeClr>
                </a:solidFill>
              </a:defRPr>
            </a:lvl8pPr>
            <a:lvl9pPr marL="3208020" indent="0">
              <a:buNone/>
              <a:defRPr sz="14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5171" y="2011568"/>
            <a:ext cx="4544695" cy="4794530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13534" y="2011568"/>
            <a:ext cx="4544695" cy="4794530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564" y="402314"/>
            <a:ext cx="9223058" cy="1460574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6565" y="1852393"/>
            <a:ext cx="4523809" cy="907829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1320" indent="0">
              <a:buNone/>
              <a:defRPr sz="1755" b="1"/>
            </a:lvl2pPr>
            <a:lvl3pPr marL="802005" indent="0">
              <a:buNone/>
              <a:defRPr sz="1580" b="1"/>
            </a:lvl3pPr>
            <a:lvl4pPr marL="1203325" indent="0">
              <a:buNone/>
              <a:defRPr sz="1405" b="1"/>
            </a:lvl4pPr>
            <a:lvl5pPr marL="1604010" indent="0">
              <a:buNone/>
              <a:defRPr sz="1405" b="1"/>
            </a:lvl5pPr>
            <a:lvl6pPr marL="2005330" indent="0">
              <a:buNone/>
              <a:defRPr sz="1405" b="1"/>
            </a:lvl6pPr>
            <a:lvl7pPr marL="2406015" indent="0">
              <a:buNone/>
              <a:defRPr sz="1405" b="1"/>
            </a:lvl7pPr>
            <a:lvl8pPr marL="2807335" indent="0">
              <a:buNone/>
              <a:defRPr sz="1405" b="1"/>
            </a:lvl8pPr>
            <a:lvl9pPr marL="3208020" indent="0">
              <a:buNone/>
              <a:defRPr sz="1405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6565" y="2760222"/>
            <a:ext cx="4523809" cy="4059870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13534" y="1852393"/>
            <a:ext cx="4546088" cy="907829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1320" indent="0">
              <a:buNone/>
              <a:defRPr sz="1755" b="1"/>
            </a:lvl2pPr>
            <a:lvl3pPr marL="802005" indent="0">
              <a:buNone/>
              <a:defRPr sz="1580" b="1"/>
            </a:lvl3pPr>
            <a:lvl4pPr marL="1203325" indent="0">
              <a:buNone/>
              <a:defRPr sz="1405" b="1"/>
            </a:lvl4pPr>
            <a:lvl5pPr marL="1604010" indent="0">
              <a:buNone/>
              <a:defRPr sz="1405" b="1"/>
            </a:lvl5pPr>
            <a:lvl6pPr marL="2005330" indent="0">
              <a:buNone/>
              <a:defRPr sz="1405" b="1"/>
            </a:lvl6pPr>
            <a:lvl7pPr marL="2406015" indent="0">
              <a:buNone/>
              <a:defRPr sz="1405" b="1"/>
            </a:lvl7pPr>
            <a:lvl8pPr marL="2807335" indent="0">
              <a:buNone/>
              <a:defRPr sz="1405" b="1"/>
            </a:lvl8pPr>
            <a:lvl9pPr marL="3208020" indent="0">
              <a:buNone/>
              <a:defRPr sz="1405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13534" y="2760222"/>
            <a:ext cx="4546088" cy="4059870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6/1/26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6/1/26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564" y="503767"/>
            <a:ext cx="3448900" cy="1763183"/>
          </a:xfrm>
        </p:spPr>
        <p:txBody>
          <a:bodyPr anchor="b"/>
          <a:lstStyle>
            <a:lvl1pPr>
              <a:defRPr sz="2805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46088" y="1087996"/>
            <a:ext cx="5413534" cy="5370013"/>
          </a:xfrm>
        </p:spPr>
        <p:txBody>
          <a:bodyPr/>
          <a:lstStyle>
            <a:lvl1pPr>
              <a:defRPr sz="2805"/>
            </a:lvl1pPr>
            <a:lvl2pPr>
              <a:defRPr sz="2455"/>
            </a:lvl2pPr>
            <a:lvl3pPr>
              <a:defRPr sz="2105"/>
            </a:lvl3pPr>
            <a:lvl4pPr>
              <a:defRPr sz="1755"/>
            </a:lvl4pPr>
            <a:lvl5pPr>
              <a:defRPr sz="1755"/>
            </a:lvl5pPr>
            <a:lvl6pPr>
              <a:defRPr sz="1755"/>
            </a:lvl6pPr>
            <a:lvl7pPr>
              <a:defRPr sz="1755"/>
            </a:lvl7pPr>
            <a:lvl8pPr>
              <a:defRPr sz="1755"/>
            </a:lvl8pPr>
            <a:lvl9pPr>
              <a:defRPr sz="1755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6564" y="2266950"/>
            <a:ext cx="3448900" cy="4199805"/>
          </a:xfrm>
        </p:spPr>
        <p:txBody>
          <a:bodyPr/>
          <a:lstStyle>
            <a:lvl1pPr marL="0" indent="0">
              <a:buNone/>
              <a:defRPr sz="1405"/>
            </a:lvl1pPr>
            <a:lvl2pPr marL="401320" indent="0">
              <a:buNone/>
              <a:defRPr sz="1230"/>
            </a:lvl2pPr>
            <a:lvl3pPr marL="802005" indent="0">
              <a:buNone/>
              <a:defRPr sz="1055"/>
            </a:lvl3pPr>
            <a:lvl4pPr marL="1203325" indent="0">
              <a:buNone/>
              <a:defRPr sz="875"/>
            </a:lvl4pPr>
            <a:lvl5pPr marL="1604010" indent="0">
              <a:buNone/>
              <a:defRPr sz="875"/>
            </a:lvl5pPr>
            <a:lvl6pPr marL="2005330" indent="0">
              <a:buNone/>
              <a:defRPr sz="875"/>
            </a:lvl6pPr>
            <a:lvl7pPr marL="2406015" indent="0">
              <a:buNone/>
              <a:defRPr sz="875"/>
            </a:lvl7pPr>
            <a:lvl8pPr marL="2807335" indent="0">
              <a:buNone/>
              <a:defRPr sz="875"/>
            </a:lvl8pPr>
            <a:lvl9pPr marL="3208020" indent="0">
              <a:buNone/>
              <a:defRPr sz="875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564" y="503767"/>
            <a:ext cx="3448900" cy="1763183"/>
          </a:xfrm>
        </p:spPr>
        <p:txBody>
          <a:bodyPr anchor="b"/>
          <a:lstStyle>
            <a:lvl1pPr>
              <a:defRPr sz="2805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46088" y="1087996"/>
            <a:ext cx="5413534" cy="5370013"/>
          </a:xfrm>
        </p:spPr>
        <p:txBody>
          <a:bodyPr/>
          <a:lstStyle>
            <a:lvl1pPr marL="0" indent="0">
              <a:buNone/>
              <a:defRPr sz="2805"/>
            </a:lvl1pPr>
            <a:lvl2pPr marL="401320" indent="0">
              <a:buNone/>
              <a:defRPr sz="2455"/>
            </a:lvl2pPr>
            <a:lvl3pPr marL="802005" indent="0">
              <a:buNone/>
              <a:defRPr sz="2105"/>
            </a:lvl3pPr>
            <a:lvl4pPr marL="1203325" indent="0">
              <a:buNone/>
              <a:defRPr sz="1755"/>
            </a:lvl4pPr>
            <a:lvl5pPr marL="1604010" indent="0">
              <a:buNone/>
              <a:defRPr sz="1755"/>
            </a:lvl5pPr>
            <a:lvl6pPr marL="2005330" indent="0">
              <a:buNone/>
              <a:defRPr sz="1755"/>
            </a:lvl6pPr>
            <a:lvl7pPr marL="2406015" indent="0">
              <a:buNone/>
              <a:defRPr sz="1755"/>
            </a:lvl7pPr>
            <a:lvl8pPr marL="2807335" indent="0">
              <a:buNone/>
              <a:defRPr sz="1755"/>
            </a:lvl8pPr>
            <a:lvl9pPr marL="3208020" indent="0">
              <a:buNone/>
              <a:defRPr sz="1755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6564" y="2266950"/>
            <a:ext cx="3448900" cy="4199805"/>
          </a:xfrm>
        </p:spPr>
        <p:txBody>
          <a:bodyPr/>
          <a:lstStyle>
            <a:lvl1pPr marL="0" indent="0">
              <a:buNone/>
              <a:defRPr sz="1405"/>
            </a:lvl1pPr>
            <a:lvl2pPr marL="401320" indent="0">
              <a:buNone/>
              <a:defRPr sz="1230"/>
            </a:lvl2pPr>
            <a:lvl3pPr marL="802005" indent="0">
              <a:buNone/>
              <a:defRPr sz="1055"/>
            </a:lvl3pPr>
            <a:lvl4pPr marL="1203325" indent="0">
              <a:buNone/>
              <a:defRPr sz="875"/>
            </a:lvl4pPr>
            <a:lvl5pPr marL="1604010" indent="0">
              <a:buNone/>
              <a:defRPr sz="875"/>
            </a:lvl5pPr>
            <a:lvl6pPr marL="2005330" indent="0">
              <a:buNone/>
              <a:defRPr sz="875"/>
            </a:lvl6pPr>
            <a:lvl7pPr marL="2406015" indent="0">
              <a:buNone/>
              <a:defRPr sz="875"/>
            </a:lvl7pPr>
            <a:lvl8pPr marL="2807335" indent="0">
              <a:buNone/>
              <a:defRPr sz="875"/>
            </a:lvl8pPr>
            <a:lvl9pPr marL="3208020" indent="0">
              <a:buNone/>
              <a:defRPr sz="875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52465" y="402314"/>
            <a:ext cx="2305764" cy="6403784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5171" y="402314"/>
            <a:ext cx="6783626" cy="6403784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5171" y="402314"/>
            <a:ext cx="9223058" cy="1460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5171" y="2011568"/>
            <a:ext cx="9223058" cy="4794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5171" y="7003756"/>
            <a:ext cx="2406015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42189" y="7003756"/>
            <a:ext cx="3609023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52214" y="7003756"/>
            <a:ext cx="2406015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802005" rtl="0" eaLnBrk="1" latinLnBrk="0" hangingPunct="1">
        <a:lnSpc>
          <a:spcPct val="90000"/>
        </a:lnSpc>
        <a:spcBef>
          <a:spcPct val="0"/>
        </a:spcBef>
        <a:buNone/>
        <a:defRPr sz="3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0660" indent="-200660" algn="l" defTabSz="802005" rtl="0" eaLnBrk="1" latinLnBrk="0" hangingPunct="1">
        <a:lnSpc>
          <a:spcPct val="90000"/>
        </a:lnSpc>
        <a:spcBef>
          <a:spcPts val="875"/>
        </a:spcBef>
        <a:buFont typeface="Arial" panose="020B0604020202020204" pitchFamily="34" charset="0"/>
        <a:buChar char="•"/>
        <a:defRPr sz="2455" kern="1200">
          <a:solidFill>
            <a:schemeClr val="tx1"/>
          </a:solidFill>
          <a:latin typeface="+mn-lt"/>
          <a:ea typeface="+mn-ea"/>
          <a:cs typeface="+mn-cs"/>
        </a:defRPr>
      </a:lvl1pPr>
      <a:lvl2pPr marL="601345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02665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755" kern="1200">
          <a:solidFill>
            <a:schemeClr val="tx1"/>
          </a:solidFill>
          <a:latin typeface="+mn-lt"/>
          <a:ea typeface="+mn-ea"/>
          <a:cs typeface="+mn-cs"/>
        </a:defRPr>
      </a:lvl3pPr>
      <a:lvl4pPr marL="1403350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4pPr>
      <a:lvl5pPr marL="1804670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5pPr>
      <a:lvl6pPr marL="2205355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6pPr>
      <a:lvl7pPr marL="2606675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7pPr>
      <a:lvl8pPr marL="3007360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8pPr>
      <a:lvl9pPr marL="3408680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1pPr>
      <a:lvl2pPr marL="401320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2pPr>
      <a:lvl3pPr marL="802005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3pPr>
      <a:lvl4pPr marL="1203325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4pPr>
      <a:lvl5pPr marL="1604010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5pPr>
      <a:lvl6pPr marL="2005330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6pPr>
      <a:lvl7pPr marL="2406015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7pPr>
      <a:lvl8pPr marL="2807335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8pPr>
      <a:lvl9pPr marL="3208020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7" Type="http://schemas.openxmlformats.org/officeDocument/2006/relationships/image" Target="../media/image5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7" Type="http://schemas.openxmlformats.org/officeDocument/2006/relationships/image" Target="../media/image6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7" Type="http://schemas.openxmlformats.org/officeDocument/2006/relationships/image" Target="../media/image7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7" Type="http://schemas.openxmlformats.org/officeDocument/2006/relationships/image" Target="../media/image8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image" Target="../media/image9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7" Type="http://schemas.openxmlformats.org/officeDocument/2006/relationships/image" Target="../media/image10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30.xml"/><Relationship Id="rId7" Type="http://schemas.openxmlformats.org/officeDocument/2006/relationships/image" Target="../media/image11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7" Type="http://schemas.openxmlformats.org/officeDocument/2006/relationships/image" Target="../media/image13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7" Type="http://schemas.openxmlformats.org/officeDocument/2006/relationships/image" Target="../media/image14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7" Type="http://schemas.openxmlformats.org/officeDocument/2006/relationships/image" Target="../media/image15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image" Target="../media/image16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7" Type="http://schemas.openxmlformats.org/officeDocument/2006/relationships/image" Target="../media/image17.png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7" Type="http://schemas.openxmlformats.org/officeDocument/2006/relationships/image" Target="../media/image18.png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54.xml"/><Relationship Id="rId7" Type="http://schemas.openxmlformats.org/officeDocument/2006/relationships/image" Target="../media/image19.pn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7" Type="http://schemas.openxmlformats.org/officeDocument/2006/relationships/image" Target="../media/image21.pn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7" Type="http://schemas.openxmlformats.org/officeDocument/2006/relationships/image" Target="../media/image22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7" Type="http://schemas.openxmlformats.org/officeDocument/2006/relationships/image" Target="../media/image23.png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tags" Target="../tags/tag66.xml"/><Relationship Id="rId7" Type="http://schemas.openxmlformats.org/officeDocument/2006/relationships/image" Target="../media/image24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7" Type="http://schemas.openxmlformats.org/officeDocument/2006/relationships/image" Target="../media/image26.png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7" Type="http://schemas.openxmlformats.org/officeDocument/2006/relationships/image" Target="../media/image27.png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">
            <a:extLst>
              <a:ext uri="{FF2B5EF4-FFF2-40B4-BE49-F238E27FC236}">
                <a16:creationId xmlns:a16="http://schemas.microsoft.com/office/drawing/2014/main" id="{14BD418A-9858-A843-92C9-8A399CC555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87850"/>
            <a:ext cx="10677400" cy="316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-11000" y="4387850"/>
            <a:ext cx="10688400" cy="3168000"/>
          </a:xfrm>
          <a:prstGeom prst="rect">
            <a:avLst/>
          </a:prstGeom>
          <a:solidFill>
            <a:schemeClr val="accent1">
              <a:lumMod val="60000"/>
              <a:lumOff val="40000"/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"/>
            </p:custDataLst>
          </p:nvPr>
        </p:nvSpPr>
        <p:spPr>
          <a:xfrm>
            <a:off x="537845" y="1720850"/>
            <a:ext cx="9617710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5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（信息与）通信技术（基础）</a:t>
            </a:r>
            <a:endParaRPr kumimoji="1" lang="en-US" altLang="zh-CN" sz="5400" b="1" dirty="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8: Measure of Information</a:t>
            </a:r>
            <a:endParaRPr lang="en-GB" altLang="zh-CN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3207578" y="4692650"/>
            <a:ext cx="4272722" cy="2160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3375" marR="5080" indent="-321310" algn="ctr">
              <a:lnSpc>
                <a:spcPct val="127000"/>
              </a:lnSpc>
              <a:spcBef>
                <a:spcPts val="95"/>
              </a:spcBef>
            </a:pPr>
            <a:r>
              <a:rPr lang="zh-CN" altLang="en-US" sz="2800" b="1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王超</a:t>
            </a:r>
          </a:p>
          <a:p>
            <a:pPr marL="333375" marR="5080" indent="-321310" algn="ctr">
              <a:lnSpc>
                <a:spcPct val="127000"/>
              </a:lnSpc>
              <a:spcBef>
                <a:spcPts val="95"/>
              </a:spcBef>
            </a:pPr>
            <a:endParaRPr lang="zh-CN" altLang="en-US" b="1" spc="2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3375" marR="5080" indent="-321310" algn="ctr">
              <a:lnSpc>
                <a:spcPct val="150000"/>
              </a:lnSpc>
              <a:spcBef>
                <a:spcPts val="95"/>
              </a:spcBef>
            </a:pPr>
            <a:r>
              <a:rPr lang="zh-CN" altLang="en-US" b="1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电子与信息工程学院 </a:t>
            </a:r>
            <a:r>
              <a:rPr lang="en-US" altLang="zh-CN" b="1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b="1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信息与通信工程系</a:t>
            </a:r>
          </a:p>
          <a:p>
            <a:pPr marL="333375" marR="5080" indent="-321310" algn="ctr">
              <a:lnSpc>
                <a:spcPct val="150000"/>
              </a:lnSpc>
              <a:spcBef>
                <a:spcPts val="95"/>
              </a:spcBef>
            </a:pPr>
            <a:r>
              <a:rPr lang="zh-CN" altLang="en-US" b="1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教授</a:t>
            </a:r>
            <a:r>
              <a:rPr lang="en-US" altLang="zh-CN" b="1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博士生导师</a:t>
            </a:r>
          </a:p>
          <a:p>
            <a:pPr marL="333375" marR="5080" indent="-321310" algn="ctr">
              <a:lnSpc>
                <a:spcPct val="150000"/>
              </a:lnSpc>
              <a:spcBef>
                <a:spcPts val="95"/>
              </a:spcBef>
            </a:pPr>
            <a:r>
              <a:rPr lang="es-419" altLang="zh-CN" b="1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Email: chaowang@tongji.edu.cn</a:t>
            </a:r>
            <a:endParaRPr lang="zh-CN" altLang="en-US" sz="1600" b="1" spc="2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0075F-827B-87A8-8673-3868A44C7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路网">
            <a:extLst>
              <a:ext uri="{FF2B5EF4-FFF2-40B4-BE49-F238E27FC236}">
                <a16:creationId xmlns:a16="http://schemas.microsoft.com/office/drawing/2014/main" id="{351C4B29-3848-C10C-D9BE-433D97F385A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40000" cy="75565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FBD5D2E5-C02C-1843-28DD-01653D49E0DF}"/>
              </a:ext>
            </a:extLst>
          </p:cNvPr>
          <p:cNvSpPr>
            <a:spLocks/>
          </p:cNvSpPr>
          <p:nvPr/>
        </p:nvSpPr>
        <p:spPr>
          <a:xfrm>
            <a:off x="0" y="0"/>
            <a:ext cx="5040000" cy="7556500"/>
          </a:xfrm>
          <a:prstGeom prst="rect">
            <a:avLst/>
          </a:prstGeom>
          <a:solidFill>
            <a:srgbClr val="7FB7DF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EB78247-0888-EC6F-9335-AB038463E579}"/>
              </a:ext>
            </a:extLst>
          </p:cNvPr>
          <p:cNvSpPr txBox="1"/>
          <p:nvPr/>
        </p:nvSpPr>
        <p:spPr>
          <a:xfrm>
            <a:off x="1433830" y="3092450"/>
            <a:ext cx="1843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AF35A8-7F9C-0D2A-2080-20E8F9F2372D}"/>
              </a:ext>
            </a:extLst>
          </p:cNvPr>
          <p:cNvSpPr txBox="1"/>
          <p:nvPr/>
        </p:nvSpPr>
        <p:spPr>
          <a:xfrm>
            <a:off x="1384300" y="3327981"/>
            <a:ext cx="252016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A0C60AA2-03F8-6B9A-1389-30596329D38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6982308D-4D7B-FE10-128B-D9F26CC93B4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16586">
            <a:off x="-1658791" y="5429809"/>
            <a:ext cx="3360712" cy="3360720"/>
          </a:xfrm>
          <a:prstGeom prst="rect">
            <a:avLst/>
          </a:prstGeom>
        </p:spPr>
      </p:pic>
      <p:sp>
        <p:nvSpPr>
          <p:cNvPr id="31" name="椭圆 30">
            <a:extLst>
              <a:ext uri="{FF2B5EF4-FFF2-40B4-BE49-F238E27FC236}">
                <a16:creationId xmlns:a16="http://schemas.microsoft.com/office/drawing/2014/main" id="{A073DE2C-2037-97B3-07F0-228BC4AC3279}"/>
              </a:ext>
            </a:extLst>
          </p:cNvPr>
          <p:cNvSpPr/>
          <p:nvPr/>
        </p:nvSpPr>
        <p:spPr>
          <a:xfrm>
            <a:off x="705330" y="5453840"/>
            <a:ext cx="945670" cy="945670"/>
          </a:xfrm>
          <a:prstGeom prst="ellipse">
            <a:avLst/>
          </a:prstGeom>
          <a:solidFill>
            <a:schemeClr val="bg1">
              <a:alpha val="2605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316142E1-9DE4-1E2F-CC48-3187B3B4AFD5}"/>
              </a:ext>
            </a:extLst>
          </p:cNvPr>
          <p:cNvSpPr/>
          <p:nvPr/>
        </p:nvSpPr>
        <p:spPr>
          <a:xfrm>
            <a:off x="9415675" y="6656365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9AF8E71-3F13-E76C-2F4F-75A11B253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FBAA1EE-4515-ED93-E2E8-512AACF7B721}"/>
              </a:ext>
            </a:extLst>
          </p:cNvPr>
          <p:cNvSpPr txBox="1"/>
          <p:nvPr/>
        </p:nvSpPr>
        <p:spPr>
          <a:xfrm>
            <a:off x="5270500" y="1720850"/>
            <a:ext cx="5334000" cy="2741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Measure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of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Information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Shannon Information Content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and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Entropy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Continuous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Random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Variables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Relative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Entropy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and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Mutual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Information</a:t>
            </a:r>
          </a:p>
        </p:txBody>
      </p:sp>
    </p:spTree>
    <p:extLst>
      <p:ext uri="{BB962C8B-B14F-4D97-AF65-F5344CB8AC3E}">
        <p14:creationId xmlns:p14="http://schemas.microsoft.com/office/powerpoint/2010/main" val="3577684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E25C8-DA93-0114-6F3D-01525CA43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4991118C-A07F-A754-5530-8D1A334A0C7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C33BF413-8E2C-9F15-3915-FBA2F525639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21CDD08-2CAE-C867-4140-C1B959B818D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B2115F3-4F44-0818-3959-A5545708E166}"/>
              </a:ext>
            </a:extLst>
          </p:cNvPr>
          <p:cNvSpPr txBox="1"/>
          <p:nvPr/>
        </p:nvSpPr>
        <p:spPr>
          <a:xfrm>
            <a:off x="241300" y="26860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Father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of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Information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Age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15BD5C0-1C47-8356-7EBA-62F84FC4B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3</a:t>
            </a:fld>
            <a:endParaRPr lang="zh-CN" altLang="en-US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38BE66E4-8468-3F16-3D73-09D1D425E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300" y="882650"/>
            <a:ext cx="5638800" cy="640080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1916 - Born in Michigan</a:t>
            </a:r>
          </a:p>
          <a:p>
            <a:pPr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1936 - Bachelor in Electrical Engineering and Mathematics at University of Michigan</a:t>
            </a:r>
          </a:p>
          <a:p>
            <a:pPr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1937 - Master in Electrical Engineering at MIT</a:t>
            </a:r>
          </a:p>
          <a:p>
            <a:pPr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1940 - PhD in Mathematics at MIT</a:t>
            </a:r>
          </a:p>
          <a:p>
            <a:pPr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1948 - “A Mathematical Theory of Communication”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C667277-8B28-6B13-F01D-0B308B551A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2500" y="982787"/>
            <a:ext cx="3925729" cy="494100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CF6EE4F8-4D8D-D8B9-7544-8CC4B9D9DADE}"/>
              </a:ext>
            </a:extLst>
          </p:cNvPr>
          <p:cNvSpPr txBox="1"/>
          <p:nvPr/>
        </p:nvSpPr>
        <p:spPr>
          <a:xfrm>
            <a:off x="6413500" y="6047084"/>
            <a:ext cx="29661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Claude Shannon </a:t>
            </a:r>
            <a:endParaRPr lang="en-US" altLang="zh-CN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ctr"/>
            <a:r>
              <a:rPr lang="zh-CN" altLang="en-US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(1916-2001)</a:t>
            </a:r>
          </a:p>
        </p:txBody>
      </p:sp>
    </p:spTree>
    <p:extLst>
      <p:ext uri="{BB962C8B-B14F-4D97-AF65-F5344CB8AC3E}">
        <p14:creationId xmlns:p14="http://schemas.microsoft.com/office/powerpoint/2010/main" val="3088467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AF5BC-C008-62B2-F93C-F3E67DD21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B0131E95-0E3D-65ED-F4B2-0F22EF5F386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59CF6D45-E876-6223-8C75-9CAC245938A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608A7FA-D582-81E6-1D51-D7A6E09645F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273A0F1-DF2A-7A22-E7D5-35EBEE285E36}"/>
              </a:ext>
            </a:extLst>
          </p:cNvPr>
          <p:cNvSpPr txBox="1"/>
          <p:nvPr/>
        </p:nvSpPr>
        <p:spPr>
          <a:xfrm>
            <a:off x="241300" y="26860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Measure of Information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7F29EBA-DDF8-C807-D84C-489E027D2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4</a:t>
            </a:fld>
            <a:endParaRPr lang="zh-CN" altLang="en-US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20BA7C14-EEB4-5040-9308-41A0077EE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300" y="882650"/>
            <a:ext cx="10210800" cy="640080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Before Shannon’s paper, information had been viewed as a kind of poorly defined miasmic fluid.</a:t>
            </a:r>
          </a:p>
          <a:p>
            <a:pPr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But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after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paper,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became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apparent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well-defined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measurable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quantity.</a:t>
            </a:r>
          </a:p>
          <a:p>
            <a:pPr>
              <a:lnSpc>
                <a:spcPct val="130000"/>
              </a:lnSpc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Essentially,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gaining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removal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uncertainty.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need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quantity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measure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uncertainty.</a:t>
            </a:r>
          </a:p>
          <a:p>
            <a:pPr lvl="1"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Uncertainty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property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random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events.</a:t>
            </a:r>
          </a:p>
          <a:p>
            <a:pPr lvl="1"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probability.</a:t>
            </a:r>
          </a:p>
          <a:p>
            <a:pPr lvl="1">
              <a:lnSpc>
                <a:spcPct val="130000"/>
              </a:lnSpc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042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55808-DEC4-7159-CD07-5B9AC2B76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E83751FD-6E51-4054-ED4E-559F5BA7DDF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FE8C407E-6A6A-4D1E-3262-62E04DB8EAE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6C98506-1BC4-79EA-8EC1-F7B79C571CD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868FD19-181E-D69D-F8DC-1DE2F9F24951}"/>
              </a:ext>
            </a:extLst>
          </p:cNvPr>
          <p:cNvSpPr txBox="1"/>
          <p:nvPr/>
        </p:nvSpPr>
        <p:spPr>
          <a:xfrm>
            <a:off x="241300" y="26860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Measure of Information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A577D5-8CB5-5669-AB56-006CA7341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5</a:t>
            </a:fld>
            <a:endParaRPr lang="zh-CN" altLang="en-US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F97B4BA1-2832-2E90-BD97-8D1867DD7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300" y="882650"/>
            <a:ext cx="10210800" cy="640080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 mathematical definition of information should have the following properties</a:t>
            </a:r>
          </a:p>
          <a:p>
            <a:pPr lvl="1"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Information is a non-negative quantity. </a:t>
            </a:r>
          </a:p>
          <a:p>
            <a:pPr lvl="1"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If an outcome occurs with probability 1, we attain no information from the occurrence of it.</a:t>
            </a:r>
          </a:p>
          <a:p>
            <a:pPr lvl="1"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amount of information associated with an outcome decreases smoothly and monotonically with increasing probability of the outcome. </a:t>
            </a:r>
          </a:p>
          <a:p>
            <a:pPr lvl="1"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amount of information associated with a set of independent outcomes is sum of the information of individual outcomes.</a:t>
            </a:r>
          </a:p>
        </p:txBody>
      </p:sp>
    </p:spTree>
    <p:extLst>
      <p:ext uri="{BB962C8B-B14F-4D97-AF65-F5344CB8AC3E}">
        <p14:creationId xmlns:p14="http://schemas.microsoft.com/office/powerpoint/2010/main" val="840634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5A99A-D56E-26CA-6DF8-17AA0C31A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路网">
            <a:extLst>
              <a:ext uri="{FF2B5EF4-FFF2-40B4-BE49-F238E27FC236}">
                <a16:creationId xmlns:a16="http://schemas.microsoft.com/office/drawing/2014/main" id="{0351DBF8-98A2-B152-6D85-E3217E482DE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40000" cy="75565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89E165FC-FA71-B425-4A31-2377F59A7C14}"/>
              </a:ext>
            </a:extLst>
          </p:cNvPr>
          <p:cNvSpPr>
            <a:spLocks/>
          </p:cNvSpPr>
          <p:nvPr/>
        </p:nvSpPr>
        <p:spPr>
          <a:xfrm>
            <a:off x="0" y="0"/>
            <a:ext cx="5040000" cy="7556500"/>
          </a:xfrm>
          <a:prstGeom prst="rect">
            <a:avLst/>
          </a:prstGeom>
          <a:solidFill>
            <a:srgbClr val="7FB7DF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E7A0313-EF2A-621A-6F36-D89DDD32447F}"/>
              </a:ext>
            </a:extLst>
          </p:cNvPr>
          <p:cNvSpPr txBox="1"/>
          <p:nvPr/>
        </p:nvSpPr>
        <p:spPr>
          <a:xfrm>
            <a:off x="1433830" y="3092450"/>
            <a:ext cx="1843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4C02833-8894-EC7F-6BFA-A702A8AF6769}"/>
              </a:ext>
            </a:extLst>
          </p:cNvPr>
          <p:cNvSpPr txBox="1"/>
          <p:nvPr/>
        </p:nvSpPr>
        <p:spPr>
          <a:xfrm>
            <a:off x="1384300" y="3327981"/>
            <a:ext cx="252016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25695DE3-E865-9DCA-5CAA-6C5339CD071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E14F27AB-823A-5187-E200-3847170F662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16586">
            <a:off x="-1658791" y="5429809"/>
            <a:ext cx="3360712" cy="3360720"/>
          </a:xfrm>
          <a:prstGeom prst="rect">
            <a:avLst/>
          </a:prstGeom>
        </p:spPr>
      </p:pic>
      <p:sp>
        <p:nvSpPr>
          <p:cNvPr id="31" name="椭圆 30">
            <a:extLst>
              <a:ext uri="{FF2B5EF4-FFF2-40B4-BE49-F238E27FC236}">
                <a16:creationId xmlns:a16="http://schemas.microsoft.com/office/drawing/2014/main" id="{C6833ED4-B6EC-5581-3A67-A0695A2BCD2F}"/>
              </a:ext>
            </a:extLst>
          </p:cNvPr>
          <p:cNvSpPr/>
          <p:nvPr/>
        </p:nvSpPr>
        <p:spPr>
          <a:xfrm>
            <a:off x="705330" y="5453840"/>
            <a:ext cx="945670" cy="945670"/>
          </a:xfrm>
          <a:prstGeom prst="ellipse">
            <a:avLst/>
          </a:prstGeom>
          <a:solidFill>
            <a:schemeClr val="bg1">
              <a:alpha val="2605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2BE7C69B-75D9-8EA0-417B-304A5727723E}"/>
              </a:ext>
            </a:extLst>
          </p:cNvPr>
          <p:cNvSpPr/>
          <p:nvPr/>
        </p:nvSpPr>
        <p:spPr>
          <a:xfrm>
            <a:off x="9415675" y="6656365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AE1446C-2702-4C79-1960-7354CA72B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6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278963F-FF40-7C37-28B3-A8FCAD8F067E}"/>
              </a:ext>
            </a:extLst>
          </p:cNvPr>
          <p:cNvSpPr txBox="1"/>
          <p:nvPr/>
        </p:nvSpPr>
        <p:spPr>
          <a:xfrm>
            <a:off x="5270500" y="1720850"/>
            <a:ext cx="5334000" cy="2741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Measure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of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Information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Shannon Information Content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and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Entropy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Continuous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Random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Variables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Relative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Entropy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and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Mutual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Information</a:t>
            </a:r>
          </a:p>
        </p:txBody>
      </p:sp>
    </p:spTree>
    <p:extLst>
      <p:ext uri="{BB962C8B-B14F-4D97-AF65-F5344CB8AC3E}">
        <p14:creationId xmlns:p14="http://schemas.microsoft.com/office/powerpoint/2010/main" val="2382707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8E877-D731-A028-1854-5A6AA671C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43A98B84-56E1-1C8C-D938-C8AD582E90E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3536837F-00F0-E64B-FD33-6BA9AACE0BF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C51B66-6190-8B91-7CCC-6951F887E70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5C3334C-905F-9971-715A-A4528C582FF4}"/>
              </a:ext>
            </a:extLst>
          </p:cNvPr>
          <p:cNvSpPr txBox="1"/>
          <p:nvPr/>
        </p:nvSpPr>
        <p:spPr>
          <a:xfrm>
            <a:off x="241300" y="26860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Random Variable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48FE47B-FB11-737C-5C46-5F864A6C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7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DF296B97-8AAC-A994-1D1C-119C8E2558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 (discrete) random variable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can be represented by a triple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𝒜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𝒫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where the outcome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value of the random variable, which takes on one of a set of possible values,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𝒜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={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,⋯,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,⋯,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𝐼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having probabilities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𝒫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={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,⋯,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,⋯,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𝐼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with 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altLang="zh-CN" sz="2400" dirty="0"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≥0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9"/>
                              </m:rPr>
                              <a:rPr lang="en-US" altLang="zh-CN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m:rPr>
                                <m:brk m:alnAt="9"/>
                              </m:rPr>
                              <a:rPr lang="en-US" altLang="zh-CN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𝑋</m:t>
                            </m:r>
                          </m:sub>
                        </m:sSub>
                      </m:sub>
                      <m:sup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can be also written as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DF296B97-8AAC-A994-1D1C-119C8E2558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  <a:blipFill>
                <a:blip r:embed="rId7"/>
                <a:stretch>
                  <a:fillRect l="-870" r="-24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4617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89DB4-BAD8-6D4C-12DB-A44EE8BC5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D5187FE-0C85-D38E-CB90-784C2A9168C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42023C8A-1292-F665-5379-5CC82D508E1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984E2FF-F992-3B33-21D2-373315A782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88AF00F-521B-2CC2-E6BB-C2C1F5D81325}"/>
              </a:ext>
            </a:extLst>
          </p:cNvPr>
          <p:cNvSpPr txBox="1"/>
          <p:nvPr/>
        </p:nvSpPr>
        <p:spPr>
          <a:xfrm>
            <a:off x="241300" y="26860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Shannon Information Content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E53450A-5876-A624-BB4F-7D9EA73EA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8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4E698D19-44AB-0E41-E34C-593DD2C64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Shannon information content of an outcome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defined to be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h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)=</m:t>
                      </m:r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{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}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h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measured in </a:t>
                </a:r>
                <a:r>
                  <a:rPr lang="en-US" altLang="zh-CN" sz="2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bits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Shannon information content is a random value since the outcome is uncertain.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probability of seeing the value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h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for a particular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{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4E698D19-44AB-0E41-E34C-593DD2C64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  <a:blipFill>
                <a:blip r:embed="rId7"/>
                <a:stretch>
                  <a:fillRect l="-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1427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FB6DB-7EC3-7681-86FF-89399106F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11E7381-9783-DD18-6569-19F72759EBC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42972B0F-9382-7948-6D05-BD7B5DB03B2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7D273D0-194E-A456-6C4E-6F273FE83D2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0FF541-3B58-1E25-4A5D-31224475588C}"/>
              </a:ext>
            </a:extLst>
          </p:cNvPr>
          <p:cNvSpPr txBox="1"/>
          <p:nvPr/>
        </p:nvSpPr>
        <p:spPr>
          <a:xfrm>
            <a:off x="241300" y="26860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Exercises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8F6FD65-F5AB-2C19-55D5-1CAD4984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9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76CFDAC3-DE1F-D1DE-D794-AB50C2F824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Consider a fair coin toss. The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outcome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can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be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represented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as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𝒜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𝒫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with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𝒜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={0,1}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𝒫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0.5,0.5</m:t>
                        </m:r>
                      </m:e>
                    </m:d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Calculate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Shannon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information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content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of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two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outcomes.</a:t>
                </a:r>
              </a:p>
              <a:p>
                <a:pPr>
                  <a:lnSpc>
                    <a:spcPct val="130000"/>
                  </a:lnSpc>
                </a:pPr>
                <a:endPara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r>
                  <a:rPr lang="zh-CN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uppos</a:t>
                </a:r>
                <a:r>
                  <a:rPr lang="en-US" altLang="zh-CN" sz="24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ing</a:t>
                </a:r>
                <a:r>
                  <a:rPr lang="zh-CN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the coin is biased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such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that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𝒫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0.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9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,0.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calculate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Shannon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information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content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of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two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outcomes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endPara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Let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Can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you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plot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curve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that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shows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h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(1)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419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versus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76CFDAC3-DE1F-D1DE-D794-AB50C2F824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  <a:blipFill>
                <a:blip r:embed="rId7"/>
                <a:stretch>
                  <a:fillRect l="-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2084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6B8D6-C48D-956E-D98F-48052CCB2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8B3477F-D552-911C-5EFC-39CF51F8FD1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AB0BDAFA-FACB-47BB-CD5C-BBD11391AF0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56C2CA-647A-42F8-B675-BF6B7D82D65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01938ED-286A-91B9-B4EB-71CE74BC97E2}"/>
              </a:ext>
            </a:extLst>
          </p:cNvPr>
          <p:cNvSpPr txBox="1"/>
          <p:nvPr/>
        </p:nvSpPr>
        <p:spPr>
          <a:xfrm>
            <a:off x="241300" y="26860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Entropy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53A1BF0-455A-9311-AC79-282F5F322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10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9C109AC3-770B-2409-356D-3B46E913A9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s-419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:r>
                  <a:rPr lang="es-419" altLang="zh-CN" sz="2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entropy</a:t>
                </a:r>
                <a:r>
                  <a:rPr lang="es-419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of a random variable </a:t>
                </a:r>
                <a14:m>
                  <m:oMath xmlns:m="http://schemas.openxmlformats.org/officeDocument/2006/math">
                    <m:r>
                      <a:rPr lang="es-419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s-419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defined to be the expected Shannon information content of an outcome: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s-419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s-419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𝑃</m:t>
                                  </m:r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{</m:t>
                                  </m:r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}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es-419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Entropy is measured in bits.</a:t>
                </a:r>
              </a:p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≥0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with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equality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iff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one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𝑖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If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any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we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have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419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convention that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func>
                      <m:func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0</m:t>
                            </m:r>
                          </m:den>
                        </m:f>
                      </m:e>
                    </m:func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≡</m:t>
                    </m:r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</m:oMath>
                </a14:m>
                <a:r>
                  <a:rPr lang="es-419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sinc</a:t>
                </a:r>
                <a:r>
                  <a:rPr lang="es-419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419" altLang="zh-CN" sz="24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s-419" altLang="zh-CN" sz="240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s-419" altLang="zh-CN" sz="2400" i="0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𝜃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→</m:t>
                            </m:r>
                            <m:sSup>
                              <m:sSupPr>
                                <m:ctrlP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+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𝜃</m:t>
                        </m:r>
                        <m:func>
                          <m:funcPr>
                            <m:ctrlPr>
                              <a:rPr lang="es-419" altLang="zh-CN" sz="24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s-419" altLang="zh-CN" sz="2400" b="0" i="0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s-419" altLang="zh-CN" sz="24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𝜃</m:t>
                                </m:r>
                              </m:den>
                            </m:f>
                          </m:e>
                        </m:func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=0</m:t>
                        </m:r>
                      </m:e>
                    </m:func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endPara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9C109AC3-770B-2409-356D-3B46E913A9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  <a:blipFill>
                <a:blip r:embed="rId7"/>
                <a:stretch>
                  <a:fillRect l="-870" t="-13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5052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77D74-EEA6-85B1-993F-134CE52B8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E58C0C3D-FF2D-2A39-402D-0EF28EDB49C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6674E4BC-7515-013D-95C2-B098D8D90F9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15AE6C-D67E-AD78-D741-CD5B404EC9A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706C893-BB06-32A7-41FE-C16FAD4295B6}"/>
              </a:ext>
            </a:extLst>
          </p:cNvPr>
          <p:cNvSpPr txBox="1"/>
          <p:nvPr/>
        </p:nvSpPr>
        <p:spPr>
          <a:xfrm>
            <a:off x="241300" y="26860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Exercises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D5B40AF-3A1D-71AB-2078-790B6E2D1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11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0FC711A4-463E-17BA-4AB3-4DF0D448E9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Calculate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entropy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of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fair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coin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toss.</a:t>
                </a:r>
              </a:p>
              <a:p>
                <a:pPr>
                  <a:lnSpc>
                    <a:spcPct val="130000"/>
                  </a:lnSpc>
                </a:pPr>
                <a:endPara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Calculate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entropy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of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tossing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biased</a:t>
                </a:r>
                <a:r>
                  <a:rPr lang="zh-CN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coin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with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𝒫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0.9,0.1</m:t>
                        </m:r>
                      </m:e>
                    </m:d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Let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Can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you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plot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curve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that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shows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419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versus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  <a:endPara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endPara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endPara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0FC711A4-463E-17BA-4AB3-4DF0D448E9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  <a:blipFill>
                <a:blip r:embed="rId7"/>
                <a:stretch>
                  <a:fillRect l="-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8658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B227D-81FE-9884-B23D-4A5F675B6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3459329A-F282-B606-1820-EF62F8739AC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EA34C17C-D2C2-779B-97E0-2A62659509A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D29CCDA-44DB-EF5B-ECE6-EF2E41FFCE2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BAEC84-7580-9E2F-97CE-DA28C7E17D1D}"/>
              </a:ext>
            </a:extLst>
          </p:cNvPr>
          <p:cNvSpPr txBox="1"/>
          <p:nvPr/>
        </p:nvSpPr>
        <p:spPr>
          <a:xfrm>
            <a:off x="241300" y="26860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Binary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Entropy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Function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917B371-DD7D-0F99-749A-3A8EF494A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12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34BBCECC-B72C-8D04-61CF-F3B87970BC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entropy of random variable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,{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,1−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})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termed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binary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entropy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function: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𝑝</m:t>
                      </m:r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</m:den>
                          </m:f>
                        </m:e>
                      </m:func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+(1−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𝑝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1−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endPara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34BBCECC-B72C-8D04-61CF-F3B87970BC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  <a:blipFill>
                <a:blip r:embed="rId7"/>
                <a:stretch>
                  <a:fillRect l="-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CA13190C-7BE0-E69A-87BD-3F3393018D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24" y="3581180"/>
            <a:ext cx="9415351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568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A3FF7-ADC7-DAC9-CD76-0C7E3C7BB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8F4DCE44-CA46-DFCC-683F-2198F5F4783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99FEE9DC-D65C-F733-9D03-EFEE6315F6E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E507DC-D432-E2BC-CDAA-0662BC9FF2E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F69C40-3D86-20DF-4536-8350D2FB6B46}"/>
              </a:ext>
            </a:extLst>
          </p:cNvPr>
          <p:cNvSpPr txBox="1"/>
          <p:nvPr/>
        </p:nvSpPr>
        <p:spPr>
          <a:xfrm>
            <a:off x="241300" y="26860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Interpretation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of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Entropy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A3D12C6-3953-AF97-80E3-7873A267A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13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B8F2C8AE-8C30-9DFE-61E0-C2176B3045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  <a:ln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Shannon information content and entropy are measure of surprise,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i.e.,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measure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of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uncertainty.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Entropy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fact the smallest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number of bits needed to describe the outcome of a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random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event,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which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provides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definition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of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information.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Shannon’s source coding theorem: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zh-CN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entropy 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zh-CN" sz="2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 is the theoretical lower bound for lossless compression</a:t>
                </a:r>
                <a:r>
                  <a:rPr lang="zh-CN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One bit of information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obtained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when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remove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uncertainty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represented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by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binary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random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variable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,{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,1−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})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with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=0.5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0.469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bit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of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information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is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obtained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if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=0.9</m:t>
                    </m:r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1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00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W</m:t>
                    </m:r>
                    <m:r>
                      <m:rPr>
                        <m:nor/>
                      </m:rPr>
                      <a:rPr lang="en-US" altLang="zh-CN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hen</m:t>
                    </m:r>
                    <m:r>
                      <m:rPr>
                        <m:nor/>
                      </m:rPr>
                      <a:rPr lang="zh-CN" altLang="en-US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we</m:t>
                    </m:r>
                    <m:r>
                      <m:rPr>
                        <m:nor/>
                      </m:rPr>
                      <a:rPr lang="zh-CN" altLang="en-US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remove</m:t>
                    </m:r>
                    <m:r>
                      <m:rPr>
                        <m:nor/>
                      </m:rPr>
                      <a:rPr lang="zh-CN" altLang="en-US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uncertainty</m:t>
                    </m:r>
                    <m:r>
                      <m:rPr>
                        <m:nor/>
                      </m:rPr>
                      <a:rPr lang="zh-CN" altLang="en-US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represented</m:t>
                    </m:r>
                    <m:r>
                      <m:rPr>
                        <m:nor/>
                      </m:rPr>
                      <a:rPr lang="zh-CN" altLang="en-US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by</m:t>
                    </m:r>
                    <m:r>
                      <m:rPr>
                        <m:nor/>
                      </m:rPr>
                      <a:rPr lang="zh-CN" altLang="en-US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a</m:t>
                    </m:r>
                    <m:r>
                      <m:rPr>
                        <m:nor/>
                      </m:rPr>
                      <a:rPr lang="zh-CN" altLang="en-US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random</m:t>
                    </m:r>
                    <m:r>
                      <m:rPr>
                        <m:nor/>
                      </m:rPr>
                      <a:rPr lang="zh-CN" altLang="en-US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variable</m:t>
                    </m:r>
                    <m:r>
                      <m:rPr>
                        <m:nor/>
                      </m:rPr>
                      <a:rPr lang="zh-CN" altLang="en-US" sz="2000" b="0" i="0" dirty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lang="en-US" altLang="zh-CN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𝒫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𝑋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we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obtain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bits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of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information.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In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other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words,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we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can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represent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random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variable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with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averagely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binary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digits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without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information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loss.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endPara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B8F2C8AE-8C30-9DFE-61E0-C2176B3045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  <a:blipFill>
                <a:blip r:embed="rId7"/>
                <a:stretch>
                  <a:fillRect l="-744" r="-173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4149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79D0A-951A-D08A-77E2-30793C873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F658ADF-A96C-1DFD-A748-92E89F07E58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4AE7994B-05FF-BFB5-739F-0FC997DD566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E87608-5F3B-2514-33F4-8B4361593C9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990636-5777-18F6-E94A-24C199A93B6D}"/>
              </a:ext>
            </a:extLst>
          </p:cNvPr>
          <p:cNvSpPr txBox="1"/>
          <p:nvPr/>
        </p:nvSpPr>
        <p:spPr>
          <a:xfrm>
            <a:off x="241300" y="26860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Exercises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8A8E2E1-0FB0-5D89-A8A8-486BFD453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14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94F42EF4-6CA7-2504-9A3E-941BBFF5D9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What is the smallest number of yes/no questions needed to identify an integer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between 0 and 63?</a:t>
                </a:r>
              </a:p>
              <a:p>
                <a:pPr>
                  <a:lnSpc>
                    <a:spcPct val="130000"/>
                  </a:lnSpc>
                </a:pPr>
                <a:endPara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You are given 12 balls, all equal in weight except for one that is either heavier or lighter. You are also given a two-pan balance to use. In each use of the balance, there are three possible outcomes: either the weights are equal, or the balls on the left are heavier, or the balls on the left are lighter.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Design a strategy to determine which is the odd ball and whether it is heavier or lighter than the others in as few uses of the balance as possible.</a:t>
                </a:r>
                <a:endPara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94F42EF4-6CA7-2504-9A3E-941BBFF5D9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  <a:blipFill>
                <a:blip r:embed="rId7"/>
                <a:stretch>
                  <a:fillRect l="-870" r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7034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9E0C0-C60B-ACBA-BC97-CA0F11F46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D10AB34C-2AFA-1B92-889E-3D3E8EAFA4D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0B269FF1-C782-88C4-F8C6-E1BD26918B4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D2D2B3-F47B-1D68-B911-35E2C85A6A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EAF82C-A83D-27A8-C656-0F8C14F5F93F}"/>
              </a:ext>
            </a:extLst>
          </p:cNvPr>
          <p:cNvSpPr txBox="1"/>
          <p:nvPr/>
        </p:nvSpPr>
        <p:spPr>
          <a:xfrm>
            <a:off x="241300" y="26860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Exercises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2A0AA48-4748-E480-B8F4-ED9019551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15</a:t>
            </a:fld>
            <a:endParaRPr lang="zh-CN" altLang="en-US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BFF1A58E-E1A0-D5ED-085D-BED45AA1E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300" y="882650"/>
            <a:ext cx="10210800" cy="640080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Jo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went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hospital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419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diagnose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he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had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type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heart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disease.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He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46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years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old,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CRP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419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(C-reactive protein)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test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was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high.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hospital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had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patients’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records.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doctor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predict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Jo’s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condition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based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knowledge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learned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records?</a:t>
            </a:r>
          </a:p>
          <a:p>
            <a:pPr marL="0" indent="0">
              <a:lnSpc>
                <a:spcPct val="130000"/>
              </a:lnSpc>
              <a:buNone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BF8467C-D9E3-288C-798E-4383298CA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183484"/>
              </p:ext>
            </p:extLst>
          </p:nvPr>
        </p:nvGraphicFramePr>
        <p:xfrm>
          <a:off x="408490" y="2924516"/>
          <a:ext cx="987642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3018">
                  <a:extLst>
                    <a:ext uri="{9D8B030D-6E8A-4147-A177-3AD203B41FA5}">
                      <a16:colId xmlns:a16="http://schemas.microsoft.com/office/drawing/2014/main" val="3107079532"/>
                    </a:ext>
                  </a:extLst>
                </a:gridCol>
                <a:gridCol w="2681792">
                  <a:extLst>
                    <a:ext uri="{9D8B030D-6E8A-4147-A177-3AD203B41FA5}">
                      <a16:colId xmlns:a16="http://schemas.microsoft.com/office/drawing/2014/main" val="252820581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84695976"/>
                    </a:ext>
                  </a:extLst>
                </a:gridCol>
                <a:gridCol w="2804610">
                  <a:extLst>
                    <a:ext uri="{9D8B030D-6E8A-4147-A177-3AD203B41FA5}">
                      <a16:colId xmlns:a16="http://schemas.microsoft.com/office/drawing/2014/main" val="8059947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Patient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Number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Age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CRP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Test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Result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Heart</a:t>
                      </a:r>
                      <a:r>
                        <a:rPr lang="zh-CN" alt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Disease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37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&gt;50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659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0200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&gt;50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0200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39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&gt;50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Normal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741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&gt;50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Normal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783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0200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&gt;50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Normal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54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&lt;50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063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0200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&lt;50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0200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310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&lt;50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Normal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617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&lt;50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Normal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562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0200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&lt;50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Normal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013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7949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9D143-CB01-D724-834C-9946D2464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路网">
            <a:extLst>
              <a:ext uri="{FF2B5EF4-FFF2-40B4-BE49-F238E27FC236}">
                <a16:creationId xmlns:a16="http://schemas.microsoft.com/office/drawing/2014/main" id="{ADF73DD0-61DC-8940-2B52-9BE9740FFE4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40000" cy="75565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8717114A-1E22-BA60-1F79-0605BB53B79F}"/>
              </a:ext>
            </a:extLst>
          </p:cNvPr>
          <p:cNvSpPr>
            <a:spLocks/>
          </p:cNvSpPr>
          <p:nvPr/>
        </p:nvSpPr>
        <p:spPr>
          <a:xfrm>
            <a:off x="0" y="0"/>
            <a:ext cx="5040000" cy="7556500"/>
          </a:xfrm>
          <a:prstGeom prst="rect">
            <a:avLst/>
          </a:prstGeom>
          <a:solidFill>
            <a:srgbClr val="7FB7DF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3DD38AD-19BA-0592-B7E2-0FCE9203B0DE}"/>
              </a:ext>
            </a:extLst>
          </p:cNvPr>
          <p:cNvSpPr txBox="1"/>
          <p:nvPr/>
        </p:nvSpPr>
        <p:spPr>
          <a:xfrm>
            <a:off x="1433830" y="3092450"/>
            <a:ext cx="1843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3DAF500-5E26-C599-7888-15241047996E}"/>
              </a:ext>
            </a:extLst>
          </p:cNvPr>
          <p:cNvSpPr txBox="1"/>
          <p:nvPr/>
        </p:nvSpPr>
        <p:spPr>
          <a:xfrm>
            <a:off x="1384300" y="3327981"/>
            <a:ext cx="252016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A9D9623-0281-E14C-B8E6-54872421F87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A0248A04-A575-DF09-0B03-3CC4BB429F4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16586">
            <a:off x="-1658791" y="5429809"/>
            <a:ext cx="3360712" cy="3360720"/>
          </a:xfrm>
          <a:prstGeom prst="rect">
            <a:avLst/>
          </a:prstGeom>
        </p:spPr>
      </p:pic>
      <p:sp>
        <p:nvSpPr>
          <p:cNvPr id="31" name="椭圆 30">
            <a:extLst>
              <a:ext uri="{FF2B5EF4-FFF2-40B4-BE49-F238E27FC236}">
                <a16:creationId xmlns:a16="http://schemas.microsoft.com/office/drawing/2014/main" id="{1B504F68-6F5B-F81F-6D76-5207D581768B}"/>
              </a:ext>
            </a:extLst>
          </p:cNvPr>
          <p:cNvSpPr/>
          <p:nvPr/>
        </p:nvSpPr>
        <p:spPr>
          <a:xfrm>
            <a:off x="705330" y="5453840"/>
            <a:ext cx="945670" cy="945670"/>
          </a:xfrm>
          <a:prstGeom prst="ellipse">
            <a:avLst/>
          </a:prstGeom>
          <a:solidFill>
            <a:schemeClr val="bg1">
              <a:alpha val="2605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6105E0E4-1374-D688-A49A-12F5E2FB27A1}"/>
              </a:ext>
            </a:extLst>
          </p:cNvPr>
          <p:cNvSpPr/>
          <p:nvPr/>
        </p:nvSpPr>
        <p:spPr>
          <a:xfrm>
            <a:off x="9415675" y="6656365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2B1C18E-E996-2F2D-480C-FF2AE61EC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16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7BAC5B-C01E-0124-108A-6B359F29E8B4}"/>
              </a:ext>
            </a:extLst>
          </p:cNvPr>
          <p:cNvSpPr txBox="1"/>
          <p:nvPr/>
        </p:nvSpPr>
        <p:spPr>
          <a:xfrm>
            <a:off x="5270500" y="1720850"/>
            <a:ext cx="5334000" cy="2741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Measure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of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Information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Shannon Information Content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and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Entropy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Continuous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Random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Variables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Relative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Entropy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and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Mutual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Information</a:t>
            </a:r>
          </a:p>
        </p:txBody>
      </p:sp>
    </p:spTree>
    <p:extLst>
      <p:ext uri="{BB962C8B-B14F-4D97-AF65-F5344CB8AC3E}">
        <p14:creationId xmlns:p14="http://schemas.microsoft.com/office/powerpoint/2010/main" val="1274539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96B2D-CA7D-D690-01B8-F0157DFC9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462080A-F423-B8F5-05D9-B246FF01236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05D34017-E872-6301-314F-38F41E69DC0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A0C3C6C-3556-CC9C-0710-F7366E5F0A6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092D3D-619D-98C1-4546-000E33FF27C9}"/>
              </a:ext>
            </a:extLst>
          </p:cNvPr>
          <p:cNvSpPr txBox="1"/>
          <p:nvPr/>
        </p:nvSpPr>
        <p:spPr>
          <a:xfrm>
            <a:off x="241300" y="26860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Differential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Entropy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7EBDBE-0A28-CD9B-DF11-7FC25436C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17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F25005B2-0507-F8B6-3032-5D5A8EB1E1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Consider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continuous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random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variable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with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probability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density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function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(pdf)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on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support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set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𝒮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entropy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termed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differential</a:t>
                </a:r>
                <a:r>
                  <a:rPr lang="zh-CN" altLang="en-US" sz="2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entropy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defined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as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=−</m:t>
                      </m:r>
                      <m:nary>
                        <m:nary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𝒮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d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</m:oMath>
                  </m:oMathPara>
                </a14:m>
                <a:endPara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 uniformly distributed random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variable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~</m:t>
                    </m:r>
                    <m:r>
                      <m:rPr>
                        <m:nor/>
                      </m:rP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U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(0,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has differential entropy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nary>
                        <m:nary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15"/>
                            </m:r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den>
                          </m:f>
                        </m:e>
                      </m:nary>
                      <m:func>
                        <m:func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lang="en-US" altLang="zh-CN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</m:t>
                              </m:r>
                            </m:den>
                          </m:f>
                        </m:e>
                      </m:func>
                      <m:r>
                        <m:rPr>
                          <m:sty m:val="p"/>
                        </m:rPr>
                        <a:rPr lang="en-US" altLang="zh-CN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d</m:t>
                      </m:r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</m:t>
                          </m:r>
                        </m:e>
                      </m:func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F25005B2-0507-F8B6-3032-5D5A8EB1E1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  <a:blipFill>
                <a:blip r:embed="rId7"/>
                <a:stretch>
                  <a:fillRect l="-870" b="-116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3631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F1D34-5748-A190-88F6-F2F13A28A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E8663A17-14E2-2304-2A7C-AEFAD46CAB6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5F0BCDFA-D49E-135A-B4E4-108C7240B85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A50D5D-C2FC-E2A0-B0FE-9A68ECF95D9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4971D2-2E64-4ED1-B73A-E5AFE9963E27}"/>
              </a:ext>
            </a:extLst>
          </p:cNvPr>
          <p:cNvSpPr txBox="1"/>
          <p:nvPr/>
        </p:nvSpPr>
        <p:spPr>
          <a:xfrm>
            <a:off x="241300" y="26860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Gaussian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Random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Variable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5E757C5-B4B1-51C9-34A2-A739941D7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18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FE503420-AC63-07DD-2241-D4BBB8DDF3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 Gaussian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distributed random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variable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~</m:t>
                    </m:r>
                    <m:r>
                      <m:rPr>
                        <m:nor/>
                      </m:rPr>
                      <a:rPr lang="en-US" altLang="zh-CN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N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(0,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has differential entropy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nary>
                        <m:naryPr>
                          <m:ctrl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15"/>
                            </m:r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𝜋</m:t>
                                  </m:r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nary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2</m:t>
                                      </m:r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𝜋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den>
                              </m:f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2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en-US" altLang="zh-CN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d</m:t>
                      </m:r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nary>
                        <m:nary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15"/>
                            </m:rP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𝜋</m:t>
                                  </m:r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nary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  <m:d>
                        <m:d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ln</m:t>
                              </m:r>
                            </m:fName>
                            <m:e>
                              <m:rad>
                                <m:radPr>
                                  <m:degHide m:val="on"/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𝜋</m:t>
                                  </m:r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e>
                          </m:func>
                        </m:e>
                      </m:d>
                      <m:r>
                        <m:rPr>
                          <m:sty m:val="p"/>
                        </m:rPr>
                        <a:rPr lang="en-US" altLang="zh-CN" sz="24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d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altLang="zh-CN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Ε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𝜋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zh-CN" altLang="en-US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nats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𝜋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𝑒</m:t>
                          </m:r>
                          <m:sSup>
                            <m:sSup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zh-CN" alt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</m:t>
                      </m:r>
                      <m:r>
                        <a:rPr lang="en-US" altLang="zh-CN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bits</m:t>
                      </m:r>
                      <m:r>
                        <a:rPr lang="en-US" altLang="zh-CN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US" altLang="zh-CN" sz="2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continuous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random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variables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with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fixed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support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interval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uniform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distribution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U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 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maximizes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differential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entropy.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unbounded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continuous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random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variables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with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mean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variance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Gaussian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distribution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N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𝜇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 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maximizes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differential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entropy.</a:t>
                </a: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FE503420-AC63-07DD-2241-D4BBB8DDF3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  <a:blipFill>
                <a:blip r:embed="rId7"/>
                <a:stretch>
                  <a:fillRect l="-870" t="-3564" r="-248" b="-3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940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CCFCC-809D-849B-7C57-92BA2C08E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路网">
            <a:extLst>
              <a:ext uri="{FF2B5EF4-FFF2-40B4-BE49-F238E27FC236}">
                <a16:creationId xmlns:a16="http://schemas.microsoft.com/office/drawing/2014/main" id="{9A198253-7036-9711-A376-C9A87218A66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40000" cy="75565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944D5122-2AEC-2A90-34A0-E1278E8B20A5}"/>
              </a:ext>
            </a:extLst>
          </p:cNvPr>
          <p:cNvSpPr>
            <a:spLocks/>
          </p:cNvSpPr>
          <p:nvPr/>
        </p:nvSpPr>
        <p:spPr>
          <a:xfrm>
            <a:off x="0" y="0"/>
            <a:ext cx="5040000" cy="7556500"/>
          </a:xfrm>
          <a:prstGeom prst="rect">
            <a:avLst/>
          </a:prstGeom>
          <a:solidFill>
            <a:srgbClr val="7FB7DF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9DFEFA0-6D3E-3736-235C-50933608A6EF}"/>
              </a:ext>
            </a:extLst>
          </p:cNvPr>
          <p:cNvSpPr txBox="1"/>
          <p:nvPr/>
        </p:nvSpPr>
        <p:spPr>
          <a:xfrm>
            <a:off x="1433830" y="3092450"/>
            <a:ext cx="1843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3D8AD7-8262-F299-F6AC-B519F5EB4BC6}"/>
              </a:ext>
            </a:extLst>
          </p:cNvPr>
          <p:cNvSpPr txBox="1"/>
          <p:nvPr/>
        </p:nvSpPr>
        <p:spPr>
          <a:xfrm>
            <a:off x="1384300" y="3327981"/>
            <a:ext cx="252016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6AC3F861-6EC7-B788-3A61-65B24071022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6BF1D6D9-1FAA-7AB7-515F-F753F0F06FB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16586">
            <a:off x="-1658791" y="5429809"/>
            <a:ext cx="3360712" cy="3360720"/>
          </a:xfrm>
          <a:prstGeom prst="rect">
            <a:avLst/>
          </a:prstGeom>
        </p:spPr>
      </p:pic>
      <p:sp>
        <p:nvSpPr>
          <p:cNvPr id="31" name="椭圆 30">
            <a:extLst>
              <a:ext uri="{FF2B5EF4-FFF2-40B4-BE49-F238E27FC236}">
                <a16:creationId xmlns:a16="http://schemas.microsoft.com/office/drawing/2014/main" id="{D14B3BF8-004F-19F8-6433-398151361CCF}"/>
              </a:ext>
            </a:extLst>
          </p:cNvPr>
          <p:cNvSpPr/>
          <p:nvPr/>
        </p:nvSpPr>
        <p:spPr>
          <a:xfrm>
            <a:off x="705330" y="5453840"/>
            <a:ext cx="945670" cy="945670"/>
          </a:xfrm>
          <a:prstGeom prst="ellipse">
            <a:avLst/>
          </a:prstGeom>
          <a:solidFill>
            <a:schemeClr val="bg1">
              <a:alpha val="2605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F5D62E77-B5C3-82AB-0B97-14D292D2070E}"/>
              </a:ext>
            </a:extLst>
          </p:cNvPr>
          <p:cNvSpPr/>
          <p:nvPr/>
        </p:nvSpPr>
        <p:spPr>
          <a:xfrm>
            <a:off x="9415675" y="6656365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56188DE-3ECD-2500-4D73-2B5A9E693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19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68EC902-D59C-A241-1C3B-2C66DAD7714D}"/>
              </a:ext>
            </a:extLst>
          </p:cNvPr>
          <p:cNvSpPr txBox="1"/>
          <p:nvPr/>
        </p:nvSpPr>
        <p:spPr>
          <a:xfrm>
            <a:off x="5270500" y="1720850"/>
            <a:ext cx="5334000" cy="2741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Measure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of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Information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Shannon Information Content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and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Entropy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Continuous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Random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Variables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Relative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Entropy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and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Mutual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Information</a:t>
            </a:r>
          </a:p>
        </p:txBody>
      </p:sp>
    </p:spTree>
    <p:extLst>
      <p:ext uri="{BB962C8B-B14F-4D97-AF65-F5344CB8AC3E}">
        <p14:creationId xmlns:p14="http://schemas.microsoft.com/office/powerpoint/2010/main" val="2244591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A2425-EDB9-EF51-7DBB-39FB12F3E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C847B2B8-A1B4-3610-E358-A0604784990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CE80FCAE-CD18-14D0-9330-E3ED732422B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106E09-3FC9-3F2B-6673-2A0EB8121A7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BA1E8D-A615-3647-10CD-0EE6A90A26BB}"/>
              </a:ext>
            </a:extLst>
          </p:cNvPr>
          <p:cNvSpPr txBox="1"/>
          <p:nvPr/>
        </p:nvSpPr>
        <p:spPr>
          <a:xfrm>
            <a:off x="241300" y="26860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Joint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Entropy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C0C70A1-0A0D-15CD-2C30-F4325A0B9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20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3FF7FF2C-559F-6EA0-B22F-285EED4EC0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joint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entropy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of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discrete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random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variables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𝑌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are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𝒜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</m:sub>
                          </m:sSub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𝒜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𝑌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ℙ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{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}</m:t>
                              </m:r>
                            </m:e>
                          </m:nary>
                          <m:func>
                            <m:funcPr>
                              <m:ctrlP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ℙ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{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}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Entropy is additive for independent random variables: 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zh-CN" alt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iff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en-US" altLang="zh-CN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ℙ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ℙ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ℙ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{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}</m:t>
                      </m:r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X</m:t>
                    </m:r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Y</m:t>
                    </m:r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~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ℙ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the conditional entropy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𝑌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|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</m:d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defined as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|</m:t>
                          </m:r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𝒜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</m:sub>
                          </m:sSub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𝒜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𝑌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ℙ</m:t>
                              </m:r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{</m:t>
                              </m:r>
                              <m:r>
                                <a:rPr lang="en-US" altLang="zh-CN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altLang="zh-CN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}</m:t>
                              </m:r>
                            </m:e>
                          </m:nary>
                          <m:func>
                            <m:func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ℙ</m:t>
                                  </m:r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{</m:t>
                                  </m:r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|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}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Chain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rule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of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joint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entropy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conditional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entropy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|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altLang="zh-CN" sz="2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3FF7FF2C-559F-6EA0-B22F-285EED4EC0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  <a:blipFill>
                <a:blip r:embed="rId7"/>
                <a:stretch>
                  <a:fillRect l="-870" t="-8515" b="-1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31703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F18CD-DE81-41E0-9576-B498FDFC1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C9AAE347-28DC-D877-9993-70D25B4F2EC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FDDBA2D8-60E7-7FE8-E8AF-7582AD6C013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EDCFE4E-CBDA-A832-1E6A-5B04553DB56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F3CED6-B1FB-9C31-E02B-C32906AE50E7}"/>
              </a:ext>
            </a:extLst>
          </p:cNvPr>
          <p:cNvSpPr txBox="1"/>
          <p:nvPr/>
        </p:nvSpPr>
        <p:spPr>
          <a:xfrm>
            <a:off x="241300" y="26860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Cross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Entropy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B6E41B8-18B6-197C-B890-ABDFDB64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21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F7514A35-8B6A-D638-4468-BF1AA0F2D5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While entropy measures the uncertainty of a single distribution, the concepts of cross entropy and KL divergence involve comparing two different distributions.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:r>
                  <a:rPr lang="en-US" altLang="zh-CN" sz="2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cross entropy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between two probability distributions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ℙ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{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ℚ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{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that are defined over the same alphabet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𝒜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ℙ</m:t>
                          </m:r>
                          <m:r>
                            <a:rPr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ℚ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𝒜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ℙ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{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}</m:t>
                          </m:r>
                          <m:func>
                            <m:func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ℚ</m:t>
                                  </m:r>
                                  <m: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{</m:t>
                                  </m:r>
                                  <m: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  <m: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}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such that the information content of the outcomes from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ℚ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{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weighted by the true probabilities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ℙ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{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Cross-entropy is not symmetric, meaning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ℙ</m:t>
                        </m:r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ℚ</m:t>
                        </m:r>
                      </m:e>
                    </m:d>
                    <m:r>
                      <a:rPr lang="en-US" altLang="zh-CN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≠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ℚ</m:t>
                        </m:r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ℙ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 general.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If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ℙ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ℚ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{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then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ℙ</m:t>
                        </m:r>
                        <m: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ℚ</m:t>
                        </m:r>
                      </m:e>
                    </m:d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ℙ</m:t>
                        </m:r>
                      </m:e>
                    </m:d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F7514A35-8B6A-D638-4468-BF1AA0F2D5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  <a:blipFill>
                <a:blip r:embed="rId7"/>
                <a:stretch>
                  <a:fillRect l="-994" r="-9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77481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0DBC4-61F9-2563-28C1-53B6672FE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C0925C73-9414-62BE-4F94-FC4E3F1E17F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11B3AECC-6BF6-BFCD-20D2-FF069D075EE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C4999E-1B7A-FDCE-8781-24DE00737A2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C3363E4-9151-C347-C503-B1D77F3A77FF}"/>
              </a:ext>
            </a:extLst>
          </p:cNvPr>
          <p:cNvSpPr txBox="1"/>
          <p:nvPr/>
        </p:nvSpPr>
        <p:spPr>
          <a:xfrm>
            <a:off x="241300" y="26860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Exercise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F742900-577A-4E12-8DBD-A06BCC3D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22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CC3E36F4-8F5B-4F3D-96C8-D97161B875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You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have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two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neural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networks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to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recognize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hand-written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digits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“0”-”9”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MNIST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dataset.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Assume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labels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are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represented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by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one-hot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coding.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“7”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(i.e.,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ℙ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=[0,0,0,0,0,0,0,1,0,0]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sent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to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two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models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two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models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respectively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outputs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altLang="zh-CN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ℚ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=[</m:t>
                      </m:r>
                      <m:r>
                        <m:rPr>
                          <m:nor/>
                        </m:rPr>
                        <a:rPr lang="en-US" altLang="zh-CN" sz="24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0.01,0.01,0.01,0.01,0.01,0.01,0.01,0.70,0.20,0.03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]</m:t>
                      </m:r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ℚ</m:t>
                          </m:r>
                        </m:e>
                        <m:sub>
                          <m:r>
                            <a:rPr lang="en-US" altLang="zh-CN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=[</m:t>
                      </m:r>
                      <m:r>
                        <m:rPr>
                          <m:nor/>
                        </m:rPr>
                        <a:rPr lang="en-US" altLang="zh-CN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0.01,0.01,0.01,0.01,0.01,0.01,0.01,0.30,0.60,0.03</m:t>
                      </m:r>
                      <m:r>
                        <a:rPr lang="en-US" altLang="zh-CN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]</m:t>
                      </m:r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Calculate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cross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entropy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and</a:t>
                </a:r>
                <a:r>
                  <a:rPr lang="zh-CN" alt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m</a:t>
                </a:r>
                <a:r>
                  <a:rPr lang="zh-CN" altLang="zh-CN" sz="24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ean </a:t>
                </a:r>
                <a:r>
                  <a:rPr lang="en-US" altLang="zh-CN" sz="24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s</a:t>
                </a:r>
                <a:r>
                  <a:rPr lang="zh-CN" altLang="zh-CN" sz="24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quared </a:t>
                </a:r>
                <a:r>
                  <a:rPr lang="en-US" altLang="zh-CN" sz="24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e</a:t>
                </a:r>
                <a:r>
                  <a:rPr lang="zh-CN" altLang="zh-CN" sz="24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rror</a:t>
                </a:r>
                <a:r>
                  <a:rPr lang="zh-CN" altLang="en-US" sz="24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of</a:t>
                </a:r>
                <a:r>
                  <a:rPr lang="zh-CN" altLang="en-US" sz="24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two</a:t>
                </a:r>
                <a:r>
                  <a:rPr lang="zh-CN" altLang="en-US" sz="24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models.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CC3E36F4-8F5B-4F3D-96C8-D97161B875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  <a:blipFill>
                <a:blip r:embed="rId7"/>
                <a:stretch>
                  <a:fillRect l="-870" r="-6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12229B84-5B24-DD35-CA13-FE590B6813E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802" y="1816950"/>
            <a:ext cx="5765800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1045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CD2-8A2B-0626-8412-C0E6A6278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3D331F5-9037-2142-B22A-B3F4A8AC150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E9CE313A-183B-378E-AA7F-2E13F59097B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901282-5EE0-B7DC-5AAC-273F8CE172C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6A84027-340A-D78D-ECCE-2643B869BC5F}"/>
              </a:ext>
            </a:extLst>
          </p:cNvPr>
          <p:cNvSpPr txBox="1"/>
          <p:nvPr/>
        </p:nvSpPr>
        <p:spPr>
          <a:xfrm>
            <a:off x="241300" y="26860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KL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Divergence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4691DF1-603A-7BC2-0A47-6F67E6F0A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23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E32827A3-4EE9-7356-8FE6-50A592DA96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ℙ</m:t>
                        </m:r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ℚ</m:t>
                        </m:r>
                      </m:e>
                    </m:d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ℙ</m:t>
                        </m:r>
                      </m:e>
                    </m:d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the difference between cross entropy and entropy, is called KL divergence.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:r>
                  <a:rPr lang="en-US" altLang="zh-CN" sz="2400" dirty="0" err="1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Kullback</a:t>
                </a:r>
                <a:r>
                  <a:rPr lang="en-US" altLang="zh-CN" sz="2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-Leibler divergence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(KL divergence)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or </a:t>
                </a:r>
                <a:r>
                  <a:rPr lang="en-US" altLang="zh-CN" sz="2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relative entropy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between two probability distributions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ℙ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{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ℚ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{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that are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defined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over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same alphabet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𝒜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KL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ℙ</m:t>
                          </m:r>
                          <m:r>
                            <a:rPr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||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ℚ</m:t>
                          </m:r>
                        </m:e>
                      </m:d>
                      <m:r>
                        <a:rPr lang="en-US" altLang="zh-CN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𝒜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ℙ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{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}</m:t>
                          </m:r>
                          <m:func>
                            <m:func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ℙ</m:t>
                                  </m:r>
                                  <m: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{</m:t>
                                  </m:r>
                                  <m: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  <m: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}</m:t>
                                  </m:r>
                                </m:num>
                                <m:den>
                                  <m: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ℚ</m:t>
                                  </m:r>
                                  <m: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{</m:t>
                                  </m:r>
                                  <m: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  <m: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}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relative entropy satisfies Gibbs’ inequality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KL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ℙ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||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ℚ</m:t>
                          </m:r>
                        </m:e>
                      </m:d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≥0</m:t>
                      </m:r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with equality only if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ℙ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lang="en-US" altLang="zh-CN" sz="24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ℚ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{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general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KL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ℙ</m:t>
                        </m:r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||</m:t>
                        </m:r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ℚ</m:t>
                        </m:r>
                      </m:e>
                    </m:d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≠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KL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ℚ</m:t>
                        </m:r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||</m:t>
                        </m:r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ℙ</m:t>
                        </m:r>
                      </m:e>
                    </m:d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E32827A3-4EE9-7356-8FE6-50A592DA96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  <a:blipFill>
                <a:blip r:embed="rId7"/>
                <a:stretch>
                  <a:fillRect l="-870" r="-6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1778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AC445-D054-25F6-C1B9-1E9A82210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341F97F5-275A-FC09-7E5E-82132690D04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59CB7B74-55CF-4917-3272-ACFCFFA360E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86CEE13-4C07-D70C-5420-3B4DA240B1D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4B1C808-34D1-35EF-9B8D-64A0E0199F3C}"/>
              </a:ext>
            </a:extLst>
          </p:cNvPr>
          <p:cNvSpPr txBox="1"/>
          <p:nvPr/>
        </p:nvSpPr>
        <p:spPr>
          <a:xfrm>
            <a:off x="241300" y="26860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Exercise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FF03EAC-42F3-F24C-9FD8-EEB6D38B2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24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C5D284F6-0234-CCE0-FDE6-457799B44E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zh-CN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news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zh-CN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pp monitors whether user interest in content categories (sports, technology, entertainment, finance) has shifted from last week (distribution 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ℙ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=[0.5,0.3,0.1,0.1]</m:t>
                    </m:r>
                  </m:oMath>
                </a14:m>
                <a:r>
                  <a:rPr lang="zh-CN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 to this week (distribution 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ℚ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=[0.45,0.35,0.15,0.05]</m:t>
                    </m:r>
                  </m:oMath>
                </a14:m>
                <a:r>
                  <a:rPr lang="zh-CN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). </a:t>
                </a:r>
                <a:endPara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product team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uses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whether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KL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ℙ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||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ℚ</m:t>
                        </m:r>
                      </m:e>
                    </m:d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≥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𝛿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=0.1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altLang="zh-CN" sz="24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nats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zh-CN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to decide whether to adjust recommendation strategies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Assume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that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ℙ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=[0.5,0.3,0.1,0.1]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ℚ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=[0.45,0.35,0.15,0.05]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Should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recommendation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strategy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be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changed?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C5D284F6-0234-CCE0-FDE6-457799B44E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  <a:blipFill>
                <a:blip r:embed="rId7"/>
                <a:stretch>
                  <a:fillRect l="-870" r="-1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37318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3B894-AFD6-8CEA-CFBD-BD5AD2EEE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C7C76AA4-3F44-CA7A-54FE-57BE5F55171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13B8098B-1B9A-E656-4840-8665A60B76A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5525DDB-3EE6-9E92-23AB-7975028430B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3509BD7-43E1-8C34-8CBE-A5FF679375FA}"/>
              </a:ext>
            </a:extLst>
          </p:cNvPr>
          <p:cNvSpPr txBox="1"/>
          <p:nvPr/>
        </p:nvSpPr>
        <p:spPr>
          <a:xfrm>
            <a:off x="241300" y="26860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Mutual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Information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CEE0BC4-2303-980E-D602-2F453197E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25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82953BD0-5128-E052-8843-DD2C11ED18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Consider two random variables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𝑌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with a joint probability mass function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ℙ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{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and marginal probability mass function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ℙ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{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ℙ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{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:r>
                  <a:rPr lang="en-US" altLang="zh-CN" sz="240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mutual information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𝐼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;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𝑌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 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 the relative entropy between the joint distribution and the product distribution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ℙ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{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ℙ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{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𝑦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i.e.,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𝐼</m:t>
                      </m:r>
                      <m:d>
                        <m:dPr>
                          <m:ctrlP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;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𝒜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</m:sub>
                          </m:sSub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𝒜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𝑌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altLang="zh-CN" sz="2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ℙ</m:t>
                              </m:r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{</m:t>
                              </m:r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𝑦</m:t>
                              </m:r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}</m:t>
                              </m:r>
                            </m:e>
                          </m:nary>
                          <m:func>
                            <m:func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ℙ</m:t>
                                  </m:r>
                                  <m: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{</m:t>
                                  </m:r>
                                  <m: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  <m: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  <m: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}</m:t>
                                  </m:r>
                                </m:num>
                                <m:den>
                                  <m: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ℙ</m:t>
                                  </m:r>
                                  <m: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{</m:t>
                                  </m:r>
                                  <m: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  <m: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}</m:t>
                                  </m:r>
                                  <m: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ℙ</m:t>
                                  </m:r>
                                  <m: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{</m:t>
                                  </m:r>
                                  <m: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𝑦</m:t>
                                  </m:r>
                                  <m:r>
                                    <a:rPr lang="en-US" altLang="zh-CN" sz="24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}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en-US" altLang="zh-CN" sz="2400" i="1" dirty="0">
                  <a:solidFill>
                    <a:srgbClr val="FF0000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KL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ℙ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{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}||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ℙ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{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}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ℙ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{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𝑦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}</m:t>
                          </m:r>
                        </m:e>
                      </m:d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𝐼</m:t>
                    </m:r>
                    <m:d>
                      <m:d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;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 the reduction in the uncertainty of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due to the knowledge of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𝑌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i.e.,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𝐼</m:t>
                      </m:r>
                      <m:d>
                        <m:dPr>
                          <m:ctrlP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;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𝑋</m:t>
                      </m:r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|</m:t>
                      </m:r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𝑌</m:t>
                      </m:r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82953BD0-5128-E052-8843-DD2C11ED18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  <a:blipFill>
                <a:blip r:embed="rId7"/>
                <a:stretch>
                  <a:fillRect l="-870" r="-11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68271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74A58-8F94-0C78-DA9C-EAF589729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6E0A6ED-89E4-AAC0-4B53-79775C4DBFC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A62C460D-C2FE-DD2C-0185-C63B9753115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5DA6C06-B8EC-DD1F-1864-9412753AF08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BC233C-8F0C-5CD4-D26C-AF788034F628}"/>
              </a:ext>
            </a:extLst>
          </p:cNvPr>
          <p:cNvSpPr txBox="1"/>
          <p:nvPr/>
        </p:nvSpPr>
        <p:spPr>
          <a:xfrm>
            <a:off x="241300" y="26860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Mutual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Information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F414BA8-081D-61C9-A3FB-0E21D6929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26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7DDF46F6-D517-EED9-8ED5-D286339EA4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400" i="1" dirty="0">
                  <a:solidFill>
                    <a:srgbClr val="FF0000"/>
                  </a:solidFill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𝐼</m:t>
                      </m:r>
                      <m:d>
                        <m:dPr>
                          <m:ctrlP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;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  <m:e>
                          <m:r>
                            <a:rPr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𝑌</m:t>
                      </m:r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|</m:t>
                      </m:r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𝑋</m:t>
                      </m:r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𝐼</m:t>
                      </m:r>
                      <m:d>
                        <m:dPr>
                          <m:ctrlP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;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𝑌</m:t>
                      </m:r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)−</m:t>
                      </m:r>
                      <m:r>
                        <a:rPr lang="en-US" altLang="zh-CN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𝑋</m:t>
                      </m:r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𝑌</m:t>
                      </m:r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𝐼</m:t>
                      </m:r>
                      <m:d>
                        <m:dPr>
                          <m:ctrlP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;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𝐼</m:t>
                      </m:r>
                      <m:d>
                        <m:dPr>
                          <m:ctrlP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;</m:t>
                          </m:r>
                          <m:r>
                            <a:rPr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𝐼</m:t>
                      </m:r>
                      <m:d>
                        <m:dPr>
                          <m:ctrlP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;</m:t>
                          </m:r>
                          <m:r>
                            <a:rPr lang="en-US" altLang="zh-CN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altLang="zh-CN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7DDF46F6-D517-EED9-8ED5-D286339EA4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E8668945-BD6E-12E7-19F7-FB22636E488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982" y="4193222"/>
            <a:ext cx="6453436" cy="248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8201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39639-EBA0-8865-C50E-DE59FE768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C40D5343-783C-6AF3-BE82-B81EBB214E6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9EA2B457-0A47-12B4-4742-7B9314438ED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F66B7DF-F6CE-5E5A-6074-B91937F778B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74FB0D-BC93-9C0B-DD22-16B4CD498D6F}"/>
              </a:ext>
            </a:extLst>
          </p:cNvPr>
          <p:cNvSpPr txBox="1"/>
          <p:nvPr/>
        </p:nvSpPr>
        <p:spPr>
          <a:xfrm>
            <a:off x="241300" y="26860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Exercise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A446179-1E65-DDF3-06DF-80992D7AE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27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314F109A-1C00-CEC3-A7E2-BD7A9B5623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Compute the mutual information between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𝑌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for a binary symmetric channel with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=0.15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when the input distribution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𝒫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:{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=0.9,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=0.1}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(Answer: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0.15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bits)</a:t>
                </a:r>
              </a:p>
              <a:p>
                <a:pPr>
                  <a:lnSpc>
                    <a:spcPct val="130000"/>
                  </a:lnSpc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Compute the mutual information between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𝑌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for a binary symmetric channel with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=0.15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when the input distribution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𝒫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:{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=0.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5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=0.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5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(Answer: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0.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39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bits)</a:t>
                </a:r>
              </a:p>
              <a:p>
                <a:pPr>
                  <a:lnSpc>
                    <a:spcPct val="130000"/>
                  </a:lnSpc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Compute the mutual information between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𝑌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for a binary symmetric channel with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=0.1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when the input distribution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𝒫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:{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=0.5,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=0.5}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(Answer: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0.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53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bits)</a:t>
                </a:r>
              </a:p>
              <a:p>
                <a:pPr>
                  <a:lnSpc>
                    <a:spcPct val="130000"/>
                  </a:lnSpc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314F109A-1C00-CEC3-A7E2-BD7A9B5623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  <a:blipFill>
                <a:blip r:embed="rId7"/>
                <a:stretch>
                  <a:fillRect l="-870" r="-1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23761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368F8-F256-4B30-BF69-879F274BA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27132AC6-46E1-CEAD-F201-C1ED6AE3459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C263EC23-E9BF-5FD5-C6A2-0E6B6BFE4EC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8C2D5C-E56D-048A-1EE5-BCDC9DF1C57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0EC0C57-80C7-D4E6-D1B2-38A57BFBFB77}"/>
              </a:ext>
            </a:extLst>
          </p:cNvPr>
          <p:cNvSpPr txBox="1"/>
          <p:nvPr/>
        </p:nvSpPr>
        <p:spPr>
          <a:xfrm>
            <a:off x="241300" y="26860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Exercise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00887FE-C413-A8E1-E77D-CDF0C0ACF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28</a:t>
            </a:fld>
            <a:endParaRPr lang="zh-CN" altLang="en-US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C6265487-BCDC-4DD7-C65D-3AB3BD6BF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300" y="882650"/>
            <a:ext cx="10210800" cy="640080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You are building an email classification system to distinguish spam from normal. You have collected 1,000 labeled emails (500 spam, 500 ham).</a:t>
            </a:r>
          </a:p>
          <a:p>
            <a:pPr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Your goal is to find which words are most useful for identifying spam, so you can use them as features for a classifier.</a:t>
            </a:r>
          </a:p>
          <a:p>
            <a:pPr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You have three candidate words: "invoice" , "hello" , and "free" .</a:t>
            </a:r>
          </a:p>
          <a:p>
            <a:pPr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Question: Which word has the strongest statistical association with spam?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B3F2CE1-2597-A491-6C06-AC34115056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164403"/>
              </p:ext>
            </p:extLst>
          </p:nvPr>
        </p:nvGraphicFramePr>
        <p:xfrm>
          <a:off x="511458" y="4838390"/>
          <a:ext cx="2743200" cy="171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674">
                  <a:extLst>
                    <a:ext uri="{9D8B030D-6E8A-4147-A177-3AD203B41FA5}">
                      <a16:colId xmlns:a16="http://schemas.microsoft.com/office/drawing/2014/main" val="4100343323"/>
                    </a:ext>
                  </a:extLst>
                </a:gridCol>
                <a:gridCol w="797442">
                  <a:extLst>
                    <a:ext uri="{9D8B030D-6E8A-4147-A177-3AD203B41FA5}">
                      <a16:colId xmlns:a16="http://schemas.microsoft.com/office/drawing/2014/main" val="522597545"/>
                    </a:ext>
                  </a:extLst>
                </a:gridCol>
                <a:gridCol w="909084">
                  <a:extLst>
                    <a:ext uri="{9D8B030D-6E8A-4147-A177-3AD203B41FA5}">
                      <a16:colId xmlns:a16="http://schemas.microsoft.com/office/drawing/2014/main" val="924750439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Spam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Normal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90245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Contain</a:t>
                      </a:r>
                      <a:r>
                        <a:rPr lang="zh-CN" alt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“Invoice”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880205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r>
                        <a:rPr lang="zh-CN" alt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“Invoice”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320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481089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061BEB7-B4F6-3180-2067-EE2C369C2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5500443"/>
              </p:ext>
            </p:extLst>
          </p:nvPr>
        </p:nvGraphicFramePr>
        <p:xfrm>
          <a:off x="3975100" y="4838390"/>
          <a:ext cx="2743200" cy="169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674">
                  <a:extLst>
                    <a:ext uri="{9D8B030D-6E8A-4147-A177-3AD203B41FA5}">
                      <a16:colId xmlns:a16="http://schemas.microsoft.com/office/drawing/2014/main" val="4100343323"/>
                    </a:ext>
                  </a:extLst>
                </a:gridCol>
                <a:gridCol w="797442">
                  <a:extLst>
                    <a:ext uri="{9D8B030D-6E8A-4147-A177-3AD203B41FA5}">
                      <a16:colId xmlns:a16="http://schemas.microsoft.com/office/drawing/2014/main" val="522597545"/>
                    </a:ext>
                  </a:extLst>
                </a:gridCol>
                <a:gridCol w="909084">
                  <a:extLst>
                    <a:ext uri="{9D8B030D-6E8A-4147-A177-3AD203B41FA5}">
                      <a16:colId xmlns:a16="http://schemas.microsoft.com/office/drawing/2014/main" val="924750439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Spam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Normal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90245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Contain</a:t>
                      </a:r>
                      <a:r>
                        <a:rPr lang="zh-CN" alt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“Hello”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880205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r>
                        <a:rPr lang="zh-CN" alt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“Hello”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450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481089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4362DEFE-810D-FF6F-A8CE-81191DA16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135775"/>
              </p:ext>
            </p:extLst>
          </p:nvPr>
        </p:nvGraphicFramePr>
        <p:xfrm>
          <a:off x="7438742" y="4829020"/>
          <a:ext cx="2743200" cy="169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674">
                  <a:extLst>
                    <a:ext uri="{9D8B030D-6E8A-4147-A177-3AD203B41FA5}">
                      <a16:colId xmlns:a16="http://schemas.microsoft.com/office/drawing/2014/main" val="4100343323"/>
                    </a:ext>
                  </a:extLst>
                </a:gridCol>
                <a:gridCol w="797442">
                  <a:extLst>
                    <a:ext uri="{9D8B030D-6E8A-4147-A177-3AD203B41FA5}">
                      <a16:colId xmlns:a16="http://schemas.microsoft.com/office/drawing/2014/main" val="522597545"/>
                    </a:ext>
                  </a:extLst>
                </a:gridCol>
                <a:gridCol w="909084">
                  <a:extLst>
                    <a:ext uri="{9D8B030D-6E8A-4147-A177-3AD203B41FA5}">
                      <a16:colId xmlns:a16="http://schemas.microsoft.com/office/drawing/2014/main" val="924750439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/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Spam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Normal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90245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Contain</a:t>
                      </a:r>
                      <a:r>
                        <a:rPr lang="zh-CN" alt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“Free”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880205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r>
                        <a:rPr lang="zh-CN" alt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“Free”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400</a:t>
                      </a:r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481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0394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CE22C-A5A1-E6BD-CFC6-9C42CF089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9460C78D-D1F5-B8DC-E79F-44A615BC436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6D38FC92-5643-11C1-83A8-3689D1EC061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CEE267-9EF2-4B55-F3D2-1B53838B27E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90B655-C649-F5EB-7A7B-7912D43E9CBE}"/>
              </a:ext>
            </a:extLst>
          </p:cNvPr>
          <p:cNvSpPr txBox="1"/>
          <p:nvPr/>
        </p:nvSpPr>
        <p:spPr>
          <a:xfrm>
            <a:off x="241300" y="268605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Summary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9A4F2AA-8A88-3BDA-6919-BAC06C4EF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29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A3187266-5259-8EA2-D8F8-FA1292AC99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596870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Information content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h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entropy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are measures of uncertainty of random variables.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KL divergence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KL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ℙ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||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ℚ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 a measure of difference between two probability distributions.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Cross entropy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ℙ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ℚ</m:t>
                        </m:r>
                      </m:e>
                    </m:d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the sum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KL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ℙ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||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ℚ</m:t>
                        </m:r>
                      </m:e>
                    </m:d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When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ℙ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fixed,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fixed. Minimizing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ℙ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ℚ</m:t>
                        </m:r>
                      </m:e>
                    </m:d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equivalent to minimizing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KL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ℙ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||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ℚ</m:t>
                        </m:r>
                      </m:e>
                    </m:d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Mutual information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𝐼</m:t>
                    </m:r>
                    <m:d>
                      <m:d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;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 a measure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of dependence between two random variables.</a:t>
                </a:r>
              </a:p>
            </p:txBody>
          </p:sp>
        </mc:Choice>
        <mc:Fallback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A3187266-5259-8EA2-D8F8-FA1292AC99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5968706"/>
              </a:xfrm>
              <a:blipFill>
                <a:blip r:embed="rId7"/>
                <a:stretch>
                  <a:fillRect l="-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09258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路网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rcRect b="47420"/>
          <a:stretch>
            <a:fillRect/>
          </a:stretch>
        </p:blipFill>
        <p:spPr>
          <a:xfrm>
            <a:off x="0" y="0"/>
            <a:ext cx="10749280" cy="760857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-76835" y="0"/>
            <a:ext cx="10863580" cy="7662545"/>
          </a:xfrm>
          <a:prstGeom prst="rect">
            <a:avLst/>
          </a:prstGeom>
          <a:solidFill>
            <a:schemeClr val="accent5">
              <a:lumMod val="40000"/>
              <a:lumOff val="60000"/>
              <a:alpha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16586">
            <a:off x="-1658791" y="5429809"/>
            <a:ext cx="3360712" cy="3360720"/>
          </a:xfrm>
          <a:prstGeom prst="rect">
            <a:avLst/>
          </a:prstGeom>
        </p:spPr>
      </p:pic>
      <p:sp>
        <p:nvSpPr>
          <p:cNvPr id="31" name="椭圆 30"/>
          <p:cNvSpPr/>
          <p:nvPr/>
        </p:nvSpPr>
        <p:spPr>
          <a:xfrm>
            <a:off x="705330" y="5453840"/>
            <a:ext cx="945670" cy="945670"/>
          </a:xfrm>
          <a:prstGeom prst="ellipse">
            <a:avLst/>
          </a:prstGeom>
          <a:solidFill>
            <a:schemeClr val="bg1">
              <a:alpha val="2605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9415675" y="6656365"/>
            <a:ext cx="1604513" cy="1604513"/>
          </a:xfrm>
          <a:prstGeom prst="ellipse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2823210" y="2787650"/>
            <a:ext cx="5254625" cy="10147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Thank</a:t>
            </a:r>
            <a:r>
              <a:rPr kumimoji="1" lang="zh-CN" altLang="en-US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You!</a:t>
            </a:r>
            <a:r>
              <a:rPr kumimoji="1" lang="zh-CN" altLang="en-US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30</a:t>
            </a:fld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1d9af1c2-292d-4add-a98c-a17a49d2a9f7"/>
  <p:tag name="COMMONDATA" val="eyJoZGlkIjoiMTVjMTkzNjFhOTQ4NTQ4NjBkYWI0MGJlMzcwYjc0MDMifQ=="/>
  <p:tag name="FULLTEXTBEAUTIFY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21407</TotalTime>
  <Words>2267</Words>
  <Application>Microsoft Macintosh PowerPoint</Application>
  <PresentationFormat>自定义</PresentationFormat>
  <Paragraphs>312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6" baseType="lpstr">
      <vt:lpstr>等线</vt:lpstr>
      <vt:lpstr>等线 Light</vt:lpstr>
      <vt:lpstr>微软雅黑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网络协同制造技术资源服务平台研发与 应用示范</dc:title>
  <dc:creator/>
  <cp:lastModifiedBy>Chao Wang</cp:lastModifiedBy>
  <cp:revision>917</cp:revision>
  <dcterms:created xsi:type="dcterms:W3CDTF">2022-10-25T13:05:00Z</dcterms:created>
  <dcterms:modified xsi:type="dcterms:W3CDTF">2026-06-01T14:51:02Z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0A74D09E0E724F8FA59AA918B4966ED9</vt:lpwstr>
  </property>
  <property fmtid="{D5CDD505-2E9C-101B-9397-08002B2CF9AE}" pid="3" name="KSOProductBuildVer">
    <vt:lpwstr>2052-11.1.0.13703</vt:lpwstr>
  </property>
</Properties>
</file>