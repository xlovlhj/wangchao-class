
<file path=[Content_Types].xml><?xml version="1.0" encoding="utf-8"?>
<Types xmlns="http://schemas.openxmlformats.org/package/2006/content-types">
  <Default Extension="bin" ContentType="image/unknown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6256000" cy="9144000"/>
  <p:notesSz cx="9144000" cy="16256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功率</c:v>
                </c:pt>
              </c:strCache>
            </c:strRef>
          </c:tx>
          <c:spPr>
            <a:solidFill>
              <a:srgbClr val="66BB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E7D32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基频f₀</c:v>
                </c:pt>
                <c:pt idx="1">
                  <c:v>2次谐波</c:v>
                </c:pt>
                <c:pt idx="2">
                  <c:v>3次谐波</c:v>
                </c:pt>
                <c:pt idx="3">
                  <c:v>啮合频率</c:v>
                </c:pt>
                <c:pt idx="4">
                  <c:v>高频噪声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20</c:v>
                </c:pt>
                <c:pt idx="2">
                  <c:v>10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35-4720-ADBF-F5E1DC0607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E7D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功率</c:v>
                </c:pt>
              </c:strCache>
            </c:strRef>
          </c:tx>
          <c:spPr>
            <a:solidFill>
              <a:srgbClr val="EF53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C62828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基频f₀</c:v>
                </c:pt>
                <c:pt idx="1">
                  <c:v>2次谐波</c:v>
                </c:pt>
                <c:pt idx="2">
                  <c:v>3次谐波</c:v>
                </c:pt>
                <c:pt idx="3">
                  <c:v>啮合频率</c:v>
                </c:pt>
                <c:pt idx="4">
                  <c:v>高频噪声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15</c:v>
                </c:pt>
                <c:pt idx="2">
                  <c:v>8</c:v>
                </c:pt>
                <c:pt idx="3">
                  <c:v>55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6A-493A-B0A4-3AD6ACECFB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628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7926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96ed6322ce8058db431fa6ac186efcaef0ac7bcd.jpg"/>
          <p:cNvPicPr>
            <a:picLocks noChangeAspect="1"/>
          </p:cNvPicPr>
          <p:nvPr/>
        </p:nvPicPr>
        <p:blipFill>
          <a:blip r:embed="rId3"/>
          <a:srcRect t="195" b="19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A1A2E">
                  <a:alpha val="94000"/>
                </a:srgbClr>
              </a:gs>
              <a:gs pos="55000">
                <a:srgbClr val="1A1A2E">
                  <a:alpha val="82000"/>
                </a:srgbClr>
              </a:gs>
              <a:gs pos="100000">
                <a:srgbClr val="1A1A2E">
                  <a:alpha val="38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1016000" y="22860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1016000" y="2540000"/>
            <a:ext cx="889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400" b="1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智能机械臂分拣系统</a:t>
            </a:r>
            <a:endParaRPr lang="en-US" sz="4400" dirty="0"/>
          </a:p>
          <a:p>
            <a:pPr algn="l">
              <a:lnSpc>
                <a:spcPct val="130000"/>
              </a:lnSpc>
            </a:pPr>
            <a:r>
              <a:rPr lang="en-US" sz="2800" kern="0" spc="100" dirty="0">
                <a:solidFill>
                  <a:srgbClr val="F4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——通信理论在机器人工程中的贯穿应用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16000" y="6604000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（信息与）通信技术（基础）课程汇报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2026年6月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4064000" cy="508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kern="0" spc="1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信息决策层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智能通信层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系统总览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62000" y="1397000"/>
            <a:ext cx="8890000" cy="71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89000" y="1524000"/>
            <a:ext cx="8636000" cy="1587500"/>
          </a:xfrm>
          <a:prstGeom prst="roundRect">
            <a:avLst>
              <a:gd name="adj" fmla="val 3000"/>
            </a:avLst>
          </a:prstGeom>
          <a:solidFill>
            <a:srgbClr val="FCEE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16000" y="1587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上层智能层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79500" y="1930400"/>
            <a:ext cx="3810000" cy="508000"/>
          </a:xfrm>
          <a:prstGeom prst="roundRect">
            <a:avLst>
              <a:gd name="adj" fmla="val 5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79500" y="19304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9 汉明码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可靠远程通信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9500" y="2540000"/>
            <a:ext cx="3810000" cy="508000"/>
          </a:xfrm>
          <a:prstGeom prst="roundRect">
            <a:avLst>
              <a:gd name="adj" fmla="val 5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79500" y="2540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8 交叉熵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深度学习物体识别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9000" y="3238500"/>
            <a:ext cx="8636000" cy="1587500"/>
          </a:xfrm>
          <a:prstGeom prst="roundRect">
            <a:avLst>
              <a:gd name="adj" fmla="val 3000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16000" y="3302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5C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中层信息层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79500" y="3644900"/>
            <a:ext cx="3810000" cy="508000"/>
          </a:xfrm>
          <a:prstGeom prst="roundRect">
            <a:avLst>
              <a:gd name="adj" fmla="val 5000"/>
            </a:avLst>
          </a:prstGeom>
          <a:solidFill>
            <a:srgbClr val="5C6B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79500" y="36449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7 贝叶斯决策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代价敏感二分类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79500" y="4254500"/>
            <a:ext cx="3810000" cy="508000"/>
          </a:xfrm>
          <a:prstGeom prst="roundRect">
            <a:avLst>
              <a:gd name="adj" fmla="val 5000"/>
            </a:avLst>
          </a:prstGeom>
          <a:solidFill>
            <a:srgbClr val="5C6B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79500" y="4254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2 贝叶斯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多传感器融合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89000" y="4953000"/>
            <a:ext cx="8636000" cy="1587500"/>
          </a:xfrm>
          <a:prstGeom prst="roundRect">
            <a:avLst>
              <a:gd name="adj" fmla="val 3000"/>
            </a:avLst>
          </a:prstGeom>
          <a:solidFill>
            <a:srgbClr val="EDE9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016000" y="5016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7B6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79500" y="5359400"/>
            <a:ext cx="3810000" cy="508000"/>
          </a:xfrm>
          <a:prstGeom prst="roundRect">
            <a:avLst>
              <a:gd name="adj" fmla="val 5000"/>
            </a:avLst>
          </a:prstGeom>
          <a:solidFill>
            <a:srgbClr val="7B6B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079500" y="53594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1 傅里叶变换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振动频谱监测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79500" y="5969000"/>
            <a:ext cx="3810000" cy="508000"/>
          </a:xfrm>
          <a:prstGeom prst="roundRect">
            <a:avLst>
              <a:gd name="adj" fmla="val 5000"/>
            </a:avLst>
          </a:prstGeom>
          <a:solidFill>
            <a:srgbClr val="7B6B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079500" y="5969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3 系统辨识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电机传递函数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89000" y="6667500"/>
            <a:ext cx="8636000" cy="1587500"/>
          </a:xfrm>
          <a:prstGeom prst="roundRect">
            <a:avLst>
              <a:gd name="adj" fmla="val 3000"/>
            </a:avLst>
          </a:prstGeom>
          <a:solidFill>
            <a:srgbClr val="E8E8E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016000" y="6731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6B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79500" y="7073900"/>
            <a:ext cx="2540000" cy="508000"/>
          </a:xfrm>
          <a:prstGeom prst="roundRect">
            <a:avLst>
              <a:gd name="adj" fmla="val 5000"/>
            </a:avLst>
          </a:prstGeom>
          <a:solidFill>
            <a:srgbClr val="6B6B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79500" y="70739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5 采样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IMU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746500" y="7073900"/>
            <a:ext cx="2540000" cy="508000"/>
          </a:xfrm>
          <a:prstGeom prst="roundRect">
            <a:avLst>
              <a:gd name="adj" fmla="val 5000"/>
            </a:avLst>
          </a:prstGeom>
          <a:solidFill>
            <a:srgbClr val="6B6B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3746500" y="70739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6 量化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编码器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13500" y="7073900"/>
            <a:ext cx="2540000" cy="508000"/>
          </a:xfrm>
          <a:prstGeom prst="roundRect">
            <a:avLst>
              <a:gd name="adj" fmla="val 5000"/>
            </a:avLst>
          </a:prstGeom>
          <a:solidFill>
            <a:srgbClr val="6B6B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413500" y="70739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4 PWM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电机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906000" y="1397000"/>
            <a:ext cx="5588000" cy="711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508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0160000" y="158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信息流方向：从下到上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160000" y="2032000"/>
            <a:ext cx="5080000" cy="254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0160000" y="2286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解决"怎么动"——PWM驱动、编码器量化、IMU采样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160000" y="3556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系统建模层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解决"怎么建模"——电机辨识和振动监测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0160000" y="4826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中层信息层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解决"怎么判断"——传感器融合和决策分类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160000" y="6096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上层智能层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解决"怎么更聪明"——深度学习识别和可靠通信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2573000" y="736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3898" y="17264"/>
                </a:moveTo>
                <a:cubicBezTo>
                  <a:pt x="267361" y="4862"/>
                  <a:pt x="240506" y="4862"/>
                  <a:pt x="223970" y="17264"/>
                </a:cubicBezTo>
                <a:lnTo>
                  <a:pt x="12303" y="176014"/>
                </a:lnTo>
                <a:cubicBezTo>
                  <a:pt x="-4233" y="188416"/>
                  <a:pt x="-4233" y="208558"/>
                  <a:pt x="12303" y="220960"/>
                </a:cubicBezTo>
                <a:cubicBezTo>
                  <a:pt x="28840" y="233362"/>
                  <a:pt x="55695" y="233362"/>
                  <a:pt x="72231" y="220960"/>
                </a:cubicBezTo>
                <a:lnTo>
                  <a:pt x="211667" y="116384"/>
                </a:lnTo>
                <a:lnTo>
                  <a:pt x="211667" y="484187"/>
                </a:lnTo>
                <a:cubicBezTo>
                  <a:pt x="211667" y="501749"/>
                  <a:pt x="230584" y="515938"/>
                  <a:pt x="254000" y="515938"/>
                </a:cubicBezTo>
                <a:cubicBezTo>
                  <a:pt x="277416" y="515938"/>
                  <a:pt x="296333" y="501749"/>
                  <a:pt x="296333" y="484187"/>
                </a:cubicBezTo>
                <a:lnTo>
                  <a:pt x="296333" y="116384"/>
                </a:lnTo>
                <a:lnTo>
                  <a:pt x="435769" y="220960"/>
                </a:lnTo>
                <a:cubicBezTo>
                  <a:pt x="452305" y="233363"/>
                  <a:pt x="479160" y="233363"/>
                  <a:pt x="495697" y="220960"/>
                </a:cubicBezTo>
                <a:cubicBezTo>
                  <a:pt x="512233" y="208558"/>
                  <a:pt x="512233" y="188416"/>
                  <a:pt x="495697" y="176014"/>
                </a:cubicBezTo>
                <a:lnTo>
                  <a:pt x="284030" y="17264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/ 18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9144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2286000"/>
            <a:ext cx="482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阶段一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62000" y="3175000"/>
            <a:ext cx="762000" cy="508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62000" y="3429000"/>
            <a:ext cx="482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让机械臂"活"起来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62000" y="49530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底层物理层——驱动、感知与数据采集</a:t>
            </a:r>
            <a:endParaRPr lang="en-US" sz="1800" dirty="0"/>
          </a:p>
        </p:txBody>
      </p:sp>
      <p:pic>
        <p:nvPicPr>
          <p:cNvPr id="7" name="Image 0" descr="https://kimi-web-img.moonshot.cn/img/kawasakirobotics.com/f21fd97fb2b8c392bf9b858f2382200be400ac9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0000" y="0"/>
            <a:ext cx="9906000" cy="9144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50000" y="0"/>
            <a:ext cx="2540000" cy="9144000"/>
          </a:xfrm>
          <a:prstGeom prst="rect">
            <a:avLst/>
          </a:prstGeom>
          <a:gradFill flip="none" rotWithShape="1">
            <a:gsLst>
              <a:gs pos="0">
                <a:srgbClr val="2D3142"/>
              </a:gs>
              <a:gs pos="100000">
                <a:srgbClr val="2D3142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4064000" cy="508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kern="0" spc="1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信息决策层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智能通信层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4 — PWM 驱动电机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3716000" y="7366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716000" y="7366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1397000"/>
            <a:ext cx="6604000" cy="2921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52500" y="14986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三种脉冲调制方式对比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1905000"/>
          <a:ext cx="6223000" cy="2286000"/>
        </p:xfrm>
        <a:graphic>
          <a:graphicData uri="http://schemas.openxmlformats.org/drawingml/2006/table">
            <a:tbl>
              <a:tblPr/>
              <a:tblGrid>
                <a:gridCol w="155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调制类型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调制参数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抗噪性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适用场景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PAM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幅度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07A5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❌ 差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音频信号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PWM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宽度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✅ 好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电机驱动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PPM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位置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✅ 好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通信系统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620000" y="1397000"/>
            <a:ext cx="7874000" cy="2921000"/>
          </a:xfrm>
          <a:prstGeom prst="roundRect">
            <a:avLst>
              <a:gd name="adj" fmla="val 2000"/>
            </a:avLst>
          </a:prstGeom>
          <a:solidFill>
            <a:srgbClr val="FCEE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7874000" y="15240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核心公式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3"/>
              <p:cNvSpPr/>
              <p:nvPr/>
            </p:nvSpPr>
            <p:spPr>
              <a:xfrm>
                <a:off x="7874000" y="2032000"/>
                <a:ext cx="7366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𝑉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𝑎𝑣𝑔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𝐷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⋅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𝑉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𝑐𝑐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, 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𝐷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200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𝑜𝑛</m:t>
                              </m:r>
                            </m:sub>
                          </m:sSub>
                        </m:num>
                        <m:den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 13"/>
              <p:cNvSpPr/>
              <p:nvPr/>
            </p:nvSpPr>
            <p:spPr>
              <a:xfrm>
                <a:off x="7874000" y="2032000"/>
                <a:ext cx="7366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V_{\text{avg}} = D \cdot V_{cc}, \quad D = \frac{t_{\text{on}}}{T} \)</a:t>
                </a:r>
                <a:endParaRPr lang="en-US" sz="2400" dirty="0"/>
              </a:p>
            </p:txBody>
          </p:sp>
        </mc:Fallback>
      </mc:AlternateContent>
      <p:sp>
        <p:nvSpPr>
          <p:cNvPr id="17" name="Text 14"/>
          <p:cNvSpPr/>
          <p:nvPr/>
        </p:nvSpPr>
        <p:spPr>
          <a:xfrm>
            <a:off x="7874000" y="2794000"/>
            <a:ext cx="736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占空比 D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：高电平时间占整个周期的比例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V_cc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：电源电压（如 24V）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V_avg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：电机等效平均电压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2000" y="4635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信号链：微控制器 → 关节转动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5143500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762000" y="51435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微控制器</a:t>
            </a:r>
            <a:endParaRPr lang="en-US" sz="1400" dirty="0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生成PWM波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403600" y="53975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3886200" y="5143500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3886200" y="51435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H桥功率放大</a:t>
            </a:r>
            <a:endParaRPr lang="en-US" sz="1400" dirty="0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驱动能力提升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527800" y="53975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7010400" y="5143500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7010400" y="51435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直流伺服电机</a:t>
            </a:r>
            <a:endParaRPr lang="en-US" sz="1400" dirty="0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电磁转矩输出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652000" y="53975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10134600" y="5143500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10134600" y="51435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关节转动</a:t>
            </a:r>
            <a:endParaRPr lang="en-US" sz="1400" dirty="0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6自由度机械臂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62000" y="622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占空比控制示意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762000" y="6731000"/>
            <a:ext cx="2286000" cy="50800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9"/>
          <p:cNvSpPr/>
          <p:nvPr/>
        </p:nvSpPr>
        <p:spPr>
          <a:xfrm>
            <a:off x="762000" y="6731000"/>
            <a:ext cx="571500" cy="5080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762000" y="6731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低速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3302000" y="6731000"/>
            <a:ext cx="2286000" cy="50800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3302000" y="6731000"/>
            <a:ext cx="1143000" cy="5080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3302000" y="6731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50%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中速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842000" y="6731000"/>
            <a:ext cx="2286000" cy="50800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5"/>
          <p:cNvSpPr/>
          <p:nvPr/>
        </p:nvSpPr>
        <p:spPr>
          <a:xfrm>
            <a:off x="5842000" y="6731000"/>
            <a:ext cx="1714500" cy="5080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6"/>
          <p:cNvSpPr/>
          <p:nvPr/>
        </p:nvSpPr>
        <p:spPr>
          <a:xfrm>
            <a:off x="5842000" y="6731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75%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高速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382000" y="6731000"/>
            <a:ext cx="2286000" cy="508000"/>
          </a:xfrm>
          <a:prstGeom prst="roundRect">
            <a:avLst>
              <a:gd name="adj" fmla="val 5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8"/>
          <p:cNvSpPr/>
          <p:nvPr/>
        </p:nvSpPr>
        <p:spPr>
          <a:xfrm>
            <a:off x="8382000" y="6731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全速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39"/>
              <p:cNvSpPr/>
              <p:nvPr/>
            </p:nvSpPr>
            <p:spPr>
              <a:xfrm>
                <a:off x="762000" y="7620000"/>
                <a:ext cx="13970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highlight>
                      <a:srgbClr val="FCEEE9">
                        <a:alpha val="100000"/>
                      </a:srgbClr>
                    </a:highlight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📌 关键结论</a:t>
                </a: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：噪声对脉冲边沿位置的影响远小于对幅度的影响 → </a:t>
                </a: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PWM比PAM更抗噪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实际参数：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𝑓</m:t>
                        </m:r>
                      </m:e>
                      <m:sub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𝑃𝑊𝑀</m:t>
                        </m:r>
                      </m:sub>
                    </m:sSub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=20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𝑘𝐻𝑧</m:t>
                    </m:r>
                  </m:oMath>
                </a14:m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（人耳听不到），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𝑉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𝑐𝑐</m:t>
                        </m:r>
                      </m:sub>
                    </m:sSub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=24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𝑉</m:t>
                    </m:r>
                  </m:oMath>
                </a14:m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，6个关节各由一个PWM通道独立控制</a:t>
                </a:r>
                <a:endParaRPr lang="en-US" sz="1500" dirty="0"/>
              </a:p>
            </p:txBody>
          </p:sp>
        </mc:Choice>
        <mc:Fallback xmlns="">
          <p:sp>
            <p:nvSpPr>
              <p:cNvPr id="42" name="Text 39"/>
              <p:cNvSpPr/>
              <p:nvPr/>
            </p:nvSpPr>
            <p:spPr>
              <a:xfrm>
                <a:off x="762000" y="7620000"/>
                <a:ext cx="13970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highlight>
                      <a:srgbClr val="FCEEE9">
                        <a:alpha val="100000"/>
                      </a:srgbClr>
                    </a:highlight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📌 关键结论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：噪声对脉冲边沿位置的影响远小于对幅度的影响 → </a:t>
                </a:r>
                <a:pPr algn="l">
                  <a:lnSpc>
                    <a:spcPct val="15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PWM比PAM更抗噪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实际参数：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f_{\text{PWM}} = 20\text{kHz} \)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（人耳听不到），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V_{cc} = 24\text{V} \)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，6个关节各由一个PWM通道独立控制</a:t>
                </a:r>
                <a:endParaRPr lang="en-US" sz="1500" dirty="0"/>
              </a:p>
            </p:txBody>
          </p:sp>
        </mc:Fallback>
      </mc:AlternateContent>
      <p:sp>
        <p:nvSpPr>
          <p:cNvPr id="43" name="Text 40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/ 18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4064000" cy="508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kern="0" spc="1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信息决策层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智能通信层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6 — 编码器量化与精度链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3716000" y="7366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716000" y="7366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1397000"/>
            <a:ext cx="7239000" cy="368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52500" y="15240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量化关键公式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952500" y="19685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𝛥</m:t>
                    </m:r>
                    <m:r>
                      <a:rPr lang="en-US" sz="24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200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𝑚𝑎𝑥</m:t>
                            </m:r>
                          </m:sub>
                        </m:sSub>
                        <m:r>
                          <a:rPr lang="en-US" sz="17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𝑚𝑖𝑛</m:t>
                            </m:r>
                          </m:sub>
                        </m:sSub>
                      </m:num>
                      <m:den>
                        <m:r>
                          <a:rPr lang="en-US" sz="17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　</a:t>
                </a:r>
                <a:r>
                  <a:rPr lang="en-US" sz="16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量化步长</a:t>
                </a:r>
                <a:endParaRPr lang="en-US" sz="2400" dirty="0"/>
              </a:p>
            </p:txBody>
          </p:sp>
        </mc:Choice>
        <mc:Fallback xmlns="">
          <p:sp>
            <p:nvSpPr>
              <p:cNvPr id="13" name="Text 11"/>
              <p:cNvSpPr/>
              <p:nvPr/>
            </p:nvSpPr>
            <p:spPr>
              <a:xfrm>
                <a:off x="952500" y="19685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\Delta = \frac{V_{\max} - V_{\min}}{L} \)</a:t>
                </a:r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　</a:t>
                </a:r>
                <a:pPr algn="ctr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量化步长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952500" y="2540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7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SupPr>
                      <m:e>
                        <m:r>
                          <a:rPr lang="en-US" sz="17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𝜎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𝑒</m:t>
                        </m:r>
                      </m:sub>
                      <m:sup>
                        <m:r>
                          <a:rPr lang="en-US" sz="17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2</m:t>
                        </m:r>
                      </m:sup>
                    </m:sSubSup>
                    <m:r>
                      <a:rPr lang="en-US" sz="24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200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</m:ctrlPr>
                          </m:sSupPr>
                          <m:e>
                            <m:r>
                              <a:rPr lang="en-US" sz="1200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𝛥</m:t>
                            </m:r>
                          </m:e>
                          <m:sup>
                            <m:r>
                              <a:rPr lang="en-US" sz="1200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7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　</a:t>
                </a:r>
                <a:r>
                  <a:rPr lang="en-US" sz="16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量化噪声功率</a:t>
                </a:r>
                <a:endParaRPr lang="en-US" sz="2400" dirty="0"/>
              </a:p>
            </p:txBody>
          </p:sp>
        </mc:Choice>
        <mc:Fallback xmlns="">
          <p:sp>
            <p:nvSpPr>
              <p:cNvPr id="14" name="Text 12"/>
              <p:cNvSpPr/>
              <p:nvPr/>
            </p:nvSpPr>
            <p:spPr>
              <a:xfrm>
                <a:off x="952500" y="2540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\sigma_e^2 = \frac{\Delta^2}{12} \)</a:t>
                </a:r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　</a:t>
                </a:r>
                <a:pPr algn="ctr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量化噪声功率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/>
              <p:nvPr/>
            </p:nvSpPr>
            <p:spPr>
              <a:xfrm>
                <a:off x="952500" y="31115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7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𝑆𝑄𝑁𝑅</m:t>
                        </m:r>
                      </m:e>
                      <m:sub>
                        <m:r>
                          <a:rPr lang="en-US" sz="17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𝑑𝐵</m:t>
                        </m:r>
                      </m:sub>
                    </m:sSub>
                    <m:r>
                      <a:rPr lang="en-US" sz="24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=6.02</m:t>
                    </m:r>
                    <m:r>
                      <a:rPr lang="en-US" sz="24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𝑛</m:t>
                    </m:r>
                    <m:r>
                      <a:rPr lang="en-US" sz="24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+1.76</m:t>
                    </m:r>
                  </m:oMath>
                </a14:m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　</a:t>
                </a:r>
                <a:r>
                  <a:rPr lang="en-US" sz="16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n位量化</a:t>
                </a:r>
                <a:endParaRPr lang="en-US" sz="2400" dirty="0"/>
              </a:p>
            </p:txBody>
          </p:sp>
        </mc:Choice>
        <mc:Fallback xmlns="">
          <p:sp>
            <p:nvSpPr>
              <p:cNvPr id="15" name="Text 13"/>
              <p:cNvSpPr/>
              <p:nvPr/>
            </p:nvSpPr>
            <p:spPr>
              <a:xfrm>
                <a:off x="952500" y="31115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\text{SQNR}_{\text{dB}} = 6.02n + 1.76 \)</a:t>
                </a:r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　</a:t>
                </a:r>
                <a:pPr algn="ctr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n位量化</a:t>
                </a:r>
                <a:endParaRPr lang="en-US" sz="2400" dirty="0"/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952500" y="3746500"/>
            <a:ext cx="6858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952500" y="3873500"/>
                <a:ext cx="6858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实例：1024线编码器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𝛥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=360°/1024≈0.352°</m:t>
                    </m:r>
                  </m:oMath>
                </a14:m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，　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Sup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𝜎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𝑒</m:t>
                        </m:r>
                      </m:sub>
                      <m:sup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2</m:t>
                        </m:r>
                      </m:sup>
                    </m:sSubSup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=0.0103</m:t>
                    </m:r>
                    <m:sSup>
                      <m:sSup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pPr>
                      <m:e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 </m:t>
                        </m:r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𝑑𝑒𝑔</m:t>
                        </m:r>
                      </m:e>
                      <m:sup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2</m:t>
                        </m:r>
                      </m:sup>
                    </m:sSup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17" name="Text 15"/>
              <p:cNvSpPr/>
              <p:nvPr/>
            </p:nvSpPr>
            <p:spPr>
              <a:xfrm>
                <a:off x="952500" y="3873500"/>
                <a:ext cx="6858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实例：1024线编码器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\Delta = 360°/1024 \approx 0.352° \)</a:t>
                </a:r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，　</a:t>
                </a:r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\sigma_e^2 = 0.0103 \text{ deg}^2 \)</a:t>
                </a:r>
                <a:endParaRPr lang="en-US" sz="1500" dirty="0"/>
              </a:p>
            </p:txBody>
          </p:sp>
        </mc:Fallback>
      </mc:AlternateContent>
      <p:sp>
        <p:nvSpPr>
          <p:cNvPr id="18" name="Shape 16"/>
          <p:cNvSpPr/>
          <p:nvPr/>
        </p:nvSpPr>
        <p:spPr>
          <a:xfrm>
            <a:off x="8255000" y="1397000"/>
            <a:ext cx="7239000" cy="3683000"/>
          </a:xfrm>
          <a:prstGeom prst="roundRect">
            <a:avLst>
              <a:gd name="adj" fmla="val 2000"/>
            </a:avLst>
          </a:prstGeom>
          <a:solidFill>
            <a:srgbClr val="FCEE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445500" y="15240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精度传播链（重点）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/>
              <p:cNvSpPr/>
              <p:nvPr/>
            </p:nvSpPr>
            <p:spPr>
              <a:xfrm>
                <a:off x="8445500" y="2032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𝜎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𝑒</m:t>
                          </m:r>
                        </m:sub>
                        <m:sup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pPr>
                            <m:e>
                              <m:r>
                                <a:rPr lang="en-US" sz="1200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𝛥</m:t>
                              </m:r>
                            </m:e>
                            <m:sup>
                              <m:r>
                                <a:rPr lang="en-US" sz="1200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 18"/>
              <p:cNvSpPr/>
              <p:nvPr/>
            </p:nvSpPr>
            <p:spPr>
              <a:xfrm>
                <a:off x="8445500" y="2032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\sigma_e^2 = \frac{\Delta^2}{12} \)</a:t>
                </a:r>
                <a:endParaRPr lang="en-US" sz="2400" dirty="0"/>
              </a:p>
            </p:txBody>
          </p:sp>
        </mc:Fallback>
      </mc:AlternateContent>
      <p:sp>
        <p:nvSpPr>
          <p:cNvPr id="21" name="Shape 19"/>
          <p:cNvSpPr/>
          <p:nvPr/>
        </p:nvSpPr>
        <p:spPr>
          <a:xfrm>
            <a:off x="11430000" y="260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4461" y="299204"/>
                </a:moveTo>
                <a:cubicBezTo>
                  <a:pt x="144383" y="306645"/>
                  <a:pt x="160496" y="306645"/>
                  <a:pt x="170418" y="299204"/>
                </a:cubicBezTo>
                <a:lnTo>
                  <a:pt x="297418" y="203954"/>
                </a:lnTo>
                <a:cubicBezTo>
                  <a:pt x="307340" y="196513"/>
                  <a:pt x="307340" y="184428"/>
                  <a:pt x="297418" y="176986"/>
                </a:cubicBezTo>
                <a:cubicBezTo>
                  <a:pt x="287496" y="169545"/>
                  <a:pt x="271383" y="169545"/>
                  <a:pt x="261461" y="176986"/>
                </a:cubicBezTo>
                <a:lnTo>
                  <a:pt x="177800" y="239732"/>
                </a:lnTo>
                <a:lnTo>
                  <a:pt x="177800" y="19050"/>
                </a:lnTo>
                <a:cubicBezTo>
                  <a:pt x="177800" y="8513"/>
                  <a:pt x="166449" y="0"/>
                  <a:pt x="152400" y="0"/>
                </a:cubicBezTo>
                <a:cubicBezTo>
                  <a:pt x="138351" y="0"/>
                  <a:pt x="127000" y="8513"/>
                  <a:pt x="127000" y="19050"/>
                </a:cubicBezTo>
                <a:lnTo>
                  <a:pt x="127000" y="239732"/>
                </a:lnTo>
                <a:lnTo>
                  <a:pt x="43339" y="176986"/>
                </a:lnTo>
                <a:cubicBezTo>
                  <a:pt x="33417" y="169545"/>
                  <a:pt x="17304" y="169545"/>
                  <a:pt x="7382" y="176986"/>
                </a:cubicBezTo>
                <a:cubicBezTo>
                  <a:pt x="-2540" y="184428"/>
                  <a:pt x="-2540" y="196513"/>
                  <a:pt x="7382" y="203954"/>
                </a:cubicBezTo>
                <a:lnTo>
                  <a:pt x="134382" y="299204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8445500" y="29845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7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𝛴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（关节空间协方差矩阵）</a:t>
                </a:r>
                <a:endParaRPr lang="en-US" sz="2400" dirty="0"/>
              </a:p>
            </p:txBody>
          </p:sp>
        </mc:Choice>
        <mc:Fallback xmlns="">
          <p:sp>
            <p:nvSpPr>
              <p:cNvPr id="22" name="Text 20"/>
              <p:cNvSpPr/>
              <p:nvPr/>
            </p:nvSpPr>
            <p:spPr>
              <a:xfrm>
                <a:off x="8445500" y="29845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\Sigma_{\theta} \)</a:t>
                </a:r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（关节空间协方差矩阵）</a:t>
                </a:r>
                <a:endParaRPr lang="en-US" sz="2400" dirty="0"/>
              </a:p>
            </p:txBody>
          </p:sp>
        </mc:Fallback>
      </mc:AlternateContent>
      <p:sp>
        <p:nvSpPr>
          <p:cNvPr id="23" name="Shape 21"/>
          <p:cNvSpPr/>
          <p:nvPr/>
        </p:nvSpPr>
        <p:spPr>
          <a:xfrm>
            <a:off x="114300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4461" y="299204"/>
                </a:moveTo>
                <a:cubicBezTo>
                  <a:pt x="144383" y="306645"/>
                  <a:pt x="160496" y="306645"/>
                  <a:pt x="170418" y="299204"/>
                </a:cubicBezTo>
                <a:lnTo>
                  <a:pt x="297418" y="203954"/>
                </a:lnTo>
                <a:cubicBezTo>
                  <a:pt x="307340" y="196513"/>
                  <a:pt x="307340" y="184428"/>
                  <a:pt x="297418" y="176986"/>
                </a:cubicBezTo>
                <a:cubicBezTo>
                  <a:pt x="287496" y="169545"/>
                  <a:pt x="271383" y="169545"/>
                  <a:pt x="261461" y="176986"/>
                </a:cubicBezTo>
                <a:lnTo>
                  <a:pt x="177800" y="239732"/>
                </a:lnTo>
                <a:lnTo>
                  <a:pt x="177800" y="19050"/>
                </a:lnTo>
                <a:cubicBezTo>
                  <a:pt x="177800" y="8513"/>
                  <a:pt x="166449" y="0"/>
                  <a:pt x="152400" y="0"/>
                </a:cubicBezTo>
                <a:cubicBezTo>
                  <a:pt x="138351" y="0"/>
                  <a:pt x="127000" y="8513"/>
                  <a:pt x="127000" y="19050"/>
                </a:cubicBezTo>
                <a:lnTo>
                  <a:pt x="127000" y="239732"/>
                </a:lnTo>
                <a:lnTo>
                  <a:pt x="43339" y="176986"/>
                </a:lnTo>
                <a:cubicBezTo>
                  <a:pt x="33417" y="169545"/>
                  <a:pt x="17304" y="169545"/>
                  <a:pt x="7382" y="176986"/>
                </a:cubicBezTo>
                <a:cubicBezTo>
                  <a:pt x="-2540" y="184428"/>
                  <a:pt x="-2540" y="196513"/>
                  <a:pt x="7382" y="203954"/>
                </a:cubicBezTo>
                <a:lnTo>
                  <a:pt x="134382" y="299204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/>
              <p:cNvSpPr/>
              <p:nvPr/>
            </p:nvSpPr>
            <p:spPr>
              <a:xfrm>
                <a:off x="8445500" y="3937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b="1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𝛴</m:t>
                          </m:r>
                        </m:e>
                        <m:sub>
                          <m:r>
                            <a:rPr lang="en-US" sz="1700" b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末端</m:t>
                          </m:r>
                        </m:sub>
                      </m:sSub>
                      <m:r>
                        <a:rPr lang="en-US" sz="2400" b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2400" b="1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𝐽</m:t>
                      </m:r>
                      <m:r>
                        <a:rPr lang="en-US" sz="2400" b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 </m:t>
                      </m:r>
                      <m:sSub>
                        <m:sSubPr>
                          <m:ctrlPr>
                            <a:rPr lang="en-US" sz="1700" b="1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𝛴</m:t>
                          </m:r>
                        </m:e>
                        <m:sub>
                          <m:r>
                            <a:rPr lang="en-US" sz="1700" b="1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𝜃</m:t>
                          </m:r>
                        </m:sub>
                      </m:sSub>
                      <m:r>
                        <a:rPr lang="en-US" sz="2400" b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 </m:t>
                      </m:r>
                      <m:sSup>
                        <m:sSupPr>
                          <m:ctrlPr>
                            <a:rPr lang="en-US" sz="1700" b="1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700" b="1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𝐽</m:t>
                          </m:r>
                        </m:e>
                        <m:sup>
                          <m:r>
                            <a:rPr lang="en-US" sz="1700" b="1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 22"/>
              <p:cNvSpPr/>
              <p:nvPr/>
            </p:nvSpPr>
            <p:spPr>
              <a:xfrm>
                <a:off x="8445500" y="3937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\Sigma_{\text{末端}} = J \, \Sigma_{\theta} \, J^T \)</a:t>
                </a:r>
                <a:endParaRPr lang="en-US" sz="2400" dirty="0"/>
              </a:p>
            </p:txBody>
          </p:sp>
        </mc:Fallback>
      </mc:AlternateContent>
      <p:sp>
        <p:nvSpPr>
          <p:cNvPr id="25" name="Shape 23"/>
          <p:cNvSpPr/>
          <p:nvPr/>
        </p:nvSpPr>
        <p:spPr>
          <a:xfrm>
            <a:off x="762000" y="5334000"/>
            <a:ext cx="14732000" cy="3175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52500" y="54864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工程反推：要达到 ±0.1mm 末端精度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5"/>
              <p:cNvSpPr/>
              <p:nvPr/>
            </p:nvSpPr>
            <p:spPr>
              <a:xfrm>
                <a:off x="952500" y="5969000"/>
                <a:ext cx="14351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1024线编码器　→　</a:t>
                </a:r>
                <a14:m>
                  <m:oMath xmlns:m="http://schemas.openxmlformats.org/officeDocument/2006/math">
                    <m:r>
                      <a:rPr lang="en-US" sz="18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𝛥</m:t>
                    </m:r>
                    <m:r>
                      <a:rPr lang="en-US" sz="18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=0.352°</m:t>
                    </m:r>
                  </m:oMath>
                </a14:m>
                <a:r>
                  <a:rPr lang="en-US" sz="18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→　经0.5m连杆放大　→　</a:t>
                </a:r>
                <a:r>
                  <a:rPr lang="en-US" sz="18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末端误差 ≈ 3.1mm</a:t>
                </a:r>
                <a:r>
                  <a:rPr lang="en-US" sz="18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❌</a:t>
                </a:r>
                <a:endParaRPr lang="en-US" sz="1800" dirty="0"/>
              </a:p>
            </p:txBody>
          </p:sp>
        </mc:Choice>
        <mc:Fallback xmlns="">
          <p:sp>
            <p:nvSpPr>
              <p:cNvPr id="27" name="Text 25"/>
              <p:cNvSpPr/>
              <p:nvPr/>
            </p:nvSpPr>
            <p:spPr>
              <a:xfrm>
                <a:off x="952500" y="5969000"/>
                <a:ext cx="14351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1024线编码器　→　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\Delta = 0.352° \)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→　经0.5m连杆放大　→　</a:t>
                </a:r>
                <a:pPr algn="ctr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末端误差 ≈ 3.1mm</a:t>
                </a:r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❌</a:t>
                </a:r>
                <a:endParaRPr lang="en-US" sz="1800" dirty="0"/>
              </a:p>
            </p:txBody>
          </p:sp>
        </mc:Fallback>
      </mc:AlternateContent>
      <p:sp>
        <p:nvSpPr>
          <p:cNvPr id="28" name="Shape 26"/>
          <p:cNvSpPr/>
          <p:nvPr/>
        </p:nvSpPr>
        <p:spPr>
          <a:xfrm>
            <a:off x="3810000" y="6921500"/>
            <a:ext cx="8636000" cy="635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3810000" y="6921500"/>
            <a:ext cx="863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结论：需要至少 32768 线编码器（15位）→ 末端误差 ≈ 0.1mm ✅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28"/>
              <p:cNvSpPr/>
              <p:nvPr/>
            </p:nvSpPr>
            <p:spPr>
              <a:xfrm>
                <a:off x="952500" y="7747000"/>
                <a:ext cx="14351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>
                  <a:lnSpc>
                    <a:spcPct val="140000"/>
                  </a:lnSpc>
                </a:pPr>
                <a:r>
                  <a:rPr lang="en-US" sz="14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理论公式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dirty="0">
                            <a:solidFill>
                              <a:srgbClr val="8D99A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SupPr>
                      <m:e>
                        <m:r>
                          <a:rPr lang="en-US" sz="1000" i="1" dirty="0">
                            <a:solidFill>
                              <a:srgbClr val="8D99A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𝜎</m:t>
                        </m:r>
                      </m:e>
                      <m:sub>
                        <m:r>
                          <a:rPr lang="en-US" sz="1000" i="1" dirty="0">
                            <a:solidFill>
                              <a:srgbClr val="8D99A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𝑒</m:t>
                        </m:r>
                      </m:sub>
                      <m:sup>
                        <m:r>
                          <a:rPr lang="en-US" sz="1000" dirty="0">
                            <a:solidFill>
                              <a:srgbClr val="8D99A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2</m:t>
                        </m:r>
                      </m:sup>
                    </m:sSubSup>
                    <m:r>
                      <a:rPr lang="en-US" sz="1400" dirty="0">
                        <a:solidFill>
                          <a:srgbClr val="8D99A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</m:t>
                    </m:r>
                    <m:sSup>
                      <m:sSupPr>
                        <m:ctrlPr>
                          <a:rPr lang="en-US" sz="1000" i="1" dirty="0">
                            <a:solidFill>
                              <a:srgbClr val="8D99A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pPr>
                      <m:e>
                        <m:r>
                          <a:rPr lang="en-US" sz="1000" dirty="0">
                            <a:solidFill>
                              <a:srgbClr val="8D99A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𝛥</m:t>
                        </m:r>
                      </m:e>
                      <m:sup>
                        <m:r>
                          <a:rPr lang="en-US" sz="1000" dirty="0">
                            <a:solidFill>
                              <a:srgbClr val="8D99A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2</m:t>
                        </m:r>
                      </m:sup>
                    </m:sSup>
                    <m:r>
                      <a:rPr lang="en-US" sz="1400" dirty="0">
                        <a:solidFill>
                          <a:srgbClr val="8D99A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/12</m:t>
                    </m:r>
                  </m:oMath>
                </a14:m>
                <a:r>
                  <a:rPr lang="en-US" sz="14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直接指导硬件选型——这就是理论指导工程实践的力量</a:t>
                </a:r>
                <a:endParaRPr lang="en-US" sz="1400" dirty="0"/>
              </a:p>
            </p:txBody>
          </p:sp>
        </mc:Choice>
        <mc:Fallback xmlns="">
          <p:sp>
            <p:nvSpPr>
              <p:cNvPr id="30" name="Text 28"/>
              <p:cNvSpPr/>
              <p:nvPr/>
            </p:nvSpPr>
            <p:spPr>
              <a:xfrm>
                <a:off x="952500" y="7747000"/>
                <a:ext cx="14351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>
                  <a:lnSpc>
                    <a:spcPct val="140000"/>
                  </a:lnSpc>
                </a:pPr>
                <a:r>
                  <a:rPr lang="en-US" sz="14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理论公式 </a:t>
                </a:r>
                <a:pPr algn="ctr">
                  <a:lnSpc>
                    <a:spcPct val="140000"/>
                  </a:lnSpc>
                </a:pPr>
                <a:r>
                  <a:rPr lang="en-US" sz="14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\sigma_e^2 = \Delta^2/12 \)</a:t>
                </a:r>
                <a:pPr algn="ctr">
                  <a:lnSpc>
                    <a:spcPct val="140000"/>
                  </a:lnSpc>
                </a:pPr>
                <a:r>
                  <a:rPr lang="en-US" sz="14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直接指导硬件选型——这就是理论指导工程实践的力量</a:t>
                </a:r>
                <a:endParaRPr lang="en-US" sz="1400" dirty="0"/>
              </a:p>
            </p:txBody>
          </p:sp>
        </mc:Fallback>
      </mc:AlternateContent>
      <p:sp>
        <p:nvSpPr>
          <p:cNvPr id="31" name="Text 29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/ 18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4064000" cy="508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kern="0" spc="1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信息决策层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智能通信层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5 — IMU 采样与抗混叠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3716000" y="7366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716000" y="7366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1397000"/>
            <a:ext cx="7239000" cy="3937000"/>
          </a:xfrm>
          <a:prstGeom prst="roundRect">
            <a:avLst>
              <a:gd name="adj" fmla="val 2000"/>
            </a:avLst>
          </a:prstGeom>
          <a:solidFill>
            <a:srgbClr val="FCEE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52500" y="1524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奈奎斯特采样定理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952500" y="2032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𝑥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[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𝑛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]=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𝑥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𝑛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𝑇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𝑠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), 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𝑓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𝑠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fPr>
                        <m:num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 11"/>
              <p:cNvSpPr/>
              <p:nvPr/>
            </p:nvSpPr>
            <p:spPr>
              <a:xfrm>
                <a:off x="952500" y="2032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x[n] = x(nT_s), \quad f_s = \frac{1}{T_s} \)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952500" y="2667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2200" b="1" dirty="0">
                    <a:solidFill>
                      <a:srgbClr val="E07A5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奈奎斯特条件：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1" i="1" dirty="0">
                            <a:solidFill>
                              <a:srgbClr val="E07A5F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500" b="1" i="1" dirty="0">
                            <a:solidFill>
                              <a:srgbClr val="E07A5F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𝑓</m:t>
                        </m:r>
                      </m:e>
                      <m:sub>
                        <m:r>
                          <a:rPr lang="en-US" sz="1500" b="1" i="1" dirty="0">
                            <a:solidFill>
                              <a:srgbClr val="E07A5F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𝑠</m:t>
                        </m:r>
                      </m:sub>
                    </m:sSub>
                    <m:r>
                      <a:rPr lang="en-US" sz="2200" b="1" dirty="0">
                        <a:solidFill>
                          <a:srgbClr val="E07A5F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≥2</m:t>
                    </m:r>
                    <m:sSub>
                      <m:sSubPr>
                        <m:ctrlPr>
                          <a:rPr lang="en-US" sz="1500" b="1" i="1" dirty="0">
                            <a:solidFill>
                              <a:srgbClr val="E07A5F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500" b="1" i="1" dirty="0">
                            <a:solidFill>
                              <a:srgbClr val="E07A5F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𝑓</m:t>
                        </m:r>
                      </m:e>
                      <m:sub>
                        <m:r>
                          <a:rPr lang="en-US" sz="1500" b="1" i="1" dirty="0">
                            <a:solidFill>
                              <a:srgbClr val="E07A5F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𝑚𝑎𝑥</m:t>
                        </m:r>
                      </m:sub>
                    </m:sSub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4" name="Text 12"/>
              <p:cNvSpPr/>
              <p:nvPr/>
            </p:nvSpPr>
            <p:spPr>
              <a:xfrm>
                <a:off x="952500" y="2667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2200" b="1" dirty="0">
                    <a:solidFill>
                      <a:srgbClr val="E07A5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奈奎斯特条件：</a:t>
                </a:r>
                <a:pPr algn="ctr">
                  <a:lnSpc>
                    <a:spcPct val="120000"/>
                  </a:lnSpc>
                </a:pPr>
                <a:r>
                  <a:rPr lang="en-US" sz="2200" b="1" dirty="0">
                    <a:solidFill>
                      <a:srgbClr val="E07A5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f_s \geq 2f_{\max} \)</a:t>
                </a:r>
                <a:endParaRPr lang="en-US" sz="22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/>
              <p:nvPr/>
            </p:nvSpPr>
            <p:spPr>
              <a:xfrm>
                <a:off x="952500" y="3302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𝑋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𝑠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𝑓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)=</m:t>
                      </m:r>
                      <m:f>
                        <m:fPr>
                          <m:ctrlPr>
                            <a:rPr lang="en-US" sz="24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fPr>
                        <m:num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𝑘</m:t>
                          </m:r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=−∞</m:t>
                          </m:r>
                        </m:sub>
                        <m:sup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∞</m:t>
                          </m:r>
                        </m:sup>
                      </m:sSubSup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𝑋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𝑓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𝑘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𝑓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𝑠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 13"/>
              <p:cNvSpPr/>
              <p:nvPr/>
            </p:nvSpPr>
            <p:spPr>
              <a:xfrm>
                <a:off x="952500" y="3302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X_s(f) = \frac{1}{T_s} \sum_{k=-\infty}^{\infty} X(f - kf_s) \)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952500" y="3937000"/>
                <a:ext cx="6858000" cy="1206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采样后频谱以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𝑓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为周期重复复制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𝑓</m:t>
                        </m:r>
                      </m:e>
                      <m:sub>
                        <m: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𝑠</m:t>
                        </m:r>
                      </m:sub>
                    </m:sSub>
                    <m:r>
                      <a:rPr lang="en-US" sz="1500" b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≥2</m:t>
                    </m:r>
                    <m:sSub>
                      <m:sSubPr>
                        <m:ctrlP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𝑓</m:t>
                        </m:r>
                      </m:e>
                      <m:sub>
                        <m: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：副本不重叠 → 可完美重建 ✅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𝑓</m:t>
                        </m:r>
                      </m:e>
                      <m:sub>
                        <m: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𝑠</m:t>
                        </m:r>
                      </m:sub>
                    </m:sSub>
                    <m:r>
                      <a:rPr lang="en-US" sz="1500" b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&lt;2</m:t>
                    </m:r>
                    <m:sSub>
                      <m:sSubPr>
                        <m:ctrlP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𝑓</m:t>
                        </m:r>
                      </m:e>
                      <m:sub>
                        <m: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：副本重叠 → 混叠，不可逆失真 ❌</a:t>
                </a:r>
                <a:endParaRPr lang="en-US" sz="15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952500" y="3937000"/>
                <a:ext cx="6858000" cy="1206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采样后频谱以 </a:t>
                </a:r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f_s \)</a:t>
                </a:r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为周期重复复制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f_s \geq 2f_{\max} \)</a:t>
                </a:r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：副本不重叠 → 可完美重建 ✅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f_s &lt; 2f_{\max} \)</a:t>
                </a:r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：副本重叠 → 混叠，不可逆失真 ❌</a:t>
                </a:r>
                <a:endParaRPr lang="en-US" sz="15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8255000" y="1397000"/>
            <a:ext cx="7239000" cy="3937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45500" y="1524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混叠示意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45500" y="2006600"/>
            <a:ext cx="6858000" cy="76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/>
              <p:cNvSpPr/>
              <p:nvPr/>
            </p:nvSpPr>
            <p:spPr>
              <a:xfrm>
                <a:off x="8636000" y="2006600"/>
                <a:ext cx="6477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场景A：满足奈奎斯特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𝑓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足够大 → 频谱副本分离 → 低通滤波可完美恢复原始信号</a:t>
                </a:r>
                <a:endParaRPr lang="en-US" sz="1500" dirty="0"/>
              </a:p>
            </p:txBody>
          </p:sp>
        </mc:Choice>
        <mc:Fallback xmlns="">
          <p:sp>
            <p:nvSpPr>
              <p:cNvPr id="20" name="Text 18"/>
              <p:cNvSpPr/>
              <p:nvPr/>
            </p:nvSpPr>
            <p:spPr>
              <a:xfrm>
                <a:off x="8636000" y="2006600"/>
                <a:ext cx="6477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场景A：满足奈奎斯特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f_s \)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足够大 → 频谱副本分离 → 低通滤波可完美恢复原始信号</a:t>
                </a:r>
                <a:endParaRPr lang="en-US" sz="1500" dirty="0"/>
              </a:p>
            </p:txBody>
          </p:sp>
        </mc:Fallback>
      </mc:AlternateContent>
      <p:sp>
        <p:nvSpPr>
          <p:cNvPr id="21" name="Shape 19"/>
          <p:cNvSpPr/>
          <p:nvPr/>
        </p:nvSpPr>
        <p:spPr>
          <a:xfrm>
            <a:off x="8445500" y="2921000"/>
            <a:ext cx="6858000" cy="76200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8636000" y="2921000"/>
                <a:ext cx="6477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场景B：混叠发生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𝑓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太小 → 频谱副本重叠 → 高频"折叠"到低频 → 不可逆</a:t>
                </a:r>
                <a:endParaRPr lang="en-US" sz="1500" dirty="0"/>
              </a:p>
            </p:txBody>
          </p:sp>
        </mc:Choice>
        <mc:Fallback xmlns="">
          <p:sp>
            <p:nvSpPr>
              <p:cNvPr id="22" name="Text 20"/>
              <p:cNvSpPr/>
              <p:nvPr/>
            </p:nvSpPr>
            <p:spPr>
              <a:xfrm>
                <a:off x="8636000" y="2921000"/>
                <a:ext cx="6477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5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场景B：混叠发生</a:t>
                </a:r>
                <a:endParaRPr lang="en-US" sz="15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f_s \)</a:t>
                </a:r>
                <a:pPr algn="l">
                  <a:lnSpc>
                    <a:spcPct val="15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太小 → 频谱副本重叠 → 高频"折叠"到低频 → 不可逆</a:t>
                </a:r>
                <a:endParaRPr lang="en-US" sz="1500" dirty="0"/>
              </a:p>
            </p:txBody>
          </p:sp>
        </mc:Fallback>
      </mc:AlternateContent>
      <p:sp>
        <p:nvSpPr>
          <p:cNvPr id="23" name="Text 21"/>
          <p:cNvSpPr/>
          <p:nvPr/>
        </p:nvSpPr>
        <p:spPr>
          <a:xfrm>
            <a:off x="8445500" y="3937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副本分离 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938000" y="3937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副本重叠 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45500" y="4572000"/>
            <a:ext cx="6858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445500" y="4699000"/>
            <a:ext cx="685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抗混叠 = 采样前的低通滤波器（硬件防线）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2000" y="5588000"/>
            <a:ext cx="14732000" cy="2921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52500" y="57404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在机械臂中的实际应用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27"/>
              <p:cNvSpPr/>
              <p:nvPr/>
            </p:nvSpPr>
            <p:spPr>
              <a:xfrm>
                <a:off x="952500" y="6223000"/>
                <a:ext cx="14351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加速度计</a:t>
                </a: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模拟低通滤波（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𝑓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𝑐</m:t>
                        </m:r>
                      </m:sub>
                    </m:sSub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=100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𝐻𝑧</m:t>
                    </m:r>
                  </m:oMath>
                </a14:m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）→ </a:t>
                </a: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ADC采样（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𝑓</m:t>
                        </m:r>
                      </m:e>
                      <m:sub>
                        <m: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𝑠</m:t>
                        </m:r>
                      </m:sub>
                    </m:sSub>
                    <m:r>
                      <a:rPr lang="en-US" sz="1600" b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=200</m:t>
                    </m:r>
                    <m:r>
                      <a:rPr lang="en-US" sz="1600" b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𝐻𝑧</m:t>
                    </m:r>
                  </m:oMath>
                </a14:m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）</a:t>
                </a: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数字信号处理</a:t>
                </a:r>
                <a:endParaRPr lang="en-US" sz="1600" dirty="0"/>
              </a:p>
            </p:txBody>
          </p:sp>
        </mc:Choice>
        <mc:Fallback xmlns="">
          <p:sp>
            <p:nvSpPr>
              <p:cNvPr id="29" name="Text 27"/>
              <p:cNvSpPr/>
              <p:nvPr/>
            </p:nvSpPr>
            <p:spPr>
              <a:xfrm>
                <a:off x="952500" y="6223000"/>
                <a:ext cx="14351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加速度计</a:t>
                </a:r>
                <a:pPr algn="ctr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模拟低通滤波（</a:t>
                </a:r>
                <a:pPr algn="ctr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f_c = 100\text{Hz} \)</a:t>
                </a:r>
                <a:pPr algn="ctr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）→ </a:t>
                </a:r>
                <a:pPr algn="ctr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ADC采样（</a:t>
                </a:r>
                <a:pPr algn="ctr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f_s = 200\text{Hz} \)</a:t>
                </a:r>
                <a:pPr algn="ctr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）</a:t>
                </a:r>
                <a:pPr algn="ctr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数字信号处理</a:t>
                </a:r>
                <a:endParaRPr lang="en-US" sz="1600" dirty="0"/>
              </a:p>
            </p:txBody>
          </p:sp>
        </mc:Fallback>
      </mc:AlternateContent>
      <p:sp>
        <p:nvSpPr>
          <p:cNvPr id="30" name="Shape 28"/>
          <p:cNvSpPr/>
          <p:nvPr/>
        </p:nvSpPr>
        <p:spPr>
          <a:xfrm>
            <a:off x="952500" y="7048500"/>
            <a:ext cx="4445000" cy="406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52500" y="7048500"/>
            <a:ext cx="444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机械臂运动频率 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0-50Hz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651500" y="7048500"/>
            <a:ext cx="4445000" cy="406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31"/>
              <p:cNvSpPr/>
              <p:nvPr/>
            </p:nvSpPr>
            <p:spPr>
              <a:xfrm>
                <a:off x="5651500" y="7048500"/>
                <a:ext cx="4445000" cy="406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200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𝐻𝑧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&gt;2×50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𝐻𝑧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=100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𝐻𝑧</m:t>
                    </m:r>
                  </m:oMath>
                </a14:m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✅</a:t>
                </a:r>
                <a:endParaRPr lang="en-US" sz="1500" dirty="0"/>
              </a:p>
            </p:txBody>
          </p:sp>
        </mc:Choice>
        <mc:Fallback xmlns="">
          <p:sp>
            <p:nvSpPr>
              <p:cNvPr id="33" name="Text 31"/>
              <p:cNvSpPr/>
              <p:nvPr/>
            </p:nvSpPr>
            <p:spPr>
              <a:xfrm>
                <a:off x="5651500" y="7048500"/>
                <a:ext cx="4445000" cy="406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\( 200\text{Hz} &gt; 2 \times 50\text{Hz} = 100\text{Hz} \)</a:t>
                </a:r>
                <a:pPr algn="ctr">
                  <a:lnSpc>
                    <a:spcPct val="12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✅</a:t>
                </a:r>
                <a:endParaRPr lang="en-US" sz="1500" dirty="0"/>
              </a:p>
            </p:txBody>
          </p:sp>
        </mc:Fallback>
      </mc:AlternateContent>
      <p:sp>
        <p:nvSpPr>
          <p:cNvPr id="34" name="Shape 32"/>
          <p:cNvSpPr/>
          <p:nvPr/>
        </p:nvSpPr>
        <p:spPr>
          <a:xfrm>
            <a:off x="10350500" y="7048500"/>
            <a:ext cx="4953000" cy="4064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0350500" y="70485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PWM噪声≈20kHz会混叠进低频 ❌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52500" y="7874000"/>
            <a:ext cx="1435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若不加抗混叠滤波器 → 20kHz高频噪声"折叠"进0-100Hz低频段 → 姿态估计严重漂移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/ 18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9144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2286000"/>
            <a:ext cx="482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阶段二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62000" y="3175000"/>
            <a:ext cx="762000" cy="508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62000" y="3429000"/>
            <a:ext cx="482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建立数学模型</a:t>
            </a:r>
            <a:endParaRPr lang="en-US" sz="3200" dirty="0"/>
          </a:p>
          <a:p>
            <a:pPr algn="l"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实时健康监测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62000" y="5016500"/>
            <a:ext cx="482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系统建模与健康监测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3 系统辨识 → Mod 1 傅里叶变换</a:t>
            </a:r>
            <a:endParaRPr lang="en-US" sz="1800" dirty="0"/>
          </a:p>
        </p:txBody>
      </p:sp>
      <p:pic>
        <p:nvPicPr>
          <p:cNvPr id="7" name="Image 0" descr="https://kimi-web-img.moonshot.cn/img/sc04.alicdn.com/c212437b569924a7e6b74cf19a1b7ea0ab53ba5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0000" y="0"/>
            <a:ext cx="9906000" cy="9144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50000" y="0"/>
            <a:ext cx="2540000" cy="9144000"/>
          </a:xfrm>
          <a:prstGeom prst="rect">
            <a:avLst/>
          </a:prstGeom>
          <a:gradFill flip="none" rotWithShape="1">
            <a:gsLst>
              <a:gs pos="0">
                <a:srgbClr val="2D3142"/>
              </a:gs>
              <a:gs pos="100000">
                <a:srgbClr val="2D3142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064000" y="457200"/>
            <a:ext cx="4064000" cy="508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kern="0" spc="1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信息决策层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智能通信层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3 — 冲激响应与电机系统辨识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3716000" y="7366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7B6B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716000" y="7366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1397000"/>
            <a:ext cx="14732000" cy="254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52500" y="1524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核心概念：冲激响应与卷积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952500" y="1968500"/>
                <a:ext cx="4445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冲激响应</a:t>
                </a:r>
                <a:endParaRPr lang="en-US" sz="1600" dirty="0"/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h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𝑡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完全刻画线性系统</a:t>
                </a:r>
                <a:endParaRPr lang="en-US" sz="1600" dirty="0"/>
              </a:p>
            </p:txBody>
          </p:sp>
        </mc:Choice>
        <mc:Fallback xmlns="">
          <p:sp>
            <p:nvSpPr>
              <p:cNvPr id="13" name="Text 11"/>
              <p:cNvSpPr/>
              <p:nvPr/>
            </p:nvSpPr>
            <p:spPr>
              <a:xfrm>
                <a:off x="952500" y="1968500"/>
                <a:ext cx="4445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冲激响应</a:t>
                </a:r>
                <a:endParaRPr lang="en-US" sz="16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h(t) \)</a:t>
                </a:r>
                <a:pPr algn="ctr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完全刻画线性系统</a:t>
                </a:r>
                <a:endParaRPr lang="en-US" sz="16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5397500" y="1968500"/>
                <a:ext cx="4699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时域卷积</a:t>
                </a:r>
                <a:endParaRPr lang="en-US" sz="160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𝑦</m:t>
                      </m:r>
                      <m:r>
                        <a:rPr lang="en-US" sz="16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6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𝑡</m:t>
                      </m:r>
                      <m:r>
                        <a:rPr lang="en-US" sz="16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)=</m:t>
                      </m:r>
                      <m:r>
                        <a:rPr lang="en-US" sz="16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𝑥</m:t>
                      </m:r>
                      <m:r>
                        <a:rPr lang="en-US" sz="16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6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𝑡</m:t>
                      </m:r>
                      <m:r>
                        <a:rPr lang="en-US" sz="16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)∗</m:t>
                      </m:r>
                      <m:r>
                        <a:rPr lang="en-US" sz="16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h</m:t>
                      </m:r>
                      <m:r>
                        <a:rPr lang="en-US" sz="16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6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𝑡</m:t>
                      </m:r>
                      <m:r>
                        <a:rPr lang="en-US" sz="16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" name="Text 12"/>
              <p:cNvSpPr/>
              <p:nvPr/>
            </p:nvSpPr>
            <p:spPr>
              <a:xfrm>
                <a:off x="5397500" y="1968500"/>
                <a:ext cx="4699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时域卷积</a:t>
                </a:r>
                <a:endParaRPr lang="en-US" sz="16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y(t) = x(t) * h(t) \)</a:t>
                </a:r>
                <a:endParaRPr lang="en-US" sz="16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/>
              <p:nvPr/>
            </p:nvSpPr>
            <p:spPr>
              <a:xfrm>
                <a:off x="10096500" y="1968500"/>
                <a:ext cx="5207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频域乘法</a:t>
                </a:r>
                <a:endParaRPr lang="en-US" sz="160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𝑌</m:t>
                      </m:r>
                      <m:r>
                        <a:rPr lang="en-US" sz="16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6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𝑓</m:t>
                      </m:r>
                      <m:r>
                        <a:rPr lang="en-US" sz="16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)=</m:t>
                      </m:r>
                      <m:r>
                        <a:rPr lang="en-US" sz="16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𝑋</m:t>
                      </m:r>
                      <m:r>
                        <a:rPr lang="en-US" sz="16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6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𝑓</m:t>
                      </m:r>
                      <m:r>
                        <a:rPr lang="en-US" sz="16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)⋅</m:t>
                      </m:r>
                      <m:r>
                        <a:rPr lang="en-US" sz="16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𝐻</m:t>
                      </m:r>
                      <m:r>
                        <a:rPr lang="en-US" sz="16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6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𝑓</m:t>
                      </m:r>
                      <m:r>
                        <a:rPr lang="en-US" sz="16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 13"/>
              <p:cNvSpPr/>
              <p:nvPr/>
            </p:nvSpPr>
            <p:spPr>
              <a:xfrm>
                <a:off x="10096500" y="1968500"/>
                <a:ext cx="5207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频域乘法</a:t>
                </a:r>
                <a:endParaRPr lang="en-US" sz="16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Y(f) = X(f) \cdot H(f) \)</a:t>
                </a:r>
                <a:endParaRPr lang="en-US" sz="1600" dirty="0"/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952500" y="2984500"/>
            <a:ext cx="14351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52500" y="3149600"/>
            <a:ext cx="14351000" cy="635000"/>
          </a:xfrm>
          <a:prstGeom prst="roundRect">
            <a:avLst>
              <a:gd name="adj" fmla="val 5000"/>
            </a:avLst>
          </a:prstGeom>
          <a:solidFill>
            <a:srgbClr val="FCEEE9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6"/>
              <p:cNvSpPr/>
              <p:nvPr/>
            </p:nvSpPr>
            <p:spPr>
              <a:xfrm>
                <a:off x="1143000" y="3149600"/>
                <a:ext cx="13970000" cy="406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highlight>
                      <a:srgbClr val="FCEEE9">
                        <a:alpha val="100000"/>
                      </a:srgbClr>
                    </a:highlight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📌 正弦保真性</a:t>
                </a: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：正弦波通过线性系统后</a:t>
                </a: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波形不变</a:t>
                </a: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，仅幅度和相位改变 → 频域可直接读出 </a:t>
                </a:r>
                <a14:m>
                  <m:oMath xmlns:m="http://schemas.openxmlformats.org/officeDocument/2006/math"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∣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𝐻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𝑓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)∣</m:t>
                    </m:r>
                  </m:oMath>
                </a14:m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和 </a:t>
                </a:r>
                <a14:m>
                  <m:oMath xmlns:m="http://schemas.openxmlformats.org/officeDocument/2006/math"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∠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𝐻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𝑓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8" name="Text 16"/>
              <p:cNvSpPr/>
              <p:nvPr/>
            </p:nvSpPr>
            <p:spPr>
              <a:xfrm>
                <a:off x="1143000" y="3149600"/>
                <a:ext cx="13970000" cy="406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highlight>
                      <a:srgbClr val="FCEEE9">
                        <a:alpha val="100000"/>
                      </a:srgbClr>
                    </a:highlight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📌 正弦保真性</a:t>
                </a:r>
                <a:pPr algn="l">
                  <a:lnSpc>
                    <a:spcPct val="12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：正弦波通过线性系统后</a:t>
                </a:r>
                <a:pPr algn="l">
                  <a:lnSpc>
                    <a:spcPct val="120000"/>
                  </a:lnSpc>
                </a:pP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波形不变</a:t>
                </a:r>
                <a:pPr algn="l">
                  <a:lnSpc>
                    <a:spcPct val="12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，仅幅度和相位改变 → 频域可直接读出 </a:t>
                </a:r>
                <a:pPr algn="l">
                  <a:lnSpc>
                    <a:spcPct val="12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|H(f)| \)</a:t>
                </a:r>
                <a:pPr algn="l">
                  <a:lnSpc>
                    <a:spcPct val="12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和 </a:t>
                </a:r>
                <a:pPr algn="l">
                  <a:lnSpc>
                    <a:spcPct val="12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\angle H(f) \)</a:t>
                </a:r>
                <a:endParaRPr lang="en-US" sz="1600" dirty="0"/>
              </a:p>
            </p:txBody>
          </p:sp>
        </mc:Fallback>
      </mc:AlternateContent>
      <p:sp>
        <p:nvSpPr>
          <p:cNvPr id="19" name="Shape 17"/>
          <p:cNvSpPr/>
          <p:nvPr/>
        </p:nvSpPr>
        <p:spPr>
          <a:xfrm>
            <a:off x="762000" y="4191000"/>
            <a:ext cx="7239000" cy="42545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52500" y="43434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时域系统辨识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9"/>
              <p:cNvSpPr/>
              <p:nvPr/>
            </p:nvSpPr>
            <p:spPr>
              <a:xfrm>
                <a:off x="952500" y="4826000"/>
                <a:ext cx="6858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短脉冲电压</a:t>
                </a: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（近似</a:t>
                </a:r>
                <a14:m>
                  <m:oMath xmlns:m="http://schemas.openxmlformats.org/officeDocument/2006/math"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𝛿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𝑡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</m:oMath>
                </a14:m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）</a:t>
                </a:r>
                <a:endParaRPr lang="en-US" sz="1500" dirty="0"/>
              </a:p>
              <a:p>
                <a:pPr algn="ctr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↓</a:t>
                </a:r>
                <a:endParaRPr lang="en-US" sz="1500" dirty="0"/>
              </a:p>
              <a:p>
                <a:pPr algn="ctr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测量转速响应</a:t>
                </a: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h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𝑡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21" name="Text 19"/>
              <p:cNvSpPr/>
              <p:nvPr/>
            </p:nvSpPr>
            <p:spPr>
              <a:xfrm>
                <a:off x="952500" y="4826000"/>
                <a:ext cx="6858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短脉冲电压</a:t>
                </a:r>
                <a:pPr algn="ctr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（近似</a:t>
                </a:r>
                <a:pPr algn="ctr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\delta(t) \)</a:t>
                </a:r>
                <a:pPr algn="ctr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）</a:t>
                </a:r>
                <a:endParaRPr lang="en-US" sz="1500" dirty="0"/>
              </a:p>
              <a:p>
                <a:pPr algn="ctr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↓</a:t>
                </a:r>
                <a:endParaRPr lang="en-US" sz="1500" dirty="0"/>
              </a:p>
              <a:p>
                <a:pPr algn="ctr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测量转速响应</a:t>
                </a:r>
                <a:pPr algn="ctr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ctr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h(t) \)</a:t>
                </a:r>
                <a:endParaRPr lang="en-US" sz="15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952500" y="6096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h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𝑡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)=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𝐾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(1−</m:t>
                      </m:r>
                      <m:sSup>
                        <m:sSup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𝑒</m:t>
                          </m:r>
                        </m:e>
                        <m:sup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</m:t>
                          </m:r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𝑡</m:t>
                          </m:r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/</m:t>
                          </m:r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𝜏</m:t>
                          </m:r>
                        </m:sup>
                      </m:sSup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 20"/>
              <p:cNvSpPr/>
              <p:nvPr/>
            </p:nvSpPr>
            <p:spPr>
              <a:xfrm>
                <a:off x="952500" y="6096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h(t) = K(1 - e^{-t/\tau}) \)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1"/>
              <p:cNvSpPr/>
              <p:nvPr/>
            </p:nvSpPr>
            <p:spPr>
              <a:xfrm>
                <a:off x="952500" y="6731000"/>
                <a:ext cx="6858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一阶惯性环节的阶跃响应</a:t>
                </a:r>
                <a:endParaRPr lang="en-US" sz="14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K=增益,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8D99A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𝜏</m:t>
                    </m:r>
                  </m:oMath>
                </a14:m>
                <a:r>
                  <a:rPr lang="en-US" sz="14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=时间常数</a:t>
                </a:r>
                <a:endParaRPr lang="en-US" sz="1400" dirty="0"/>
              </a:p>
            </p:txBody>
          </p:sp>
        </mc:Choice>
        <mc:Fallback xmlns="">
          <p:sp>
            <p:nvSpPr>
              <p:cNvPr id="23" name="Text 21"/>
              <p:cNvSpPr/>
              <p:nvPr/>
            </p:nvSpPr>
            <p:spPr>
              <a:xfrm>
                <a:off x="952500" y="6731000"/>
                <a:ext cx="6858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一阶惯性环节的阶跃响应</a:t>
                </a:r>
                <a:endParaRPr lang="en-US" sz="14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K=增益, </a:t>
                </a:r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\tau \)</a:t>
                </a:r>
                <a:pPr algn="ctr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=时间常数</a:t>
                </a:r>
                <a:endParaRPr lang="en-US" sz="1400" dirty="0"/>
              </a:p>
            </p:txBody>
          </p:sp>
        </mc:Fallback>
      </mc:AlternateContent>
      <p:sp>
        <p:nvSpPr>
          <p:cNvPr id="24" name="Shape 22"/>
          <p:cNvSpPr/>
          <p:nvPr/>
        </p:nvSpPr>
        <p:spPr>
          <a:xfrm>
            <a:off x="8255000" y="4191000"/>
            <a:ext cx="7239000" cy="42545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445500" y="43434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频域系统辨识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24"/>
              <p:cNvSpPr/>
              <p:nvPr/>
            </p:nvSpPr>
            <p:spPr>
              <a:xfrm>
                <a:off x="8445500" y="4826000"/>
                <a:ext cx="6858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扫频正弦波</a:t>
                </a: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𝑥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𝑡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)=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𝐴𝑠𝑖𝑛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⁡(2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𝜋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𝑓𝑡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</m:oMath>
                </a14:m>
                <a:endParaRPr lang="en-US" sz="1500" dirty="0"/>
              </a:p>
              <a:p>
                <a:pPr algn="ctr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↓</a:t>
                </a:r>
                <a:endParaRPr lang="en-US" sz="1500" dirty="0"/>
              </a:p>
              <a:p>
                <a:pPr algn="ctr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测量增益与相移</a:t>
                </a: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∣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𝐻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𝑓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)∣,∠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𝐻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𝑓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26" name="Text 24"/>
              <p:cNvSpPr/>
              <p:nvPr/>
            </p:nvSpPr>
            <p:spPr>
              <a:xfrm>
                <a:off x="8445500" y="4826000"/>
                <a:ext cx="6858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扫频正弦波</a:t>
                </a:r>
                <a:pPr algn="ctr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ctr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x(t) = A\sin(2\pi ft) \)</a:t>
                </a:r>
                <a:endParaRPr lang="en-US" sz="1500" dirty="0"/>
              </a:p>
              <a:p>
                <a:pPr algn="ctr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↓</a:t>
                </a:r>
                <a:endParaRPr lang="en-US" sz="1500" dirty="0"/>
              </a:p>
              <a:p>
                <a:pPr algn="ctr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测量增益与相移</a:t>
                </a:r>
                <a:pPr algn="ctr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 algn="ctr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|H(f)|, \angle H(f) \)</a:t>
                </a:r>
                <a:endParaRPr lang="en-US" sz="1500" dirty="0"/>
              </a:p>
            </p:txBody>
          </p:sp>
        </mc:Fallback>
      </mc:AlternateContent>
      <p:sp>
        <p:nvSpPr>
          <p:cNvPr id="27" name="Text 25"/>
          <p:cNvSpPr/>
          <p:nvPr/>
        </p:nvSpPr>
        <p:spPr>
          <a:xfrm>
            <a:off x="8445500" y="6096000"/>
            <a:ext cx="685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绘制</a:t>
            </a: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伯德图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（Bode Plot）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45500" y="67310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从伯德图可读取：-3dB带宽、谐振点</a:t>
            </a:r>
            <a:endParaRPr lang="en-US" sz="14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指导PID控制器参数设计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937500" y="60960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/ 18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064000" y="457200"/>
            <a:ext cx="4064000" cy="508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kern="0" spc="1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信息决策层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智能通信层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1 — 傅里叶变换与振动故障诊断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3716000" y="7366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7B6B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716000" y="7366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1397000"/>
            <a:ext cx="14732000" cy="2032000"/>
          </a:xfrm>
          <a:prstGeom prst="roundRect">
            <a:avLst>
              <a:gd name="adj" fmla="val 2000"/>
            </a:avLst>
          </a:prstGeom>
          <a:solidFill>
            <a:srgbClr val="FCEE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52500" y="14986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傅里叶变换与Parseval定理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952500" y="19685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𝑉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𝑓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)=</m:t>
                      </m:r>
                      <m:sSubSup>
                        <m:sSubSup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∫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−∞</m:t>
                          </m:r>
                        </m:sub>
                        <m:sup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∞</m:t>
                          </m:r>
                        </m:sup>
                      </m:sSubSup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𝑣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𝑡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 </m:t>
                      </m:r>
                      <m:sSup>
                        <m:sSup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𝑒</m:t>
                          </m:r>
                        </m:e>
                        <m:sup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</m:t>
                          </m:r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𝑗</m:t>
                          </m:r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𝜋</m:t>
                          </m:r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𝑓𝑡</m:t>
                          </m:r>
                        </m:sup>
                      </m:sSup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 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𝑑𝑡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 11"/>
              <p:cNvSpPr/>
              <p:nvPr/>
            </p:nvSpPr>
            <p:spPr>
              <a:xfrm>
                <a:off x="952500" y="19685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V(f) = \int_{-\infty}^{\infty} v(t) \, e^{-j2\pi ft} \, dt \)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8128000" y="1968500"/>
                <a:ext cx="71755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𝑃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fPr>
                        <m:num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𝑇</m:t>
                          </m:r>
                        </m:den>
                      </m:f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∫∣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𝑣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𝑡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sSup>
                        <m:sSup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</m:e>
                        <m:sup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𝑑𝑡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=∑∣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𝑐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</m:e>
                        <m:sup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 12"/>
              <p:cNvSpPr/>
              <p:nvPr/>
            </p:nvSpPr>
            <p:spPr>
              <a:xfrm>
                <a:off x="8128000" y="1968500"/>
                <a:ext cx="71755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 = \frac{1}{T}\int|v(t)|^2dt = \sum |c_n|^2 \)</a:t>
                </a:r>
                <a:endParaRPr lang="en-US" sz="2400" dirty="0"/>
              </a:p>
            </p:txBody>
          </p:sp>
        </mc:Fallback>
      </mc:AlternateContent>
      <p:sp>
        <p:nvSpPr>
          <p:cNvPr id="15" name="Text 13"/>
          <p:cNvSpPr/>
          <p:nvPr/>
        </p:nvSpPr>
        <p:spPr>
          <a:xfrm>
            <a:off x="952500" y="2603500"/>
            <a:ext cx="1435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时域 ⇄ 频域完全等价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——不丢失任何信息。Parseval定理：总功率 = 各谐波功率之和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2000" y="3619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应用：正常关节 vs 故障关节频谱对比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064000"/>
            <a:ext cx="7239000" cy="3175000"/>
          </a:xfrm>
          <a:prstGeom prst="roundRect">
            <a:avLst>
              <a:gd name="adj" fmla="val 2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52500" y="4191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✅ 正常关节</a:t>
            </a:r>
            <a:endParaRPr lang="en-US" sz="16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952500" y="4572000"/>
          <a:ext cx="6858000" cy="152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7"/>
              <p:cNvSpPr/>
              <p:nvPr/>
            </p:nvSpPr>
            <p:spPr>
              <a:xfrm>
                <a:off x="952500" y="6223000"/>
                <a:ext cx="6858000" cy="825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能量集中在</a:t>
                </a:r>
                <a:r>
                  <a:rPr lang="en-US" sz="14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基频和低次谐波</a:t>
                </a:r>
                <a:endParaRPr lang="en-US" sz="1400" dirty="0"/>
              </a:p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0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𝑃</m:t>
                        </m:r>
                      </m:e>
                      <m:sub>
                        <m:r>
                          <a:rPr lang="en-US" sz="10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𝑚𝑒𝑠h</m:t>
                        </m:r>
                      </m:sub>
                    </m:sSub>
                    <m:r>
                      <a:rPr lang="en-US" sz="14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/</m:t>
                    </m:r>
                    <m:sSub>
                      <m:sSubPr>
                        <m:ctrlPr>
                          <a:rPr lang="en-US" sz="10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0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𝑃</m:t>
                        </m:r>
                      </m:e>
                      <m:sub>
                        <m:r>
                          <a:rPr lang="en-US" sz="10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𝑡𝑜𝑡𝑎𝑙</m:t>
                        </m:r>
                      </m:sub>
                    </m:sSub>
                    <m:r>
                      <a:rPr lang="en-US" sz="14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&lt;15%</m:t>
                    </m:r>
                  </m:oMath>
                </a14:m>
                <a:r>
                  <a:rPr lang="en-US" sz="1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</a:t>
                </a:r>
                <a:r>
                  <a:rPr lang="en-US" sz="14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正常运行</a:t>
                </a:r>
                <a:endParaRPr lang="en-US" sz="1400" dirty="0"/>
              </a:p>
            </p:txBody>
          </p:sp>
        </mc:Choice>
        <mc:Fallback xmlns="">
          <p:sp>
            <p:nvSpPr>
              <p:cNvPr id="20" name="Text 17"/>
              <p:cNvSpPr/>
              <p:nvPr/>
            </p:nvSpPr>
            <p:spPr>
              <a:xfrm>
                <a:off x="952500" y="6223000"/>
                <a:ext cx="6858000" cy="825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能量集中在</a:t>
                </a:r>
                <a:pPr algn="l">
                  <a:lnSpc>
                    <a:spcPct val="150000"/>
                  </a:lnSpc>
                </a:pPr>
                <a:r>
                  <a:rPr lang="en-US" sz="14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基频和低次谐波</a:t>
                </a:r>
                <a:endParaRPr lang="en-US" sz="14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P_{\text{mesh}} / P_{\text{total}} &lt; 15\% \)</a:t>
                </a:r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</a:t>
                </a:r>
                <a:pPr algn="l">
                  <a:lnSpc>
                    <a:spcPct val="150000"/>
                  </a:lnSpc>
                </a:pPr>
                <a:r>
                  <a:rPr lang="en-US" sz="14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正常运行</a:t>
                </a:r>
                <a:endParaRPr lang="en-US" sz="1400" dirty="0"/>
              </a:p>
            </p:txBody>
          </p:sp>
        </mc:Fallback>
      </mc:AlternateContent>
      <p:sp>
        <p:nvSpPr>
          <p:cNvPr id="21" name="Shape 18"/>
          <p:cNvSpPr/>
          <p:nvPr/>
        </p:nvSpPr>
        <p:spPr>
          <a:xfrm>
            <a:off x="8255000" y="4064000"/>
            <a:ext cx="7239000" cy="3175000"/>
          </a:xfrm>
          <a:prstGeom prst="roundRect">
            <a:avLst>
              <a:gd name="adj" fmla="val 2000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8445500" y="4191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❌ 故障关节（齿轮磨损）</a:t>
            </a:r>
            <a:endParaRPr lang="en-US" sz="1600" dirty="0"/>
          </a:p>
        </p:txBody>
      </p:sp>
      <p:graphicFrame>
        <p:nvGraphicFramePr>
          <p:cNvPr id="23" name="Chart 1"/>
          <p:cNvGraphicFramePr/>
          <p:nvPr/>
        </p:nvGraphicFramePr>
        <p:xfrm>
          <a:off x="8445500" y="4572000"/>
          <a:ext cx="6858000" cy="152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0"/>
              <p:cNvSpPr/>
              <p:nvPr/>
            </p:nvSpPr>
            <p:spPr>
              <a:xfrm>
                <a:off x="8445500" y="6223000"/>
                <a:ext cx="6858000" cy="825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啮合频率处出现</a:t>
                </a:r>
                <a:r>
                  <a:rPr lang="en-US" sz="14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异常峰值</a:t>
                </a:r>
                <a:r>
                  <a:rPr lang="en-US" sz="1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+ 边带调制</a:t>
                </a:r>
                <a:endParaRPr lang="en-US" sz="1400" dirty="0"/>
              </a:p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0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𝑃</m:t>
                        </m:r>
                      </m:e>
                      <m:sub>
                        <m:r>
                          <a:rPr lang="en-US" sz="10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𝑚𝑒𝑠h</m:t>
                        </m:r>
                      </m:sub>
                    </m:sSub>
                    <m:r>
                      <a:rPr lang="en-US" sz="14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/</m:t>
                    </m:r>
                    <m:sSub>
                      <m:sSubPr>
                        <m:ctrlPr>
                          <a:rPr lang="en-US" sz="10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0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𝑃</m:t>
                        </m:r>
                      </m:e>
                      <m:sub>
                        <m:r>
                          <a:rPr lang="en-US" sz="10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𝑡𝑜𝑡𝑎𝑙</m:t>
                        </m:r>
                      </m:sub>
                    </m:sSub>
                    <m:r>
                      <a:rPr lang="en-US" sz="14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&gt;30%</m:t>
                    </m:r>
                  </m:oMath>
                </a14:m>
                <a:r>
                  <a:rPr lang="en-US" sz="1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</a:t>
                </a:r>
                <a:r>
                  <a:rPr lang="en-US" sz="14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预警/报警</a:t>
                </a:r>
                <a:endParaRPr lang="en-US" sz="1400" dirty="0"/>
              </a:p>
            </p:txBody>
          </p:sp>
        </mc:Choice>
        <mc:Fallback xmlns="">
          <p:sp>
            <p:nvSpPr>
              <p:cNvPr id="24" name="Text 20"/>
              <p:cNvSpPr/>
              <p:nvPr/>
            </p:nvSpPr>
            <p:spPr>
              <a:xfrm>
                <a:off x="8445500" y="6223000"/>
                <a:ext cx="6858000" cy="825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啮合频率处出现</a:t>
                </a:r>
                <a:pPr algn="l">
                  <a:lnSpc>
                    <a:spcPct val="150000"/>
                  </a:lnSpc>
                </a:pPr>
                <a:r>
                  <a:rPr lang="en-US" sz="14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异常峰值</a:t>
                </a:r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+ 边带调制</a:t>
                </a:r>
                <a:endParaRPr lang="en-US" sz="1400" dirty="0"/>
              </a:p>
              <a:p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P_{\text{mesh}} / P_{\text{total}} &gt; 30\% \)</a:t>
                </a:r>
                <a:pPr algn="l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</a:t>
                </a:r>
                <a:pPr algn="l">
                  <a:lnSpc>
                    <a:spcPct val="150000"/>
                  </a:lnSpc>
                </a:pPr>
                <a:r>
                  <a:rPr lang="en-US" sz="14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预警/报警</a:t>
                </a:r>
                <a:endParaRPr lang="en-US" sz="1400" dirty="0"/>
              </a:p>
            </p:txBody>
          </p:sp>
        </mc:Fallback>
      </mc:AlternateContent>
      <p:sp>
        <p:nvSpPr>
          <p:cNvPr id="25" name="Shape 21"/>
          <p:cNvSpPr/>
          <p:nvPr/>
        </p:nvSpPr>
        <p:spPr>
          <a:xfrm>
            <a:off x="762000" y="7493000"/>
            <a:ext cx="14732000" cy="101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2"/>
          <p:cNvSpPr/>
          <p:nvPr/>
        </p:nvSpPr>
        <p:spPr>
          <a:xfrm>
            <a:off x="952500" y="7594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三级预警指标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3556000" y="7620000"/>
            <a:ext cx="3175000" cy="508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4"/>
          <p:cNvSpPr/>
          <p:nvPr/>
        </p:nvSpPr>
        <p:spPr>
          <a:xfrm>
            <a:off x="3556000" y="7620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E7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🟢 正常 &lt;15%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985000" y="7620000"/>
            <a:ext cx="3175000" cy="5080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6"/>
          <p:cNvSpPr/>
          <p:nvPr/>
        </p:nvSpPr>
        <p:spPr>
          <a:xfrm>
            <a:off x="6985000" y="7620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7F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🟡 预警 &gt;30%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10414000" y="7620000"/>
            <a:ext cx="3175000" cy="5080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8"/>
          <p:cNvSpPr/>
          <p:nvPr/>
        </p:nvSpPr>
        <p:spPr>
          <a:xfrm>
            <a:off x="10414000" y="7620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🔴 报警 &gt;50%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762000" y="8572500"/>
            <a:ext cx="1473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💡 相当于给机器人做"心电图"——时域看不出的故障，频域一目了然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/ 18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9144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2286000"/>
            <a:ext cx="482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阶段三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62000" y="3175000"/>
            <a:ext cx="762000" cy="508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62000" y="3429000"/>
            <a:ext cx="482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融合信息</a:t>
            </a:r>
            <a:endParaRPr lang="en-US" sz="3200" dirty="0"/>
          </a:p>
          <a:p>
            <a:pPr algn="l"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做出判断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62000" y="5016500"/>
            <a:ext cx="482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状态估计与决策——从数据到决策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2 贝叶斯融合 → Mod 7 贝叶斯决策</a:t>
            </a:r>
            <a:endParaRPr lang="en-US" sz="1800" dirty="0"/>
          </a:p>
        </p:txBody>
      </p:sp>
      <p:pic>
        <p:nvPicPr>
          <p:cNvPr id="7" name="Image 0" descr="https://kimi-web-img.moonshot.cn/img/www.mdpi.com/d065b6f8ff31d74bbb219482c8f6608726d5307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0000" y="0"/>
            <a:ext cx="9906000" cy="9144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50000" y="0"/>
            <a:ext cx="2540000" cy="9144000"/>
          </a:xfrm>
          <a:prstGeom prst="rect">
            <a:avLst/>
          </a:prstGeom>
          <a:gradFill flip="none" rotWithShape="1">
            <a:gsLst>
              <a:gs pos="0">
                <a:srgbClr val="2D3142"/>
              </a:gs>
              <a:gs pos="100000">
                <a:srgbClr val="2D3142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128000" y="457200"/>
            <a:ext cx="4064000" cy="508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信息决策层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智能通信层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2 — 贝叶斯公式与多传感器融合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3716000" y="7366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5C6B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716000" y="7366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信息决策层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1397000"/>
            <a:ext cx="14732000" cy="1524000"/>
          </a:xfrm>
          <a:prstGeom prst="roundRect">
            <a:avLst>
              <a:gd name="adj" fmla="val 2000"/>
            </a:avLst>
          </a:prstGeom>
          <a:solidFill>
            <a:srgbClr val="FCEEE9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952500" y="1498600"/>
                <a:ext cx="14351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6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𝑃</m:t>
                      </m:r>
                      <m:r>
                        <a:rPr lang="en-US" sz="26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8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𝐵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𝑖</m:t>
                          </m:r>
                        </m:sub>
                      </m:sSub>
                      <m:r>
                        <a:rPr lang="en-US" sz="26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r>
                        <a:rPr lang="en-US" sz="26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𝐴</m:t>
                      </m:r>
                      <m:r>
                        <a:rPr lang="en-US" sz="26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)=</m:t>
                      </m:r>
                      <m:f>
                        <m:fPr>
                          <m:ctrlPr>
                            <a:rPr lang="en-US" sz="26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fPr>
                        <m:num>
                          <m:r>
                            <a:rPr lang="en-US" sz="18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𝑃</m:t>
                          </m:r>
                          <m:r>
                            <a:rPr lang="en-US" sz="18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8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𝐴</m:t>
                          </m:r>
                          <m:r>
                            <a:rPr lang="en-US" sz="18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)⋅</m:t>
                          </m:r>
                          <m:r>
                            <a:rPr lang="en-US" sz="18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𝑃</m:t>
                          </m:r>
                          <m:r>
                            <a:rPr lang="en-US" sz="18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num>
                        <m:den>
                          <m:r>
                            <a:rPr lang="en-US" sz="18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𝑃</m:t>
                          </m:r>
                          <m:r>
                            <a:rPr lang="en-US" sz="18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8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𝐴</m:t>
                          </m:r>
                          <m:r>
                            <a:rPr lang="en-US" sz="18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den>
                      </m:f>
                      <m:r>
                        <a:rPr lang="en-US" sz="26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ctrlPr>
                            <a:rPr lang="en-US" sz="26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fPr>
                        <m:num>
                          <m:r>
                            <a:rPr lang="en-US" sz="18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𝑃</m:t>
                          </m:r>
                          <m:r>
                            <a:rPr lang="en-US" sz="18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8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𝐴</m:t>
                          </m:r>
                          <m:r>
                            <a:rPr lang="en-US" sz="18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)⋅</m:t>
                          </m:r>
                          <m:r>
                            <a:rPr lang="en-US" sz="18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𝑃</m:t>
                          </m:r>
                          <m:r>
                            <a:rPr lang="en-US" sz="18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300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∑</m:t>
                              </m:r>
                            </m:e>
                            <m:sub>
                              <m: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8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𝑃</m:t>
                          </m:r>
                          <m:r>
                            <a:rPr lang="en-US" sz="18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8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𝐴</m:t>
                          </m:r>
                          <m:r>
                            <a:rPr lang="en-US" sz="18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8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  <m:r>
                            <a:rPr lang="en-US" sz="18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𝑃</m:t>
                          </m:r>
                          <m:r>
                            <a:rPr lang="en-US" sz="18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3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8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12" name="Text 10"/>
              <p:cNvSpPr/>
              <p:nvPr/>
            </p:nvSpPr>
            <p:spPr>
              <a:xfrm>
                <a:off x="952500" y="1498600"/>
                <a:ext cx="14351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2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P(B_i|A) = \frac{P(A|B_i) \cdot P(B_i)}{P(A)} = \frac{P(A|B_i) \cdot P(B_i)}{\sum_j P(A|B_j)P(B_j)} \)</a:t>
                </a:r>
                <a:endParaRPr lang="en-US" sz="2600" dirty="0"/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952500" y="2222500"/>
            <a:ext cx="1435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后验概率 ∝ 似然 × 先验</a:t>
            </a:r>
            <a:r>
              <a:rPr lang="en-US" sz="16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　　由"果"（传感器读数）推"因"（机器人状态）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3111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从贝叶斯到卡尔曼滤波：预测 + 更新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556000"/>
            <a:ext cx="7239000" cy="2413000"/>
          </a:xfrm>
          <a:prstGeom prst="roundRect">
            <a:avLst>
              <a:gd name="adj" fmla="val 2000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52500" y="3683000"/>
            <a:ext cx="1016000" cy="330200"/>
          </a:xfrm>
          <a:prstGeom prst="roundRect">
            <a:avLst>
              <a:gd name="adj" fmla="val 10000"/>
            </a:avLst>
          </a:prstGeom>
          <a:solidFill>
            <a:srgbClr val="5C6B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52500" y="36830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预测步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6"/>
              <p:cNvSpPr/>
              <p:nvPr/>
            </p:nvSpPr>
            <p:spPr>
              <a:xfrm>
                <a:off x="952500" y="4064000"/>
                <a:ext cx="6858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𝑃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𝑡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1:</m:t>
                          </m:r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𝑡</m:t>
                          </m:r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−1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)=∫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𝑃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𝑡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𝑡</m:t>
                          </m:r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−1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𝑃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𝑡</m:t>
                          </m:r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−1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1:</m:t>
                          </m:r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𝑡</m:t>
                          </m:r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−1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𝑑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𝑡</m:t>
                          </m:r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 16"/>
              <p:cNvSpPr/>
              <p:nvPr/>
            </p:nvSpPr>
            <p:spPr>
              <a:xfrm>
                <a:off x="952500" y="4064000"/>
                <a:ext cx="6858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P(x_t | z_{1:t-1}) = \int P(x_t | x_{t-1}) P(x_{t-1} | z_{1:t-1}) dx_{t-1} \)</a:t>
                </a:r>
                <a:endParaRPr lang="en-US" sz="2400" dirty="0"/>
              </a:p>
            </p:txBody>
          </p:sp>
        </mc:Fallback>
      </mc:AlternateContent>
      <p:sp>
        <p:nvSpPr>
          <p:cNvPr id="19" name="Text 17"/>
          <p:cNvSpPr/>
          <p:nvPr/>
        </p:nvSpPr>
        <p:spPr>
          <a:xfrm>
            <a:off x="952500" y="53340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全概率公式：根据运动模型推测当前位置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55000" y="3556000"/>
            <a:ext cx="7239000" cy="1905000"/>
          </a:xfrm>
          <a:prstGeom prst="roundRect">
            <a:avLst>
              <a:gd name="adj" fmla="val 2000"/>
            </a:avLst>
          </a:prstGeom>
          <a:solidFill>
            <a:srgbClr val="FCEE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445500" y="3683000"/>
            <a:ext cx="1016000" cy="3302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45500" y="3683000"/>
            <a:ext cx="101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更新步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1"/>
              <p:cNvSpPr/>
              <p:nvPr/>
            </p:nvSpPr>
            <p:spPr>
              <a:xfrm>
                <a:off x="8445500" y="4064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𝑃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𝑡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1:</m:t>
                          </m:r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𝑡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)∝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𝑃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𝑡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𝑡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)⋅</m:t>
                      </m:r>
                      <m:r>
                        <a:rPr lang="en-US" sz="2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𝑃</m:t>
                      </m:r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𝑡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𝑧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1:</m:t>
                          </m:r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𝑡</m:t>
                          </m:r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−1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 21"/>
              <p:cNvSpPr/>
              <p:nvPr/>
            </p:nvSpPr>
            <p:spPr>
              <a:xfrm>
                <a:off x="8445500" y="4064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P(x_t | z_{1:t}) \propto P(z_t | x_t) \cdot P(x_t | z_{1:t-1}) \)</a:t>
                </a:r>
                <a:endParaRPr lang="en-US" sz="2400" dirty="0"/>
              </a:p>
            </p:txBody>
          </p:sp>
        </mc:Fallback>
      </mc:AlternateContent>
      <p:sp>
        <p:nvSpPr>
          <p:cNvPr id="24" name="Text 22"/>
          <p:cNvSpPr/>
          <p:nvPr/>
        </p:nvSpPr>
        <p:spPr>
          <a:xfrm>
            <a:off x="8445500" y="4635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贝叶斯公式：根据传感器观测修正信念</a:t>
            </a:r>
            <a:endParaRPr lang="en-US" sz="14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"传感器告诉我看到了什么，让我修正之前的猜测"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2000" y="6096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卡尔曼滤波：高斯假设下的具体实现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6477000"/>
            <a:ext cx="14732000" cy="76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5"/>
              <p:cNvSpPr/>
              <p:nvPr/>
            </p:nvSpPr>
            <p:spPr>
              <a:xfrm>
                <a:off x="952500" y="6477000"/>
                <a:ext cx="14351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预测：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en-US" sz="1300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</m:ctrlPr>
                          </m:limUppPr>
                          <m:e>
                            <m:r>
                              <a:rPr lang="en-US" sz="1300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𝑥</m:t>
                            </m:r>
                          </m:e>
                          <m:lim>
                            <m:r>
                              <a:rPr lang="en-US" sz="1300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^</m:t>
                            </m:r>
                          </m:lim>
                        </m:limUpp>
                      </m:e>
                      <m:sub>
                        <m: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𝑡</m:t>
                        </m:r>
                        <m:r>
                          <a:rPr lang="en-US" sz="13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∣</m:t>
                        </m:r>
                        <m: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𝑡</m:t>
                        </m:r>
                        <m:r>
                          <a:rPr lang="en-US" sz="13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−1</m:t>
                        </m:r>
                      </m:sub>
                    </m:sSub>
                    <m:r>
                      <a:rPr lang="en-US" sz="18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</m:t>
                    </m:r>
                    <m:r>
                      <a:rPr lang="en-US" sz="18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𝐹</m:t>
                    </m:r>
                    <m:sSub>
                      <m:sSubPr>
                        <m:ctrlP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en-US" sz="1300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</m:ctrlPr>
                          </m:limUppPr>
                          <m:e>
                            <m:r>
                              <a:rPr lang="en-US" sz="1300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𝑥</m:t>
                            </m:r>
                          </m:e>
                          <m:lim>
                            <m:r>
                              <a:rPr lang="en-US" sz="1300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^</m:t>
                            </m:r>
                          </m:lim>
                        </m:limUpp>
                      </m:e>
                      <m:sub>
                        <m: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𝑡</m:t>
                        </m:r>
                        <m:r>
                          <a:rPr lang="en-US" sz="13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　　　更新：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en-US" sz="1300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</m:ctrlPr>
                          </m:limUppPr>
                          <m:e>
                            <m:r>
                              <a:rPr lang="en-US" sz="1300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𝑥</m:t>
                            </m:r>
                          </m:e>
                          <m:lim>
                            <m:r>
                              <a:rPr lang="en-US" sz="1300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^</m:t>
                            </m:r>
                          </m:lim>
                        </m:limUpp>
                      </m:e>
                      <m:sub>
                        <m: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𝑡</m:t>
                        </m:r>
                      </m:sub>
                    </m:sSub>
                    <m:r>
                      <a:rPr lang="en-US" sz="18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</m:t>
                    </m:r>
                    <m:sSub>
                      <m:sSubPr>
                        <m:ctrlP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en-US" sz="1300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</m:ctrlPr>
                          </m:limUppPr>
                          <m:e>
                            <m:r>
                              <a:rPr lang="en-US" sz="1300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𝑥</m:t>
                            </m:r>
                          </m:e>
                          <m:lim>
                            <m:r>
                              <a:rPr lang="en-US" sz="1300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^</m:t>
                            </m:r>
                          </m:lim>
                        </m:limUpp>
                      </m:e>
                      <m:sub>
                        <m: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𝑡</m:t>
                        </m:r>
                        <m:r>
                          <a:rPr lang="en-US" sz="13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∣</m:t>
                        </m:r>
                        <m: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𝑡</m:t>
                        </m:r>
                        <m:r>
                          <a:rPr lang="en-US" sz="13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−1</m:t>
                        </m:r>
                      </m:sub>
                    </m:sSub>
                    <m:r>
                      <a:rPr lang="en-US" sz="18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+</m:t>
                    </m:r>
                    <m:sSub>
                      <m:sSubPr>
                        <m:ctrlP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𝐾</m:t>
                        </m:r>
                      </m:e>
                      <m:sub>
                        <m: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𝑡</m:t>
                        </m:r>
                      </m:sub>
                    </m:sSub>
                    <m:r>
                      <a:rPr lang="en-US" sz="18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sSub>
                      <m:sSubPr>
                        <m:ctrlP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𝑧</m:t>
                        </m:r>
                      </m:e>
                      <m:sub>
                        <m: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𝑡</m:t>
                        </m:r>
                      </m:sub>
                    </m:sSub>
                    <m:r>
                      <a:rPr lang="en-US" sz="18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−</m:t>
                    </m:r>
                    <m:r>
                      <a:rPr lang="en-US" sz="18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𝐻</m:t>
                    </m:r>
                    <m:sSub>
                      <m:sSubPr>
                        <m:ctrlP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en-US" sz="1300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</m:ctrlPr>
                          </m:limUppPr>
                          <m:e>
                            <m:r>
                              <a:rPr lang="en-US" sz="1300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𝑥</m:t>
                            </m:r>
                          </m:e>
                          <m:lim>
                            <m:r>
                              <a:rPr lang="en-US" sz="1300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^</m:t>
                            </m:r>
                          </m:lim>
                        </m:limUpp>
                      </m:e>
                      <m:sub>
                        <m: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𝑡</m:t>
                        </m:r>
                        <m:r>
                          <a:rPr lang="en-US" sz="13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∣</m:t>
                        </m:r>
                        <m:r>
                          <a:rPr lang="en-US" sz="13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𝑡</m:t>
                        </m:r>
                        <m:r>
                          <a:rPr lang="en-US" sz="13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−1</m:t>
                        </m:r>
                      </m:sub>
                    </m:sSub>
                    <m:r>
                      <a:rPr lang="en-US" sz="18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27" name="Text 25"/>
              <p:cNvSpPr/>
              <p:nvPr/>
            </p:nvSpPr>
            <p:spPr>
              <a:xfrm>
                <a:off x="952500" y="6477000"/>
                <a:ext cx="14351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预测：</a:t>
                </a:r>
                <a:pPr algn="ctr"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\hat{x}_{t|t-1} = F \hat{x}_{t-1} \)</a:t>
                </a:r>
                <a:pPr algn="ctr"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　　　更新：</a:t>
                </a:r>
                <a:pPr algn="ctr"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\hat{x}_t = \hat{x}_{t|t-1} + K_t(z_t - H\hat{x}_{t|t-1}) \)</a:t>
                </a:r>
                <a:endParaRPr lang="en-US" sz="1800" dirty="0"/>
              </a:p>
            </p:txBody>
          </p:sp>
        </mc:Fallback>
      </mc:AlternateContent>
      <p:sp>
        <p:nvSpPr>
          <p:cNvPr id="28" name="Text 26"/>
          <p:cNvSpPr/>
          <p:nvPr/>
        </p:nvSpPr>
        <p:spPr>
          <a:xfrm>
            <a:off x="762000" y="7366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三传感器融合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2000" y="7747000"/>
            <a:ext cx="4572000" cy="762000"/>
          </a:xfrm>
          <a:prstGeom prst="roundRect">
            <a:avLst>
              <a:gd name="adj" fmla="val 5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62000" y="7747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IMU</a:t>
            </a:r>
            <a:endParaRPr lang="en-US" sz="15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200Hz · 快但漂移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334000" y="8128000"/>
            <a:ext cx="508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5842000" y="7747000"/>
            <a:ext cx="4572000" cy="762000"/>
          </a:xfrm>
          <a:prstGeom prst="roundRect">
            <a:avLst>
              <a:gd name="adj" fmla="val 5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842000" y="7747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编码器</a:t>
            </a:r>
            <a:endParaRPr lang="en-US" sz="15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100Hz · 准但只测关节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414000" y="8128000"/>
            <a:ext cx="508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0922000" y="7747000"/>
            <a:ext cx="4572000" cy="762000"/>
          </a:xfrm>
          <a:prstGeom prst="roundRect">
            <a:avLst>
              <a:gd name="adj" fmla="val 5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0922000" y="7747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卡尔曼滤波器</a:t>
            </a:r>
            <a:endParaRPr lang="en-US" sz="15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最优状态估计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18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128000" y="457200"/>
            <a:ext cx="4064000" cy="508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信息决策层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智能通信层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7 — 贝叶斯决策与障碍物分类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3716000" y="7366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5C6B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716000" y="7366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信息决策层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1397000"/>
            <a:ext cx="7239000" cy="24765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52500" y="14986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二元假设检验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952500" y="1905000"/>
                <a:ext cx="6858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𝐻</m:t>
                        </m:r>
                      </m:e>
                      <m:sub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：不是目标物体　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𝐻</m:t>
                        </m:r>
                      </m:e>
                      <m:sub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：是目标物体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虚警：</a:t>
                </a:r>
                <a14:m>
                  <m:oMath xmlns:m="http://schemas.openxmlformats.org/officeDocument/2006/math"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𝑃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𝑒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∣</m:t>
                    </m:r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𝐻</m:t>
                        </m:r>
                      </m:e>
                      <m:sub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0</m:t>
                        </m:r>
                      </m:sub>
                    </m:sSub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</m:oMath>
                </a14:m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　漏检：</a:t>
                </a:r>
                <a14:m>
                  <m:oMath xmlns:m="http://schemas.openxmlformats.org/officeDocument/2006/math"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𝑃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𝑒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∣</m:t>
                    </m:r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𝐻</m:t>
                        </m:r>
                      </m:e>
                      <m:sub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1</m:t>
                        </m:r>
                      </m:sub>
                    </m:sSub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13" name="Text 11"/>
              <p:cNvSpPr/>
              <p:nvPr/>
            </p:nvSpPr>
            <p:spPr>
              <a:xfrm>
                <a:off x="952500" y="1905000"/>
                <a:ext cx="6858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H_0 \)</a:t>
                </a:r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：不是目标物体　　</a:t>
                </a:r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H_1 \)</a:t>
                </a:r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：是目标物体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虚警：</a:t>
                </a:r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P(e|H_0) \)</a:t>
                </a:r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　漏检：</a:t>
                </a:r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P(e|H_1) \)</a:t>
                </a:r>
                <a:endParaRPr lang="en-US" sz="15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952500" y="2921000"/>
                <a:ext cx="6858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MAP准则：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300" b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fPr>
                      <m:num>
                        <m:r>
                          <a:rPr lang="en-US" sz="13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𝑃</m:t>
                        </m:r>
                        <m:r>
                          <a:rPr lang="en-US" sz="1300" b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(</m:t>
                        </m:r>
                        <m:r>
                          <a:rPr lang="en-US" sz="13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𝑟</m:t>
                        </m:r>
                        <m:r>
                          <a:rPr lang="en-US" sz="13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∣</m:t>
                        </m:r>
                        <m:sSub>
                          <m:sSubPr>
                            <m:ctrlPr>
                              <a:rPr lang="en-US" sz="900" b="1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</m:ctrlPr>
                          </m:sSubPr>
                          <m:e>
                            <m:r>
                              <a:rPr lang="en-US" sz="900" b="1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900" b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sz="1300" b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)</m:t>
                        </m:r>
                      </m:num>
                      <m:den>
                        <m:r>
                          <a:rPr lang="en-US" sz="13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𝑃</m:t>
                        </m:r>
                        <m:r>
                          <a:rPr lang="en-US" sz="1300" b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(</m:t>
                        </m:r>
                        <m:r>
                          <a:rPr lang="en-US" sz="13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𝑟</m:t>
                        </m:r>
                        <m:r>
                          <a:rPr lang="en-US" sz="13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∣</m:t>
                        </m:r>
                        <m:sSub>
                          <m:sSubPr>
                            <m:ctrlPr>
                              <a:rPr lang="en-US" sz="900" b="1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</m:ctrlPr>
                          </m:sSubPr>
                          <m:e>
                            <m:r>
                              <a:rPr lang="en-US" sz="900" b="1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900" b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0</m:t>
                            </m:r>
                          </m:sub>
                        </m:sSub>
                        <m:r>
                          <a:rPr lang="en-US" sz="1300" b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)</m:t>
                        </m:r>
                      </m:den>
                    </m:f>
                    <m:r>
                      <a:rPr lang="en-US" sz="1800" b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≷</m:t>
                    </m:r>
                    <m:f>
                      <m:fPr>
                        <m:ctrlPr>
                          <a:rPr lang="en-US" sz="18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fPr>
                      <m:num>
                        <m:r>
                          <a:rPr lang="en-US" sz="13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𝑃</m:t>
                        </m:r>
                        <m:r>
                          <a:rPr lang="en-US" sz="1300" b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sz="900" b="1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</m:ctrlPr>
                          </m:sSubPr>
                          <m:e>
                            <m:r>
                              <a:rPr lang="en-US" sz="900" b="1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900" b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0</m:t>
                            </m:r>
                          </m:sub>
                        </m:sSub>
                        <m:r>
                          <a:rPr lang="en-US" sz="1300" b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)</m:t>
                        </m:r>
                      </m:num>
                      <m:den>
                        <m:r>
                          <a:rPr lang="en-US" sz="13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𝑃</m:t>
                        </m:r>
                        <m:r>
                          <a:rPr lang="en-US" sz="1300" b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sz="900" b="1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</m:ctrlPr>
                          </m:sSubPr>
                          <m:e>
                            <m:r>
                              <a:rPr lang="en-US" sz="900" b="1" i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900" b="1" dirty="0">
                                <a:solidFill>
                                  <a:srgbClr val="1A1A2E"/>
                                </a:solidFill>
                                <a:latin typeface="Cambria Math" panose="02040503050406030204" pitchFamily="18" charset="0"/>
                                <a:ea typeface="Quattrocento Sans" pitchFamily="34" charset="-122"/>
                                <a:cs typeface="Quattrocento Sans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sz="1300" b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)</m:t>
                        </m:r>
                      </m:den>
                    </m:f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14" name="Text 12"/>
              <p:cNvSpPr/>
              <p:nvPr/>
            </p:nvSpPr>
            <p:spPr>
              <a:xfrm>
                <a:off x="952500" y="2921000"/>
                <a:ext cx="6858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MAP准则：</a:t>
                </a:r>
                <a:pPr algn="ctr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\frac{P(r|H_1)}{P(r|H_0)} \gtrless \frac{P(H_0)}{P(H_1)} \)</a:t>
                </a:r>
                <a:endParaRPr lang="en-US" sz="1800" dirty="0"/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8255000" y="1397000"/>
            <a:ext cx="7239000" cy="2476500"/>
          </a:xfrm>
          <a:prstGeom prst="roundRect">
            <a:avLst>
              <a:gd name="adj" fmla="val 2000"/>
            </a:avLst>
          </a:prstGeom>
          <a:solidFill>
            <a:srgbClr val="FCEE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45500" y="14986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代价敏感扩展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45500" y="1905000"/>
          <a:ext cx="6858000" cy="19050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判为"不是目标"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判为"是目标"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实际不是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E07A5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10（虚警）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实际是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1000（漏检）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62000" y="4127500"/>
            <a:ext cx="14732000" cy="43815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952500" y="4254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代价敏感决策分析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52500" y="4699000"/>
            <a:ext cx="14351000" cy="698500"/>
          </a:xfrm>
          <a:prstGeom prst="roundRect">
            <a:avLst>
              <a:gd name="adj" fmla="val 5000"/>
            </a:avLst>
          </a:prstGeom>
          <a:solidFill>
            <a:srgbClr val="FCEEE9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8"/>
              <p:cNvSpPr/>
              <p:nvPr/>
            </p:nvSpPr>
            <p:spPr>
              <a:xfrm>
                <a:off x="1143000" y="4699000"/>
                <a:ext cx="13970000" cy="406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3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3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𝐶</m:t>
                        </m:r>
                      </m:e>
                      <m:sub>
                        <m:r>
                          <a:rPr lang="en-US" sz="1300" b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10</m:t>
                        </m:r>
                      </m:sub>
                    </m:sSub>
                    <m:r>
                      <a:rPr lang="en-US" sz="1800" b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≫</m:t>
                    </m:r>
                    <m:sSub>
                      <m:sSubPr>
                        <m:ctrlPr>
                          <a:rPr lang="en-US" sz="13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3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𝐶</m:t>
                        </m:r>
                      </m:e>
                      <m:sub>
                        <m:r>
                          <a:rPr lang="en-US" sz="1300" b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阈值左移 → </a:t>
                </a:r>
                <a:r>
                  <a:rPr lang="en-US" sz="18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"宁可错抓不可放过"</a:t>
                </a:r>
                <a:endParaRPr lang="en-US" sz="1800" dirty="0"/>
              </a:p>
            </p:txBody>
          </p:sp>
        </mc:Choice>
        <mc:Fallback xmlns="">
          <p:sp>
            <p:nvSpPr>
              <p:cNvPr id="21" name="Text 18"/>
              <p:cNvSpPr/>
              <p:nvPr/>
            </p:nvSpPr>
            <p:spPr>
              <a:xfrm>
                <a:off x="1143000" y="4699000"/>
                <a:ext cx="13970000" cy="406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C_{10} \gg C_{01} \)</a:t>
                </a:r>
                <a:pPr algn="l">
                  <a:lnSpc>
                    <a:spcPct val="120000"/>
                  </a:lnSpc>
                </a:pPr>
                <a:r>
                  <a:rPr lang="en-US" sz="18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阈值左移 → </a:t>
                </a:r>
                <a:pPr algn="l">
                  <a:lnSpc>
                    <a:spcPct val="120000"/>
                  </a:lnSpc>
                </a:pPr>
                <a:r>
                  <a:rPr lang="en-US" sz="18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"宁可错抓不可放过"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19"/>
              <p:cNvSpPr/>
              <p:nvPr/>
            </p:nvSpPr>
            <p:spPr>
              <a:xfrm>
                <a:off x="952500" y="5651500"/>
                <a:ext cx="14351000" cy="571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fPr>
                        <m:num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𝑃</m:t>
                          </m:r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𝑟</m:t>
                          </m:r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200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num>
                        <m:den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𝑃</m:t>
                          </m:r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𝑟</m:t>
                          </m:r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200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den>
                      </m:f>
                      <m:r>
                        <a:rPr lang="en-US" sz="2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≷</m:t>
                      </m:r>
                      <m:f>
                        <m:fPr>
                          <m:ctrlPr>
                            <a:rPr lang="en-US" sz="24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fPr>
                        <m:num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𝑃</m:t>
                          </m:r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200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)⋅</m:t>
                          </m:r>
                          <m:sSub>
                            <m:sSubPr>
                              <m:ctrlP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10</m:t>
                              </m:r>
                            </m:sub>
                          </m:sSub>
                        </m:num>
                        <m:den>
                          <m:r>
                            <a:rPr lang="en-US" sz="17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𝑃</m:t>
                          </m:r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200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)⋅</m:t>
                          </m:r>
                          <m:sSub>
                            <m:sSubPr>
                              <m:ctrlP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dirty="0">
                                  <a:solidFill>
                                    <a:srgbClr val="1A1A2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01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 19"/>
              <p:cNvSpPr/>
              <p:nvPr/>
            </p:nvSpPr>
            <p:spPr>
              <a:xfrm>
                <a:off x="952500" y="5651500"/>
                <a:ext cx="14351000" cy="571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\frac{P(r|H_1)}{P(r|H_0)} \gtrless \frac{P(H_0) \cdot C_{10}}{P(H_1) \cdot C_{01}} \)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0"/>
              <p:cNvSpPr/>
              <p:nvPr/>
            </p:nvSpPr>
            <p:spPr>
              <a:xfrm>
                <a:off x="952500" y="6413500"/>
                <a:ext cx="6858000" cy="1841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等代价MAP决策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最小化总错误率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𝑃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𝑒</m:t>
                        </m:r>
                      </m:sub>
                    </m:sSub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𝑃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𝐻</m:t>
                        </m:r>
                      </m:e>
                      <m:sub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0</m:t>
                        </m:r>
                      </m:sub>
                    </m:sSub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𝑃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𝑒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∣</m:t>
                    </m:r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𝐻</m:t>
                        </m:r>
                      </m:e>
                      <m:sub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0</m:t>
                        </m:r>
                      </m:sub>
                    </m:sSub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)+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𝑃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𝐻</m:t>
                        </m:r>
                      </m:e>
                      <m:sub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1</m:t>
                        </m:r>
                      </m:sub>
                    </m:sSub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𝑃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𝑒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∣</m:t>
                    </m:r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𝐻</m:t>
                        </m:r>
                      </m:e>
                      <m:sub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1</m:t>
                        </m:r>
                      </m:sub>
                    </m:sSub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</m:oMath>
                </a14:m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虚警区 = 漏检区（对称）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→ 适用于</a:t>
                </a: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一般分类场景</a:t>
                </a:r>
                <a:endParaRPr lang="en-US" sz="1500" dirty="0"/>
              </a:p>
            </p:txBody>
          </p:sp>
        </mc:Choice>
        <mc:Fallback xmlns="">
          <p:sp>
            <p:nvSpPr>
              <p:cNvPr id="23" name="Text 20"/>
              <p:cNvSpPr/>
              <p:nvPr/>
            </p:nvSpPr>
            <p:spPr>
              <a:xfrm>
                <a:off x="952500" y="6413500"/>
                <a:ext cx="6858000" cy="1841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等代价MAP决策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最小化总错误率 </a:t>
                </a:r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P_e = P(H_0)P(e|H_0) + P(H_1)P(e|H_1) \)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虚警区 = 漏检区（对称）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→ 适用于</a:t>
                </a:r>
                <a:pPr algn="l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一般分类场景</a:t>
                </a:r>
                <a:endParaRPr lang="en-US" sz="15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1"/>
              <p:cNvSpPr/>
              <p:nvPr/>
            </p:nvSpPr>
            <p:spPr>
              <a:xfrm>
                <a:off x="8255000" y="6413500"/>
                <a:ext cx="6858000" cy="1841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代价敏感决策（本场景）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最小化期望代价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sz="15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limUppPr>
                      <m:e>
                        <m:r>
                          <a:rPr lang="en-US" sz="15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𝐶</m:t>
                        </m:r>
                      </m:e>
                      <m:lim>
                        <m:r>
                          <a:rPr lang="en-US" sz="15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ˉ</m:t>
                        </m:r>
                      </m:lim>
                    </m:limUpp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</m:t>
                    </m:r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∑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∑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𝑗</m:t>
                        </m:r>
                      </m:sub>
                    </m:sSub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𝑃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𝐻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𝑖</m:t>
                        </m:r>
                      </m:sub>
                    </m:sSub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𝐶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𝑖𝑗</m:t>
                        </m:r>
                      </m:sub>
                    </m:sSub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𝑃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判</m:t>
                    </m:r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𝑗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∣</m:t>
                    </m:r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𝐻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𝑖</m:t>
                        </m:r>
                      </m:sub>
                    </m:sSub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</m:oMath>
                </a14:m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虚警区 &gt;&gt; 漏检区（不对称）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→ 适用于</a:t>
                </a: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漏检代价极高的工业场景</a:t>
                </a:r>
                <a:endParaRPr lang="en-US" sz="1500" dirty="0"/>
              </a:p>
            </p:txBody>
          </p:sp>
        </mc:Choice>
        <mc:Fallback xmlns="">
          <p:sp>
            <p:nvSpPr>
              <p:cNvPr id="24" name="Text 21"/>
              <p:cNvSpPr/>
              <p:nvPr/>
            </p:nvSpPr>
            <p:spPr>
              <a:xfrm>
                <a:off x="8255000" y="6413500"/>
                <a:ext cx="6858000" cy="1841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代价敏感决策（本场景）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最小化期望代价 </a:t>
                </a:r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\bar{C} = \sum_i \sum_j P(H_i)C_{ij}P(\text{判}j|H_i) \)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虚警区 &gt;&gt; 漏检区（不对称）</a:t>
                </a:r>
                <a:endParaRPr lang="en-US" sz="1500" dirty="0"/>
              </a:p>
              <a:p>
                <a:pPr algn="l">
                  <a:lnSpc>
                    <a:spcPct val="16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→ 适用于</a:t>
                </a:r>
                <a:pPr algn="l">
                  <a:lnSpc>
                    <a:spcPct val="16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漏检代价极高的工业场景</a:t>
                </a:r>
                <a:endParaRPr lang="en-US" sz="1500" dirty="0"/>
              </a:p>
            </p:txBody>
          </p:sp>
        </mc:Fallback>
      </mc:AlternateContent>
      <p:sp>
        <p:nvSpPr>
          <p:cNvPr id="25" name="Text 22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18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9144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2286000"/>
            <a:ext cx="482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阶段四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62000" y="3175000"/>
            <a:ext cx="762000" cy="508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62000" y="3429000"/>
            <a:ext cx="482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走向智能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62000" y="5016500"/>
            <a:ext cx="482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智能识别与可靠通信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8 交叉熵 → Mod 9 汉明码</a:t>
            </a:r>
            <a:endParaRPr lang="en-US" sz="1800" dirty="0"/>
          </a:p>
        </p:txBody>
      </p:sp>
      <p:pic>
        <p:nvPicPr>
          <p:cNvPr id="7" name="Image 0" descr="https://kimi-web-img.moonshot.cn/img/www.shutterstock.com/9f36cf002d54072dcb19fef1766456fd48dcc87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0000" y="0"/>
            <a:ext cx="9906000" cy="9144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50000" y="0"/>
            <a:ext cx="2540000" cy="9144000"/>
          </a:xfrm>
          <a:prstGeom prst="rect">
            <a:avLst/>
          </a:prstGeom>
          <a:gradFill flip="none" rotWithShape="1">
            <a:gsLst>
              <a:gs pos="0">
                <a:srgbClr val="2D3142"/>
              </a:gs>
              <a:gs pos="100000">
                <a:srgbClr val="2D3142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2192000" y="457200"/>
            <a:ext cx="4064000" cy="508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信息决策层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kern="0" spc="1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智能通信层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8 — 交叉熵与深度学习物体识别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3716000" y="7366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716000" y="7366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智能通信层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13716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从信息量到KL散度的推导链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1803400"/>
            <a:ext cx="3429000" cy="1333500"/>
          </a:xfrm>
          <a:prstGeom prst="roundRect">
            <a:avLst>
              <a:gd name="adj" fmla="val 5000"/>
            </a:avLst>
          </a:prstGeom>
          <a:solidFill>
            <a:srgbClr val="FCEEE9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889000" y="1879600"/>
                <a:ext cx="3175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4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Step 1 信息量</a:t>
                </a:r>
                <a:endParaRPr lang="en-US" sz="1400" dirty="0"/>
              </a:p>
              <a:p>
                <a:pPr algn="ctr">
                  <a:lnSpc>
                    <a:spcPct val="150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h</m:t>
                      </m:r>
                      <m:r>
                        <a:rPr lang="en-US" sz="1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𝑥</m:t>
                      </m:r>
                      <m:r>
                        <a:rPr lang="en-US" sz="1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)=−</m:t>
                      </m:r>
                      <m:sSub>
                        <m:sSubPr>
                          <m:ctrlPr>
                            <a:rPr lang="en-US" sz="10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𝑙𝑜𝑔</m:t>
                          </m:r>
                          <m:r>
                            <a:rPr lang="en-US" sz="10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⁡</m:t>
                          </m:r>
                        </m:e>
                        <m:sub>
                          <m:r>
                            <a:rPr lang="en-US" sz="1000" dirty="0">
                              <a:solidFill>
                                <a:srgbClr val="1A1A2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b>
                      </m:sSub>
                      <m:r>
                        <a:rPr lang="en-US" sz="1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𝑝</m:t>
                      </m:r>
                      <m:r>
                        <a:rPr lang="en-US" sz="1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𝑥</m:t>
                      </m:r>
                      <m:r>
                        <a:rPr lang="en-US" sz="1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单个事件的"惊讶度"</a:t>
                </a:r>
                <a:endParaRPr lang="en-US" sz="1400" dirty="0"/>
              </a:p>
            </p:txBody>
          </p:sp>
        </mc:Choice>
        <mc:Fallback xmlns="">
          <p:sp>
            <p:nvSpPr>
              <p:cNvPr id="13" name="Text 11"/>
              <p:cNvSpPr/>
              <p:nvPr/>
            </p:nvSpPr>
            <p:spPr>
              <a:xfrm>
                <a:off x="889000" y="1879600"/>
                <a:ext cx="3175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4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Step 1 信息量</a:t>
                </a:r>
                <a:endParaRPr lang="en-US" sz="1400" dirty="0"/>
              </a:p>
              <a:p>
                <a:pPr algn="ctr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h(x) = -\log_2 p(x) \)</a:t>
                </a:r>
                <a:endParaRPr lang="en-US" sz="14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单个事件的"惊讶度"</a:t>
                </a:r>
                <a:endParaRPr lang="en-US" sz="1400" dirty="0"/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4254500" y="23495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699000" y="1803400"/>
            <a:ext cx="3429000" cy="1333500"/>
          </a:xfrm>
          <a:prstGeom prst="roundRect">
            <a:avLst>
              <a:gd name="adj" fmla="val 5000"/>
            </a:avLst>
          </a:prstGeom>
          <a:solidFill>
            <a:srgbClr val="FCEEE9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4826000" y="1879600"/>
                <a:ext cx="3175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4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Step 2 熵</a:t>
                </a:r>
                <a:endParaRPr lang="en-US" sz="1400" dirty="0"/>
              </a:p>
              <a:p>
                <a:pPr algn="ctr">
                  <a:lnSpc>
                    <a:spcPct val="150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𝐻</m:t>
                      </m:r>
                      <m:r>
                        <a:rPr lang="en-US" sz="1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𝑋</m:t>
                      </m:r>
                      <m:r>
                        <a:rPr lang="en-US" sz="1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)=−∑</m:t>
                      </m:r>
                      <m:r>
                        <a:rPr lang="en-US" sz="1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𝑝𝑙𝑜𝑔</m:t>
                      </m:r>
                      <m:r>
                        <a:rPr lang="en-US" sz="1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⁡</m:t>
                      </m:r>
                      <m:r>
                        <a:rPr lang="en-US" sz="1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𝑝</m:t>
                      </m:r>
                    </m:oMath>
                  </m:oMathPara>
                </a14:m>
                <a:endParaRPr lang="en-US" sz="14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平均不确定性</a:t>
                </a:r>
                <a:endParaRPr lang="en-US" sz="14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4826000" y="1879600"/>
                <a:ext cx="3175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4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Step 2 熵</a:t>
                </a:r>
                <a:endParaRPr lang="en-US" sz="1400" dirty="0"/>
              </a:p>
              <a:p>
                <a:pPr algn="ctr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H(X) = -\sum p \log p \)</a:t>
                </a:r>
                <a:endParaRPr lang="en-US" sz="14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平均不确定性</a:t>
                </a:r>
                <a:endParaRPr lang="en-US" sz="14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8191500" y="23495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636000" y="1803400"/>
            <a:ext cx="3429000" cy="1333500"/>
          </a:xfrm>
          <a:prstGeom prst="roundRect">
            <a:avLst>
              <a:gd name="adj" fmla="val 5000"/>
            </a:avLst>
          </a:prstGeom>
          <a:solidFill>
            <a:srgbClr val="FCEEE9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7"/>
              <p:cNvSpPr/>
              <p:nvPr/>
            </p:nvSpPr>
            <p:spPr>
              <a:xfrm>
                <a:off x="8763000" y="1879600"/>
                <a:ext cx="3175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4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Step 3 交叉熵</a:t>
                </a:r>
                <a:endParaRPr lang="en-US" sz="1400" dirty="0"/>
              </a:p>
              <a:p>
                <a:pPr algn="ctr">
                  <a:lnSpc>
                    <a:spcPct val="150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𝐻</m:t>
                      </m:r>
                      <m:r>
                        <a:rPr lang="en-US" sz="1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𝑃</m:t>
                      </m:r>
                      <m:r>
                        <a:rPr lang="en-US" sz="1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𝑄</m:t>
                      </m:r>
                      <m:r>
                        <a:rPr lang="en-US" sz="1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)=−∑</m:t>
                      </m:r>
                      <m:r>
                        <a:rPr lang="en-US" sz="1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𝑝𝑙𝑜𝑔</m:t>
                      </m:r>
                      <m:r>
                        <a:rPr lang="en-US" sz="1400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⁡</m:t>
                      </m:r>
                      <m:r>
                        <a:rPr lang="en-US" sz="1400" i="1" dirty="0">
                          <a:solidFill>
                            <a:srgbClr val="1A1A2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𝑞</m:t>
                      </m:r>
                    </m:oMath>
                  </m:oMathPara>
                </a14:m>
                <a:endParaRPr lang="en-US" sz="14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P与Q的差异度量</a:t>
                </a:r>
                <a:endParaRPr lang="en-US" sz="1400" dirty="0"/>
              </a:p>
            </p:txBody>
          </p:sp>
        </mc:Choice>
        <mc:Fallback xmlns="">
          <p:sp>
            <p:nvSpPr>
              <p:cNvPr id="19" name="Text 17"/>
              <p:cNvSpPr/>
              <p:nvPr/>
            </p:nvSpPr>
            <p:spPr>
              <a:xfrm>
                <a:off x="8763000" y="1879600"/>
                <a:ext cx="3175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4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Step 3 交叉熵</a:t>
                </a:r>
                <a:endParaRPr lang="en-US" sz="1400" dirty="0"/>
              </a:p>
              <a:p>
                <a:pPr algn="ctr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H(P,Q) = -\sum p \log q \)</a:t>
                </a:r>
                <a:endParaRPr lang="en-US" sz="14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8D99A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P与Q的差异度量</a:t>
                </a:r>
                <a:endParaRPr lang="en-US" sz="1400" dirty="0"/>
              </a:p>
            </p:txBody>
          </p:sp>
        </mc:Fallback>
      </mc:AlternateContent>
      <p:sp>
        <p:nvSpPr>
          <p:cNvPr id="20" name="Shape 18"/>
          <p:cNvSpPr/>
          <p:nvPr/>
        </p:nvSpPr>
        <p:spPr>
          <a:xfrm>
            <a:off x="12128500" y="23495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2573000" y="1803400"/>
            <a:ext cx="2921000" cy="1333500"/>
          </a:xfrm>
          <a:prstGeom prst="roundRect">
            <a:avLst>
              <a:gd name="adj" fmla="val 5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12700000" y="1879600"/>
                <a:ext cx="2667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400" b="1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Step 4 KL散度</a:t>
                </a:r>
                <a:endParaRPr lang="en-US" sz="1400" dirty="0"/>
              </a:p>
              <a:p>
                <a:pPr algn="ctr">
                  <a:lnSpc>
                    <a:spcPct val="150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𝐷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𝐾𝐿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40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𝐻</m:t>
                      </m:r>
                      <m:r>
                        <a:rPr lang="en-US" sz="1400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𝑃</m:t>
                      </m:r>
                      <m:r>
                        <a:rPr lang="en-US" sz="1400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,</m:t>
                      </m:r>
                      <m:r>
                        <a:rPr lang="en-US" sz="140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𝑄</m:t>
                      </m:r>
                      <m:r>
                        <a:rPr lang="en-US" sz="1400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)−</m:t>
                      </m:r>
                      <m:r>
                        <a:rPr lang="en-US" sz="140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𝐻</m:t>
                      </m:r>
                      <m:r>
                        <a:rPr lang="en-US" sz="1400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𝑃</m:t>
                      </m:r>
                      <m:r>
                        <a:rPr lang="en-US" sz="1400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Gibbs: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8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𝐷</m:t>
                        </m:r>
                      </m:e>
                      <m:sub>
                        <m:r>
                          <a:rPr lang="en-US" sz="8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𝐾𝐿</m:t>
                        </m:r>
                      </m:sub>
                    </m:sSub>
                    <m:r>
                      <a:rPr lang="en-US" sz="1200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≥0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2" name="Text 20"/>
              <p:cNvSpPr/>
              <p:nvPr/>
            </p:nvSpPr>
            <p:spPr>
              <a:xfrm>
                <a:off x="12700000" y="1879600"/>
                <a:ext cx="2667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1400" b="1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Step 4 KL散度</a:t>
                </a:r>
                <a:endParaRPr lang="en-US" sz="1400" dirty="0"/>
              </a:p>
              <a:p>
                <a:pPr algn="ctr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4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D_{KL} = H(P,Q)-H(P) \)</a:t>
                </a:r>
                <a:endParaRPr lang="en-US" sz="14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Gibbs: </a:t>
                </a:r>
                <a:pPr algn="ctr">
                  <a:lnSpc>
                    <a:spcPct val="150000"/>
                  </a:lnSpc>
                </a:pPr>
                <a:r>
                  <a:rPr lang="en-US" sz="12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D_{KL} \geq 0 \)</a:t>
                </a:r>
                <a:endParaRPr lang="en-US" sz="1400" dirty="0"/>
              </a:p>
            </p:txBody>
          </p:sp>
        </mc:Fallback>
      </mc:AlternateContent>
      <p:sp>
        <p:nvSpPr>
          <p:cNvPr id="23" name="Shape 21"/>
          <p:cNvSpPr/>
          <p:nvPr/>
        </p:nvSpPr>
        <p:spPr>
          <a:xfrm>
            <a:off x="762000" y="3429000"/>
            <a:ext cx="14732000" cy="50165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52500" y="35814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在深度学习物体识别中的应用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52500" y="4064000"/>
            <a:ext cx="2159000" cy="4445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52500" y="4064000"/>
            <a:ext cx="2159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输入图像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175000" y="43180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3619500" y="4064000"/>
            <a:ext cx="2159000" cy="4445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3619500" y="4064000"/>
            <a:ext cx="2159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卷积层 CNN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842000" y="43180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286500" y="4064000"/>
            <a:ext cx="2159000" cy="4445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286500" y="4064000"/>
            <a:ext cx="2159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全连接层 FC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509000" y="43180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953500" y="4064000"/>
            <a:ext cx="2159000" cy="4445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953500" y="4064000"/>
            <a:ext cx="2159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Softmax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1176000" y="43180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1620500" y="4064000"/>
            <a:ext cx="2159000" cy="4445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620500" y="4064000"/>
            <a:ext cx="2159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概率分布 q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52500" y="5016500"/>
            <a:ext cx="14351000" cy="1524000"/>
          </a:xfrm>
          <a:prstGeom prst="roundRect">
            <a:avLst>
              <a:gd name="adj" fmla="val 2000"/>
            </a:avLst>
          </a:prstGeom>
          <a:solidFill>
            <a:srgbClr val="FCEE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143000" y="51181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交叉熵损失函数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39"/>
              <p:cNvSpPr/>
              <p:nvPr/>
            </p:nvSpPr>
            <p:spPr>
              <a:xfrm>
                <a:off x="1143000" y="5524500"/>
                <a:ext cx="13970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𝐿</m:t>
                    </m:r>
                    <m:r>
                      <a:rPr lang="en-US" sz="24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=−</m:t>
                    </m:r>
                    <m:sSubSup>
                      <m:sSubSupPr>
                        <m:ctrlPr>
                          <a:rPr lang="en-US" sz="17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SupPr>
                      <m:e>
                        <m:r>
                          <a:rPr lang="en-US" sz="17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∑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𝑐</m:t>
                        </m:r>
                        <m:r>
                          <a:rPr lang="en-US" sz="17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=1</m:t>
                        </m:r>
                      </m:sub>
                      <m:sup>
                        <m:r>
                          <a:rPr lang="en-US" sz="17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𝐶</m:t>
                        </m:r>
                      </m:sup>
                    </m:sSubSup>
                    <m:sSub>
                      <m:sSubPr>
                        <m:ctrlPr>
                          <a:rPr lang="en-US" sz="17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𝑝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𝑐</m:t>
                        </m:r>
                      </m:sub>
                    </m:sSub>
                    <m:r>
                      <a:rPr lang="en-US" sz="24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𝑙𝑜𝑔</m:t>
                    </m:r>
                    <m:r>
                      <a:rPr lang="en-US" sz="24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⁡</m:t>
                    </m:r>
                    <m:sSub>
                      <m:sSubPr>
                        <m:ctrlPr>
                          <a:rPr lang="en-US" sz="17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𝑞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　　训练目标：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𝑚𝑖𝑛</m:t>
                    </m:r>
                    <m:r>
                      <a:rPr lang="en-US" sz="2400" b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⁡</m:t>
                    </m:r>
                    <m:r>
                      <a:rPr lang="en-US" sz="2400" b="1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𝐿</m:t>
                    </m:r>
                    <m:r>
                      <a:rPr lang="en-US" sz="2400" b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⇔</m:t>
                    </m:r>
                    <m:r>
                      <a:rPr lang="en-US" sz="2400" b="1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𝑚𝑖𝑛</m:t>
                    </m:r>
                    <m:r>
                      <a:rPr lang="en-US" sz="2400" b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⁡</m:t>
                    </m:r>
                    <m:sSub>
                      <m:sSubPr>
                        <m:ctrlPr>
                          <a:rPr lang="en-US" sz="17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7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𝐷</m:t>
                        </m:r>
                      </m:e>
                      <m:sub>
                        <m:r>
                          <a:rPr lang="en-US" sz="17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𝐾𝐿</m:t>
                        </m:r>
                      </m:sub>
                    </m:sSub>
                    <m:r>
                      <a:rPr lang="en-US" sz="2400" b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2400" b="1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𝑃</m:t>
                    </m:r>
                    <m:r>
                      <a:rPr lang="en-US" sz="24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∥</m:t>
                    </m:r>
                    <m:r>
                      <a:rPr lang="en-US" sz="2400" b="1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𝑄</m:t>
                    </m:r>
                    <m:r>
                      <a:rPr lang="en-US" sz="2400" b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 39"/>
              <p:cNvSpPr/>
              <p:nvPr/>
            </p:nvSpPr>
            <p:spPr>
              <a:xfrm>
                <a:off x="1143000" y="5524500"/>
                <a:ext cx="13970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L = -\sum_{c=1}^{C} p_c \log q_c \)</a:t>
                </a:r>
                <a:pPr algn="ctr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　　训练目标：</a:t>
                </a:r>
                <a:pPr algn="ctr">
                  <a:lnSpc>
                    <a:spcPct val="150000"/>
                  </a:lnSpc>
                </a:pPr>
                <a:r>
                  <a:rPr lang="en-US" sz="24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\min L \Leftrightarrow \min D_{KL}(P \| Q) \)</a:t>
                </a:r>
                <a:endParaRPr lang="en-US" sz="2400" dirty="0"/>
              </a:p>
            </p:txBody>
          </p:sp>
        </mc:Fallback>
      </mc:AlternateContent>
      <p:sp>
        <p:nvSpPr>
          <p:cNvPr id="42" name="Text 40"/>
          <p:cNvSpPr/>
          <p:nvPr/>
        </p:nvSpPr>
        <p:spPr>
          <a:xfrm>
            <a:off x="1143000" y="6096000"/>
            <a:ext cx="1397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真实标签 p = one-hot（如[1,0,0,0,0]="螺丝"），预测 q = Softmax输出。最小化交叉熵 = 让预测分布逼近真实分布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52500" y="6731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推理示例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52500" y="71374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螺丝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095500" y="7137400"/>
            <a:ext cx="5334000" cy="2794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2159000" y="71374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0.92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52500" y="74930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螺母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095500" y="7493000"/>
            <a:ext cx="177800" cy="279400"/>
          </a:xfrm>
          <a:prstGeom prst="roundRect">
            <a:avLst>
              <a:gd name="adj" fmla="val 10000"/>
            </a:avLst>
          </a:pr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2349500" y="749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0.03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52500" y="7848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垫圈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095500" y="7848600"/>
            <a:ext cx="114300" cy="279400"/>
          </a:xfrm>
          <a:prstGeom prst="roundRect">
            <a:avLst>
              <a:gd name="adj" fmla="val 10000"/>
            </a:avLst>
          </a:pr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2286000" y="78486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0.02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620000" y="7112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判定为 </a:t>
            </a: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"螺丝"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（概率最高）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传给机械臂执行对应抓取动作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/ 18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2192000" y="457200"/>
            <a:ext cx="4064000" cy="508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信息决策层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kern="0" spc="1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智能通信层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9 — 汉明码与遥操作可靠通信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3716000" y="7366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716000" y="7366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智能通信层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1397000"/>
            <a:ext cx="6858000" cy="3175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52500" y="1498600"/>
            <a:ext cx="647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汉明 (7,4) 码关键参数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952500" y="1930400"/>
                <a:ext cx="6477000" cy="2476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信息位 </a:t>
                </a:r>
                <a14:m>
                  <m:oMath xmlns:m="http://schemas.openxmlformats.org/officeDocument/2006/math"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𝑘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=4</m:t>
                    </m:r>
                  </m:oMath>
                </a14:m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，校验位 </a:t>
                </a:r>
                <a14:m>
                  <m:oMath xmlns:m="http://schemas.openxmlformats.org/officeDocument/2006/math"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𝑟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=3</m:t>
                    </m:r>
                  </m:oMath>
                </a14:m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，码长 </a:t>
                </a:r>
                <a14:m>
                  <m:oMath xmlns:m="http://schemas.openxmlformats.org/officeDocument/2006/math">
                    <m:r>
                      <a:rPr lang="en-US" sz="15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𝑛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=7</m:t>
                    </m:r>
                  </m:oMath>
                </a14:m>
                <a:endParaRPr lang="en-US" sz="1500" dirty="0"/>
              </a:p>
              <a:p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最小汉明距离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𝑑</m:t>
                        </m:r>
                      </m:e>
                      <m:sub>
                        <m:r>
                          <a:rPr lang="en-US" sz="1100" b="1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𝑚𝑖𝑛</m:t>
                        </m:r>
                      </m:sub>
                    </m:sSub>
                    <m:r>
                      <a:rPr lang="en-US" sz="1500" b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=3</m:t>
                    </m:r>
                  </m:oMath>
                </a14:m>
                <a:endParaRPr lang="en-US" sz="1500" dirty="0"/>
              </a:p>
              <a:p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可纠正错误数：</a:t>
                </a:r>
                <a14:m>
                  <m:oMath xmlns:m="http://schemas.openxmlformats.org/officeDocument/2006/math">
                    <m:r>
                      <a:rPr lang="en-US" sz="1500" b="1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𝑡</m:t>
                    </m:r>
                    <m:r>
                      <a:rPr lang="en-US" sz="1500" b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=⌊(3−1)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/</m:t>
                    </m:r>
                    <m:r>
                      <a:rPr lang="en-US" sz="1500" b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2⌋=1</m:t>
                    </m:r>
                  </m:oMath>
                </a14:m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位</a:t>
                </a:r>
                <a:endParaRPr lang="en-US" sz="1500" dirty="0"/>
              </a:p>
              <a:p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可检测错误数：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𝑑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𝑚𝑖𝑛</m:t>
                        </m:r>
                      </m:sub>
                    </m:sSub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−1=2</m:t>
                    </m:r>
                  </m:oMath>
                </a14:m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位</a:t>
                </a:r>
                <a:endParaRPr lang="en-US" sz="1500" dirty="0"/>
              </a:p>
              <a:p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码率：</a:t>
                </a:r>
                <a14:m>
                  <m:oMath xmlns:m="http://schemas.openxmlformats.org/officeDocument/2006/math">
                    <m:r>
                      <a:rPr lang="en-US" sz="1500" b="1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𝑅</m:t>
                    </m:r>
                    <m:r>
                      <a:rPr lang="en-US" sz="1500" b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</m:t>
                    </m:r>
                    <m:r>
                      <a:rPr lang="en-US" sz="1500" b="1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𝑘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/</m:t>
                    </m:r>
                    <m:r>
                      <a:rPr lang="en-US" sz="1500" b="1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𝑛</m:t>
                    </m:r>
                    <m:r>
                      <a:rPr lang="en-US" sz="1500" b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=4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/</m:t>
                    </m:r>
                    <m:r>
                      <a:rPr lang="en-US" sz="1500" b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7≈57</m:t>
                    </m:r>
                    <m:r>
                      <a:rPr lang="en-US" sz="15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%</m:t>
                    </m:r>
                  </m:oMath>
                </a14:m>
                <a:endParaRPr lang="en-US" sz="1500" dirty="0"/>
              </a:p>
              <a:p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校验方程：3个异或方程（圆模型）</a:t>
                </a:r>
                <a:endParaRPr lang="en-US" sz="1500" dirty="0"/>
              </a:p>
            </p:txBody>
          </p:sp>
        </mc:Choice>
        <mc:Fallback xmlns="">
          <p:sp>
            <p:nvSpPr>
              <p:cNvPr id="13" name="Text 11"/>
              <p:cNvSpPr/>
              <p:nvPr/>
            </p:nvSpPr>
            <p:spPr>
              <a:xfrm>
                <a:off x="952500" y="1930400"/>
                <a:ext cx="6477000" cy="2476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信息位 </a:t>
                </a:r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k=4 \)</a:t>
                </a:r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，校验位 </a:t>
                </a:r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r=3 \)</a:t>
                </a:r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，码长 </a:t>
                </a:r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n=7 \)</a:t>
                </a:r>
                <a:endParaRPr lang="en-US" sz="1500" dirty="0"/>
              </a:p>
              <a:p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最小汉明距离 </a:t>
                </a:r>
                <a:pPr algn="l">
                  <a:lnSpc>
                    <a:spcPct val="17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d_{min} = 3 \)</a:t>
                </a:r>
                <a:endParaRPr lang="en-US" sz="1500" dirty="0"/>
              </a:p>
              <a:p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可纠正错误数：</a:t>
                </a:r>
                <a:pPr algn="l">
                  <a:lnSpc>
                    <a:spcPct val="17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t = \lfloor(3-1)/2\rfloor = 1 \)</a:t>
                </a:r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位</a:t>
                </a:r>
                <a:endParaRPr lang="en-US" sz="1500" dirty="0"/>
              </a:p>
              <a:p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可检测错误数：</a:t>
                </a:r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d_{min}-1 = 2 \)</a:t>
                </a:r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位</a:t>
                </a:r>
                <a:endParaRPr lang="en-US" sz="1500" dirty="0"/>
              </a:p>
              <a:p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码率：</a:t>
                </a:r>
                <a:pPr algn="l">
                  <a:lnSpc>
                    <a:spcPct val="170000"/>
                  </a:lnSpc>
                </a:pPr>
                <a:r>
                  <a:rPr lang="en-US" sz="15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R = k/n = 4/7 \approx 57\% \)</a:t>
                </a:r>
                <a:endParaRPr lang="en-US" sz="1500" dirty="0"/>
              </a:p>
              <a:p>
                <a:pPr algn="l"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校验方程：3个异或方程（圆模型）</a:t>
                </a:r>
                <a:endParaRPr lang="en-US" sz="1500" dirty="0"/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7874000" y="1397000"/>
            <a:ext cx="7620000" cy="3175000"/>
          </a:xfrm>
          <a:prstGeom prst="roundRect">
            <a:avLst>
              <a:gd name="adj" fmla="val 2000"/>
            </a:avLst>
          </a:prstGeom>
          <a:solidFill>
            <a:srgbClr val="FCEE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064500" y="1498600"/>
            <a:ext cx="723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编码与纠错示例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64500" y="1905000"/>
            <a:ext cx="7239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信源：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控制指令"抓取" →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 = [0,0,1,1]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编码：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计算3位校验位 →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 = [0,0,1,1,0,1,0]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信道：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第5位翻转 →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 = [0,0,1,1,1,1,0]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译码：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计算伴随式 s = r·H</a:t>
            </a:r>
            <a:r>
              <a:rPr lang="en-US" sz="1400" baseline="3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[1,0,1]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纠错：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定位第5位错误 → 翻转 → 正确译码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[0,0,1,1]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✅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 执行：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机械臂执行"抓取"动作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2000" y="4826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应用场景对比：有/无汉明码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270500"/>
          <a:ext cx="14732000" cy="2222500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应用场景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误码率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无纠错码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有汉明(7,4)码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工业WiFi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10⁻⁴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每万条指令错1条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✅ 单比特误码可纠正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水下声学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10⁻³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每千条指令错1条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✅ 单比特误码可纠正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太空通信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10⁻⁵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低但不可接受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✅ 增加安全保障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762000" y="77216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highlight>
                  <a:srgbClr val="FCEEE9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📌 核心思想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：以 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43% 的额外带宽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（码率57%）换取 </a:t>
            </a: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单比特纠错能力</a:t>
            </a: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——对安全性要求极高的场景，这是必要的代价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/ 18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16256000" cy="254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信息决策层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智能通信层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全链路回顾——9个知识点串联流程图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62000" y="1397000"/>
            <a:ext cx="14732000" cy="71120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52500" y="1524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上层智能层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2500" y="1879600"/>
            <a:ext cx="2794000" cy="5334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52500" y="18796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9 汉明码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可靠传输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10000" y="2095500"/>
            <a:ext cx="508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381500" y="1879600"/>
            <a:ext cx="3302000" cy="5334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381500" y="1879600"/>
            <a:ext cx="330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8 交叉熵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CNN识别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10500" y="1879600"/>
            <a:ext cx="101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📷 摄像头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2500" y="2603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dirty="0">
                <a:solidFill>
                  <a:srgbClr val="5C6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中层信息层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2500" y="2946400"/>
            <a:ext cx="3048000" cy="533400"/>
          </a:xfrm>
          <a:prstGeom prst="roundRect">
            <a:avLst>
              <a:gd name="adj" fmla="val 8000"/>
            </a:avLst>
          </a:prstGeom>
          <a:solidFill>
            <a:srgbClr val="5C6B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52500" y="2946400"/>
            <a:ext cx="3048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7 贝叶斯决策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064000" y="3175000"/>
            <a:ext cx="508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635500" y="2946400"/>
            <a:ext cx="3302000" cy="533400"/>
          </a:xfrm>
          <a:prstGeom prst="roundRect">
            <a:avLst>
              <a:gd name="adj" fmla="val 8000"/>
            </a:avLst>
          </a:prstGeom>
          <a:solidFill>
            <a:srgbClr val="5C6B7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635500" y="2946400"/>
            <a:ext cx="330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2 贝叶斯融合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2500" y="368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dirty="0">
                <a:solidFill>
                  <a:srgbClr val="7B6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2500" y="4025900"/>
            <a:ext cx="2794000" cy="533400"/>
          </a:xfrm>
          <a:prstGeom prst="roundRect">
            <a:avLst>
              <a:gd name="adj" fmla="val 8000"/>
            </a:avLst>
          </a:prstGeom>
          <a:solidFill>
            <a:srgbClr val="7B6B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52500" y="40259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1 FFT</a:t>
            </a: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故障预警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73500" y="4025900"/>
            <a:ext cx="2794000" cy="533400"/>
          </a:xfrm>
          <a:prstGeom prst="roundRect">
            <a:avLst>
              <a:gd name="adj" fmla="val 8000"/>
            </a:avLst>
          </a:prstGeom>
          <a:solidFill>
            <a:srgbClr val="7B6B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873500" y="40259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3 系统辨识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2500" y="4762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dirty="0">
                <a:solidFill>
                  <a:srgbClr val="6B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2500" y="5105400"/>
            <a:ext cx="2413000" cy="533400"/>
          </a:xfrm>
          <a:prstGeom prst="roundRect">
            <a:avLst>
              <a:gd name="adj" fmla="val 8000"/>
            </a:avLst>
          </a:prstGeom>
          <a:solidFill>
            <a:srgbClr val="6B6B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52500" y="5105400"/>
            <a:ext cx="2413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5 IMU采样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92500" y="5105400"/>
            <a:ext cx="2413000" cy="533400"/>
          </a:xfrm>
          <a:prstGeom prst="roundRect">
            <a:avLst>
              <a:gd name="adj" fmla="val 8000"/>
            </a:avLst>
          </a:prstGeom>
          <a:solidFill>
            <a:srgbClr val="6B6B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492500" y="5105400"/>
            <a:ext cx="2413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6 编码器量化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32500" y="5105400"/>
            <a:ext cx="2413000" cy="533400"/>
          </a:xfrm>
          <a:prstGeom prst="roundRect">
            <a:avLst>
              <a:gd name="adj" fmla="val 8000"/>
            </a:avLst>
          </a:prstGeom>
          <a:solidFill>
            <a:srgbClr val="6B6B7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032500" y="5105400"/>
            <a:ext cx="2413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 4 PWM驱动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159000" y="4572000"/>
            <a:ext cx="0" cy="177800"/>
          </a:xfrm>
          <a:prstGeom prst="straightConnector1">
            <a:avLst/>
          </a:prstGeom>
          <a:noFill/>
          <a:ln w="12700">
            <a:solidFill>
              <a:srgbClr val="8D99AE"/>
            </a:solidFill>
            <a:prstDash val="dash"/>
            <a:headEnd type="arrow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270500" y="3479800"/>
            <a:ext cx="0" cy="54610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2159000" y="2413000"/>
            <a:ext cx="0" cy="17780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890000" y="1524000"/>
            <a:ext cx="6350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完整信息流：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远程控制指令经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汉明码(Mod9)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编码确保可靠传输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摄像头图像经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CNN(Mod8)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识别物体类别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贝叶斯决策(Mod7)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判断是否为目标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贝叶斯融合(Mod2)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IMU+编码器数据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系统辨识(Mod3)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建立电机模型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PWM(Mod4)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驱动关节运动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FFT(Mod1)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监测振动故障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52500" y="5969000"/>
            <a:ext cx="14351000" cy="889000"/>
          </a:xfrm>
          <a:prstGeom prst="roundRect">
            <a:avLst>
              <a:gd name="adj" fmla="val 3000"/>
            </a:avLst>
          </a:prstGeom>
          <a:solidFill>
            <a:srgbClr val="FCEEE9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 38"/>
              <p:cNvSpPr/>
              <p:nvPr/>
            </p:nvSpPr>
            <p:spPr>
              <a:xfrm>
                <a:off x="1143000" y="6032500"/>
                <a:ext cx="13970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核心公式链：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𝑉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𝑎𝑣𝑔</m:t>
                        </m:r>
                      </m:sub>
                    </m:sSub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𝐷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⋅</m:t>
                    </m:r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𝑉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𝑐𝑐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Sup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𝜎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𝑒</m:t>
                        </m:r>
                      </m:sub>
                      <m:sup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2</m:t>
                        </m:r>
                      </m:sup>
                    </m:sSubSup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</m:t>
                    </m:r>
                    <m:sSup>
                      <m:sSup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pPr>
                      <m:e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𝛥</m:t>
                        </m:r>
                      </m:e>
                      <m:sup>
                        <m:r>
                          <a:rPr lang="en-US" sz="1100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2</m:t>
                        </m:r>
                      </m:sup>
                    </m:sSup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/12</m:t>
                    </m:r>
                  </m:oMath>
                </a14:m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𝑓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𝑠</m:t>
                        </m:r>
                      </m:sub>
                    </m:sSub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≥2</m:t>
                    </m:r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𝑓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𝑦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=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𝑥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∗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h</m:t>
                    </m:r>
                  </m:oMath>
                </a14:m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𝑉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𝑓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)=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𝐹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{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𝑣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𝑡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)}</m:t>
                    </m:r>
                  </m:oMath>
                </a14:m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𝑃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𝐵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∣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𝐴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)=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𝑃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𝐴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∣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𝐵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𝑃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𝐵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)/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𝑃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𝐴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</m:ctrlPr>
                      </m:sSubPr>
                      <m:e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𝐷</m:t>
                        </m:r>
                      </m:e>
                      <m:sub>
                        <m:r>
                          <a:rPr lang="en-US" sz="1100" i="1" dirty="0">
                            <a:solidFill>
                              <a:srgbClr val="1A1A2E"/>
                            </a:solidFill>
                            <a:latin typeface="Cambria Math" panose="02040503050406030204" pitchFamily="18" charset="0"/>
                            <a:ea typeface="Quattrocento Sans" pitchFamily="34" charset="-122"/>
                            <a:cs typeface="Quattrocento Sans" pitchFamily="34" charset="-120"/>
                          </a:rPr>
                          <m:t>𝐾𝐿</m:t>
                        </m:r>
                      </m:sub>
                    </m:sSub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(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𝑃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∥</m:t>
                    </m:r>
                    <m:r>
                      <a:rPr lang="en-US" sz="1600" i="1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𝑄</m:t>
                    </m:r>
                    <m:r>
                      <a:rPr lang="en-US" sz="1600" dirty="0">
                        <a:solidFill>
                          <a:srgbClr val="1A1A2E"/>
                        </a:solidFill>
                        <a:latin typeface="Cambria Math" panose="02040503050406030204" pitchFamily="18" charset="0"/>
                        <a:ea typeface="Quattrocento Sans" pitchFamily="34" charset="-122"/>
                        <a:cs typeface="Quattrocento Sans" pitchFamily="34" charset="-12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汉明(7,4)</a:t>
                </a:r>
                <a:endParaRPr lang="en-US" sz="1600" dirty="0"/>
              </a:p>
            </p:txBody>
          </p:sp>
        </mc:Choice>
        <mc:Fallback xmlns="">
          <p:sp>
            <p:nvSpPr>
              <p:cNvPr id="40" name="Text 38"/>
              <p:cNvSpPr/>
              <p:nvPr/>
            </p:nvSpPr>
            <p:spPr>
              <a:xfrm>
                <a:off x="1143000" y="6032500"/>
                <a:ext cx="13970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核心公式链：</a:t>
                </a:r>
                <a:pPr algn="ctr"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V_{avg}=D \cdot V_{cc} \)</a:t>
                </a:r>
                <a:pPr algn="ctr"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</a:t>
                </a:r>
                <a:pPr algn="ctr"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\sigma_e^2=\Delta^2/12 \)</a:t>
                </a:r>
                <a:pPr algn="ctr"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</a:t>
                </a:r>
                <a:pPr algn="ctr"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f_s \geq 2f_{max} \)</a:t>
                </a:r>
                <a:pPr algn="ctr"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</a:t>
                </a:r>
                <a:pPr algn="ctr"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y=x*h \)</a:t>
                </a:r>
                <a:pPr algn="ctr"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</a:t>
                </a:r>
                <a:pPr algn="ctr"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V(f)=\mathcal{F}\{v(t)\} \)</a:t>
                </a:r>
                <a:pPr algn="ctr"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</a:t>
                </a:r>
                <a:pPr algn="ctr"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P(B|A)=P(A|B)P(B)/P(A) \)</a:t>
                </a:r>
                <a:pPr algn="ctr"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</a:t>
                </a:r>
                <a:pPr algn="ctr"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D_{KL}(P\|Q) \)</a:t>
                </a:r>
                <a:pPr algn="ctr"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汉明(7,4)</a:t>
                </a:r>
                <a:endParaRPr lang="en-US" sz="1600" dirty="0"/>
              </a:p>
            </p:txBody>
          </p:sp>
        </mc:Fallback>
      </mc:AlternateContent>
      <p:sp>
        <p:nvSpPr>
          <p:cNvPr id="41" name="Text 39"/>
          <p:cNvSpPr/>
          <p:nvPr/>
        </p:nvSpPr>
        <p:spPr>
          <a:xfrm>
            <a:off x="952500" y="7048500"/>
            <a:ext cx="1435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9个知识点，构成从底层硬件到上层智能的完整信息处理链条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/ 18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16256000" cy="254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底层物理层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系统建模层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信息决策层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智能通信层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总结——通信理论是机器人工程的数学基石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3175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层次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知识点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解决什么问题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数学基石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傅里叶变换(1)、贝叶斯公式(2)、熵与交叉熵(8)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提供分析工具和理论框架——信号分析、状态推断、信息度量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工程桥梁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采样(5)、量化(6)、系统辨识(3)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连接模拟世界与数字世界——ADC、建模、频域分析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工程实现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PWM(4)、判决理论(7)、汉明码(9)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解决具体工程问题——驱动、分类决策、可靠传输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4953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Take-Home Message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62000" y="53975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762000" y="5651500"/>
            <a:ext cx="14732000" cy="762000"/>
          </a:xfrm>
          <a:prstGeom prst="roundRect">
            <a:avLst>
              <a:gd name="adj" fmla="val 3000"/>
            </a:avLst>
          </a:prstGeom>
          <a:solidFill>
            <a:srgbClr val="FCEE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952500" y="5651500"/>
            <a:ext cx="50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📐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524000" y="5651500"/>
            <a:ext cx="1377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傅里叶变换</a:t>
            </a: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让我们在频域看清时域看不到的故障特征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62000" y="6540500"/>
            <a:ext cx="14732000" cy="762000"/>
          </a:xfrm>
          <a:prstGeom prst="roundRect">
            <a:avLst>
              <a:gd name="adj" fmla="val 3000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952500" y="6540500"/>
            <a:ext cx="50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5C6B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🧠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524000" y="6540500"/>
            <a:ext cx="1377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贝叶斯公式</a:t>
            </a: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是从不确定传感器数据中推断机器人状态的核心工具</a:t>
            </a:r>
            <a:endParaRPr lang="en-US" sz="1800" dirty="0"/>
          </a:p>
        </p:txBody>
      </p:sp>
      <p:sp>
        <p:nvSpPr>
          <p:cNvPr id="9" name="Shape 15"/>
          <p:cNvSpPr/>
          <p:nvPr/>
        </p:nvSpPr>
        <p:spPr>
          <a:xfrm>
            <a:off x="762000" y="7429500"/>
            <a:ext cx="14732000" cy="762000"/>
          </a:xfrm>
          <a:prstGeom prst="roundRect">
            <a:avLst>
              <a:gd name="adj" fmla="val 3000"/>
            </a:avLst>
          </a:prstGeom>
          <a:solidFill>
            <a:srgbClr val="EDE9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952500" y="7429500"/>
            <a:ext cx="50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7B6B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📊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524000" y="7429500"/>
            <a:ext cx="1377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交叉熵</a:t>
            </a: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是连接信息论与深度学习的关键桥梁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 / 18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96ed6322ce8058db431fa6ac186efcaef0ac7bcd.jpg"/>
          <p:cNvPicPr>
            <a:picLocks noChangeAspect="1"/>
          </p:cNvPicPr>
          <p:nvPr/>
        </p:nvPicPr>
        <p:blipFill>
          <a:blip r:embed="rId3"/>
          <a:srcRect t="195" b="19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A1A2E">
                  <a:alpha val="91000"/>
                </a:srgbClr>
              </a:gs>
              <a:gs pos="60000">
                <a:srgbClr val="1A1A2E">
                  <a:alpha val="82000"/>
                </a:srgbClr>
              </a:gs>
              <a:gs pos="100000">
                <a:srgbClr val="1A1A2E">
                  <a:alpha val="63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3048000" y="2286000"/>
            <a:ext cx="1016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b="1" kern="0" spc="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112000" y="3810000"/>
            <a:ext cx="2032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4318000" y="4064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感谢聆听，欢迎提问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318000" y="6350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智能机械臂分拣系统——通信理论在机器人工程中的贯穿应用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（信息与）通信技术（基础）课程汇报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1700</Words>
  <Application>Microsoft Office PowerPoint</Application>
  <PresentationFormat>自定义</PresentationFormat>
  <Paragraphs>406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MiSans</vt:lpstr>
      <vt:lpstr>Arial</vt:lpstr>
      <vt:lpstr>Cambria Math</vt:lpstr>
      <vt:lpstr>Quattrocento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智能机械臂分拣系统——通信理论在机器人工程中的贯穿应用</dc:title>
  <dc:subject>智能机械臂分拣系统——通信理论在机器人工程中的贯穿应用</dc:subject>
  <dc:creator>Kimi</dc:creator>
  <cp:lastModifiedBy>owen xiao</cp:lastModifiedBy>
  <cp:revision>2</cp:revision>
  <dcterms:created xsi:type="dcterms:W3CDTF">2026-06-28T02:14:13Z</dcterms:created>
  <dcterms:modified xsi:type="dcterms:W3CDTF">2026-06-27T21:45:58Z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智能机械臂分拣系统——通信理论在机器人工程中的贯穿应用","ContentProducer":"001191110108MACG2KBH8F10000","ProduceID":"19f0a266-8422-8c6d-8000-0000c8c1ecc1","ReservedCode1":"","ContentPropagator":"001191110108MACG2KBH8F20000","PropagateID":"19f09e88-e3e2-866e-8000-095bebf7cefe","ReservedCode2":""}</vt:lpwstr>
  </property>
</Properties>
</file>